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9" roundtripDataSignature="AMtx7mgArIoW9cDd92N+U/TAUd2t443l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5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5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28" name="Shape 28"/>
        <p:cNvGrpSpPr/>
        <p:nvPr/>
      </p:nvGrpSpPr>
      <p:grpSpPr>
        <a:xfrm>
          <a:off x="0" y="0"/>
          <a:ext cx="0" cy="0"/>
          <a:chOff x="0" y="0"/>
          <a:chExt cx="0" cy="0"/>
        </a:xfrm>
      </p:grpSpPr>
      <p:sp>
        <p:nvSpPr>
          <p:cNvPr id="29" name="Google Shape;29;p29"/>
          <p:cNvSpPr txBox="1"/>
          <p:nvPr>
            <p:ph idx="11" type="ftr"/>
          </p:nvPr>
        </p:nvSpPr>
        <p:spPr>
          <a:xfrm>
            <a:off x="457559" y="6356520"/>
            <a:ext cx="8499154"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0" name="Shape 30"/>
        <p:cNvGrpSpPr/>
        <p:nvPr/>
      </p:nvGrpSpPr>
      <p:grpSpPr>
        <a:xfrm>
          <a:off x="0" y="0"/>
          <a:ext cx="0" cy="0"/>
          <a:chOff x="0" y="0"/>
          <a:chExt cx="0" cy="0"/>
        </a:xfrm>
      </p:grpSpPr>
      <p:sp>
        <p:nvSpPr>
          <p:cNvPr id="31" name="Google Shape;31;p3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0"/>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0"/>
          <p:cNvSpPr txBox="1"/>
          <p:nvPr>
            <p:ph idx="11" type="ftr"/>
          </p:nvPr>
        </p:nvSpPr>
        <p:spPr>
          <a:xfrm>
            <a:off x="352540" y="6356520"/>
            <a:ext cx="833390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4" name="Shape 34"/>
        <p:cNvGrpSpPr/>
        <p:nvPr/>
      </p:nvGrpSpPr>
      <p:grpSpPr>
        <a:xfrm>
          <a:off x="0" y="0"/>
          <a:ext cx="0" cy="0"/>
          <a:chOff x="0" y="0"/>
          <a:chExt cx="0" cy="0"/>
        </a:xfrm>
      </p:grpSpPr>
      <p:sp>
        <p:nvSpPr>
          <p:cNvPr id="35" name="Google Shape;35;p31"/>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7" name="Shape 37"/>
        <p:cNvGrpSpPr/>
        <p:nvPr/>
      </p:nvGrpSpPr>
      <p:grpSpPr>
        <a:xfrm>
          <a:off x="0" y="0"/>
          <a:ext cx="0" cy="0"/>
          <a:chOff x="0" y="0"/>
          <a:chExt cx="0" cy="0"/>
        </a:xfrm>
      </p:grpSpPr>
      <p:sp>
        <p:nvSpPr>
          <p:cNvPr id="38" name="Google Shape;38;p3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2"/>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40" name="Google Shape;40;p32"/>
          <p:cNvSpPr txBox="1"/>
          <p:nvPr>
            <p:ph idx="11" type="ftr"/>
          </p:nvPr>
        </p:nvSpPr>
        <p:spPr>
          <a:xfrm>
            <a:off x="457199" y="6356520"/>
            <a:ext cx="8229239"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3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3"/>
          <p:cNvSpPr txBox="1"/>
          <p:nvPr>
            <p:ph idx="11" type="ftr"/>
          </p:nvPr>
        </p:nvSpPr>
        <p:spPr>
          <a:xfrm>
            <a:off x="352540" y="6356520"/>
            <a:ext cx="8361802"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p:cSld name="Centered Text">
    <p:spTree>
      <p:nvGrpSpPr>
        <p:cNvPr id="44" name="Shape 44"/>
        <p:cNvGrpSpPr/>
        <p:nvPr/>
      </p:nvGrpSpPr>
      <p:grpSpPr>
        <a:xfrm>
          <a:off x="0" y="0"/>
          <a:ext cx="0" cy="0"/>
          <a:chOff x="0" y="0"/>
          <a:chExt cx="0" cy="0"/>
        </a:xfrm>
      </p:grpSpPr>
      <p:sp>
        <p:nvSpPr>
          <p:cNvPr id="45" name="Google Shape;45;p34"/>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46" name="Google Shape;46;p34"/>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7" name="Shape 47"/>
        <p:cNvGrpSpPr/>
        <p:nvPr/>
      </p:nvGrpSpPr>
      <p:grpSpPr>
        <a:xfrm>
          <a:off x="0" y="0"/>
          <a:ext cx="0" cy="0"/>
          <a:chOff x="0" y="0"/>
          <a:chExt cx="0" cy="0"/>
        </a:xfrm>
      </p:grpSpPr>
      <p:sp>
        <p:nvSpPr>
          <p:cNvPr id="48" name="Google Shape;48;p3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35"/>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5"/>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35"/>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3" name="Shape 53"/>
        <p:cNvGrpSpPr/>
        <p:nvPr/>
      </p:nvGrpSpPr>
      <p:grpSpPr>
        <a:xfrm>
          <a:off x="0" y="0"/>
          <a:ext cx="0" cy="0"/>
          <a:chOff x="0" y="0"/>
          <a:chExt cx="0" cy="0"/>
        </a:xfrm>
      </p:grpSpPr>
      <p:sp>
        <p:nvSpPr>
          <p:cNvPr id="54" name="Google Shape;54;p3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6"/>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36"/>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36"/>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36"/>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9" name="Shape 59"/>
        <p:cNvGrpSpPr/>
        <p:nvPr/>
      </p:nvGrpSpPr>
      <p:grpSpPr>
        <a:xfrm>
          <a:off x="0" y="0"/>
          <a:ext cx="0" cy="0"/>
          <a:chOff x="0" y="0"/>
          <a:chExt cx="0" cy="0"/>
        </a:xfrm>
      </p:grpSpPr>
      <p:sp>
        <p:nvSpPr>
          <p:cNvPr id="60" name="Google Shape;60;p3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7"/>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37"/>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37"/>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37"/>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5" name="Shape 65"/>
        <p:cNvGrpSpPr/>
        <p:nvPr/>
      </p:nvGrpSpPr>
      <p:grpSpPr>
        <a:xfrm>
          <a:off x="0" y="0"/>
          <a:ext cx="0" cy="0"/>
          <a:chOff x="0" y="0"/>
          <a:chExt cx="0" cy="0"/>
        </a:xfrm>
      </p:grpSpPr>
      <p:sp>
        <p:nvSpPr>
          <p:cNvPr id="66" name="Google Shape;66;p3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8"/>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38"/>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38"/>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70" name="Shape 70"/>
        <p:cNvGrpSpPr/>
        <p:nvPr/>
      </p:nvGrpSpPr>
      <p:grpSpPr>
        <a:xfrm>
          <a:off x="0" y="0"/>
          <a:ext cx="0" cy="0"/>
          <a:chOff x="0" y="0"/>
          <a:chExt cx="0" cy="0"/>
        </a:xfrm>
      </p:grpSpPr>
      <p:sp>
        <p:nvSpPr>
          <p:cNvPr id="71" name="Google Shape;71;p3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9"/>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39"/>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39"/>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9"/>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39"/>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7" name="Shape 77"/>
        <p:cNvGrpSpPr/>
        <p:nvPr/>
      </p:nvGrpSpPr>
      <p:grpSpPr>
        <a:xfrm>
          <a:off x="0" y="0"/>
          <a:ext cx="0" cy="0"/>
          <a:chOff x="0" y="0"/>
          <a:chExt cx="0" cy="0"/>
        </a:xfrm>
      </p:grpSpPr>
      <p:sp>
        <p:nvSpPr>
          <p:cNvPr id="78" name="Google Shape;78;p4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0"/>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40"/>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0"/>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40"/>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40"/>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40"/>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40"/>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4.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8"/>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2" name="Google Shape;12;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6" name="Google Shape;16;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18" name="Google Shape;18;p28"/>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22" name="Google Shape;22;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24" name="Google Shape;24;p28"/>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28"/>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28"/>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90000"/>
              </a:lnSpc>
              <a:spcBef>
                <a:spcPts val="10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292100" lvl="4" marL="2286000" marR="0" rtl="0" algn="l">
              <a:lnSpc>
                <a:spcPct val="90000"/>
              </a:lnSpc>
              <a:spcBef>
                <a:spcPts val="5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28"/>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txBox="1"/>
          <p:nvPr/>
        </p:nvSpPr>
        <p:spPr>
          <a:xfrm>
            <a:off x="1350963" y="2987676"/>
            <a:ext cx="6723062" cy="2613025"/>
          </a:xfrm>
          <a:prstGeom prst="rect">
            <a:avLst/>
          </a:prstGeom>
          <a:noFill/>
          <a:ln>
            <a:noFill/>
          </a:ln>
        </p:spPr>
        <p:txBody>
          <a:bodyPr anchorCtr="0" anchor="t" bIns="40600" lIns="81250" spcFirstLastPara="1" rIns="81250" wrap="square" tIns="40600">
            <a:noAutofit/>
          </a:bodyPr>
          <a:lstStyle/>
          <a:p>
            <a:pPr indent="0" lvl="0" marL="0" marR="0" rtl="0" algn="ctr">
              <a:lnSpc>
                <a:spcPct val="100000"/>
              </a:lnSpc>
              <a:spcBef>
                <a:spcPts val="0"/>
              </a:spcBef>
              <a:spcAft>
                <a:spcPts val="0"/>
              </a:spcAft>
              <a:buClr>
                <a:srgbClr val="000000"/>
              </a:buClr>
              <a:buSzPts val="1778"/>
              <a:buFont typeface="Arial"/>
              <a:buNone/>
            </a:pPr>
            <a:r>
              <a:t/>
            </a:r>
            <a:endParaRPr b="1" i="0" sz="1778"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356"/>
              </a:spcBef>
              <a:spcAft>
                <a:spcPts val="0"/>
              </a:spcAft>
              <a:buClr>
                <a:srgbClr val="000000"/>
              </a:buClr>
              <a:buSzPts val="2133"/>
              <a:buFont typeface="Arial"/>
              <a:buNone/>
            </a:pPr>
            <a:r>
              <a:t/>
            </a:r>
            <a:endParaRPr b="1" i="0" sz="2133"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356"/>
              </a:spcBef>
              <a:spcAft>
                <a:spcPts val="0"/>
              </a:spcAft>
              <a:buClr>
                <a:srgbClr val="000000"/>
              </a:buClr>
              <a:buSzPts val="2133"/>
              <a:buFont typeface="Arial"/>
              <a:buNone/>
            </a:pPr>
            <a:r>
              <a:rPr b="1" i="0" lang="en-US" sz="2133" u="none" cap="none" strike="noStrike">
                <a:solidFill>
                  <a:srgbClr val="0070C0"/>
                </a:solidFill>
                <a:latin typeface="Times New Roman"/>
                <a:ea typeface="Times New Roman"/>
                <a:cs typeface="Times New Roman"/>
                <a:sym typeface="Times New Roman"/>
              </a:rPr>
              <a:t>Software Project Planning</a:t>
            </a:r>
            <a:endParaRPr/>
          </a:p>
          <a:p>
            <a:pPr indent="0" lvl="0" marL="0" marR="0" rtl="0" algn="ctr">
              <a:lnSpc>
                <a:spcPct val="100000"/>
              </a:lnSpc>
              <a:spcBef>
                <a:spcPts val="356"/>
              </a:spcBef>
              <a:spcAft>
                <a:spcPts val="0"/>
              </a:spcAft>
              <a:buClr>
                <a:srgbClr val="000000"/>
              </a:buClr>
              <a:buSzPts val="2133"/>
              <a:buFont typeface="Arial"/>
              <a:buNone/>
            </a:pPr>
            <a:r>
              <a:t/>
            </a:r>
            <a:endParaRPr b="1" i="0" sz="2133"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356"/>
              </a:spcBef>
              <a:spcAft>
                <a:spcPts val="0"/>
              </a:spcAft>
              <a:buClr>
                <a:srgbClr val="000000"/>
              </a:buClr>
              <a:buSzPts val="3200"/>
              <a:buFont typeface="Arial"/>
              <a:buNone/>
            </a:pPr>
            <a:r>
              <a:rPr b="1" i="0" lang="en-US" sz="3200" u="none" cap="none" strike="noStrike">
                <a:solidFill>
                  <a:srgbClr val="0070C0"/>
                </a:solidFill>
                <a:latin typeface="Times New Roman"/>
                <a:ea typeface="Times New Roman"/>
                <a:cs typeface="Times New Roman"/>
                <a:sym typeface="Times New Roman"/>
              </a:rPr>
              <a:t>Dr. Suvarna Sharma</a:t>
            </a:r>
            <a:endParaRPr b="1" i="0" sz="32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356"/>
              </a:spcBef>
              <a:spcAft>
                <a:spcPts val="0"/>
              </a:spcAft>
              <a:buClr>
                <a:srgbClr val="000000"/>
              </a:buClr>
              <a:buSzPts val="3200"/>
              <a:buFont typeface="Arial"/>
              <a:buNone/>
            </a:pPr>
            <a:r>
              <a:t/>
            </a:r>
            <a:endParaRPr b="1" i="0" sz="32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356"/>
              </a:spcBef>
              <a:spcAft>
                <a:spcPts val="0"/>
              </a:spcAft>
              <a:buClr>
                <a:srgbClr val="000000"/>
              </a:buClr>
              <a:buSzPts val="1778"/>
              <a:buFont typeface="Arial"/>
              <a:buNone/>
            </a:pPr>
            <a:r>
              <a:t/>
            </a:r>
            <a:endParaRPr b="1" i="0" sz="1778"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356"/>
              </a:spcBef>
              <a:spcAft>
                <a:spcPts val="0"/>
              </a:spcAft>
              <a:buClr>
                <a:srgbClr val="000000"/>
              </a:buClr>
              <a:buSzPts val="1778"/>
              <a:buFont typeface="Arial"/>
              <a:buNone/>
            </a:pPr>
            <a:r>
              <a:t/>
            </a:r>
            <a:endParaRPr b="1" i="0" sz="1778" u="none" cap="none" strike="noStrike">
              <a:solidFill>
                <a:srgbClr val="0070C0"/>
              </a:solidFill>
              <a:latin typeface="Times New Roman"/>
              <a:ea typeface="Times New Roman"/>
              <a:cs typeface="Times New Roman"/>
              <a:sym typeface="Times New Roman"/>
            </a:endParaRPr>
          </a:p>
          <a:p>
            <a:pPr indent="0" lvl="0" marL="0" marR="0" rtl="0" algn="ctr">
              <a:lnSpc>
                <a:spcPct val="150000"/>
              </a:lnSpc>
              <a:spcBef>
                <a:spcPts val="356"/>
              </a:spcBef>
              <a:spcAft>
                <a:spcPts val="0"/>
              </a:spcAft>
              <a:buClr>
                <a:srgbClr val="000000"/>
              </a:buClr>
              <a:buSzPts val="1778"/>
              <a:buFont typeface="Arial"/>
              <a:buNone/>
            </a:pPr>
            <a:r>
              <a:t/>
            </a:r>
            <a:endParaRPr b="0" i="0" sz="1778" u="none" cap="none" strike="noStrike">
              <a:solidFill>
                <a:srgbClr val="000000"/>
              </a:solidFill>
              <a:latin typeface="Calibri"/>
              <a:ea typeface="Calibri"/>
              <a:cs typeface="Calibri"/>
              <a:sym typeface="Calibri"/>
            </a:endParaRPr>
          </a:p>
          <a:p>
            <a:pPr indent="0" lvl="0" marL="0" marR="0" rtl="0" algn="l">
              <a:lnSpc>
                <a:spcPct val="100000"/>
              </a:lnSpc>
              <a:spcBef>
                <a:spcPts val="570"/>
              </a:spcBef>
              <a:spcAft>
                <a:spcPts val="0"/>
              </a:spcAft>
              <a:buClr>
                <a:srgbClr val="000000"/>
              </a:buClr>
              <a:buSzPts val="1778"/>
              <a:buFont typeface="Arial"/>
              <a:buNone/>
            </a:pPr>
            <a:r>
              <a:t/>
            </a:r>
            <a:endParaRPr b="0" i="0" sz="1778" u="none" cap="none" strike="noStrike">
              <a:solidFill>
                <a:srgbClr val="000000"/>
              </a:solidFill>
              <a:latin typeface="Calibri"/>
              <a:ea typeface="Calibri"/>
              <a:cs typeface="Calibri"/>
              <a:sym typeface="Calibri"/>
            </a:endParaRPr>
          </a:p>
        </p:txBody>
      </p:sp>
      <p:sp>
        <p:nvSpPr>
          <p:cNvPr id="91" name="Google Shape;91;p1"/>
          <p:cNvSpPr txBox="1"/>
          <p:nvPr/>
        </p:nvSpPr>
        <p:spPr>
          <a:xfrm>
            <a:off x="1751014" y="2249488"/>
            <a:ext cx="5641975" cy="1282700"/>
          </a:xfrm>
          <a:prstGeom prst="rect">
            <a:avLst/>
          </a:prstGeom>
          <a:noFill/>
          <a:ln>
            <a:noFill/>
          </a:ln>
        </p:spPr>
        <p:txBody>
          <a:bodyPr anchorCtr="0" anchor="t" bIns="40600" lIns="81250" spcFirstLastPara="1" rIns="81250" wrap="square" tIns="40600">
            <a:spAutoFit/>
          </a:bodyPr>
          <a:lstStyle/>
          <a:p>
            <a:pPr indent="0" lvl="0" marL="0" marR="0" rtl="0" algn="ctr">
              <a:lnSpc>
                <a:spcPct val="100000"/>
              </a:lnSpc>
              <a:spcBef>
                <a:spcPts val="0"/>
              </a:spcBef>
              <a:spcAft>
                <a:spcPts val="0"/>
              </a:spcAft>
              <a:buClr>
                <a:srgbClr val="000000"/>
              </a:buClr>
              <a:buSzPts val="2489"/>
              <a:buFont typeface="Arial"/>
              <a:buNone/>
            </a:pPr>
            <a:r>
              <a:rPr b="1" i="0" lang="en-US" sz="2489" u="none" cap="none" strike="noStrike">
                <a:solidFill>
                  <a:schemeClr val="dk1"/>
                </a:solidFill>
                <a:latin typeface="Times New Roman"/>
                <a:ea typeface="Times New Roman"/>
                <a:cs typeface="Times New Roman"/>
                <a:sym typeface="Times New Roman"/>
              </a:rPr>
              <a:t>Object Oriented Software Engineering (OOSE)</a:t>
            </a:r>
            <a:endParaRPr b="0" i="0" sz="1244" u="none" cap="none" strike="noStrike">
              <a:solidFill>
                <a:srgbClr val="000000"/>
              </a:solidFill>
              <a:latin typeface="Arial"/>
              <a:ea typeface="Arial"/>
              <a:cs typeface="Arial"/>
              <a:sym typeface="Arial"/>
            </a:endParaRPr>
          </a:p>
          <a:p>
            <a:pPr indent="0" lvl="0" marL="0" marR="0" rtl="0" algn="ctr">
              <a:lnSpc>
                <a:spcPct val="100000"/>
              </a:lnSpc>
              <a:spcBef>
                <a:spcPts val="356"/>
              </a:spcBef>
              <a:spcAft>
                <a:spcPts val="0"/>
              </a:spcAft>
              <a:buClr>
                <a:srgbClr val="000000"/>
              </a:buClr>
              <a:buSzPts val="2489"/>
              <a:buFont typeface="Arial"/>
              <a:buNone/>
            </a:pPr>
            <a:r>
              <a:rPr b="1" i="0" lang="en-US" sz="2489" u="none" cap="none" strike="noStrike">
                <a:solidFill>
                  <a:schemeClr val="dk1"/>
                </a:solidFill>
                <a:latin typeface="Times New Roman"/>
                <a:ea typeface="Times New Roman"/>
                <a:cs typeface="Times New Roman"/>
                <a:sym typeface="Times New Roman"/>
              </a:rPr>
              <a:t>22CS017</a:t>
            </a:r>
            <a:endParaRPr b="0" i="0" sz="1244"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nvSpPr>
        <p:spPr>
          <a:xfrm>
            <a:off x="424240" y="19363"/>
            <a:ext cx="5350720" cy="797907"/>
          </a:xfrm>
          <a:prstGeom prst="rect">
            <a:avLst/>
          </a:prstGeom>
          <a:noFill/>
          <a:ln>
            <a:noFill/>
          </a:ln>
        </p:spPr>
        <p:txBody>
          <a:bodyPr anchorCtr="0" anchor="ctr" bIns="40600" lIns="81250" spcFirstLastPara="1" rIns="81250" wrap="square" tIns="406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Index</a:t>
            </a:r>
            <a:endParaRPr b="0" i="0" sz="2800" u="none" cap="none" strike="noStrike">
              <a:solidFill>
                <a:srgbClr val="000000"/>
              </a:solidFill>
              <a:latin typeface="Arial"/>
              <a:ea typeface="Arial"/>
              <a:cs typeface="Arial"/>
              <a:sym typeface="Arial"/>
            </a:endParaRPr>
          </a:p>
        </p:txBody>
      </p:sp>
      <p:sp>
        <p:nvSpPr>
          <p:cNvPr id="97" name="Google Shape;97;p2"/>
          <p:cNvSpPr txBox="1"/>
          <p:nvPr/>
        </p:nvSpPr>
        <p:spPr>
          <a:xfrm>
            <a:off x="658213" y="1237460"/>
            <a:ext cx="7856640" cy="4396414"/>
          </a:xfrm>
          <a:prstGeom prst="rect">
            <a:avLst/>
          </a:prstGeom>
          <a:noFill/>
          <a:ln>
            <a:noFill/>
          </a:ln>
        </p:spPr>
        <p:txBody>
          <a:bodyPr anchorCtr="0" anchor="t" bIns="40600" lIns="81250" spcFirstLastPara="1" rIns="81250" wrap="square" tIns="40600">
            <a:noAutofit/>
          </a:bodyPr>
          <a:lstStyle/>
          <a:p>
            <a:pPr indent="-197566" lvl="0" marL="304817" marR="0" rtl="0" algn="l">
              <a:lnSpc>
                <a:spcPct val="150000"/>
              </a:lnSpc>
              <a:spcBef>
                <a:spcPts val="0"/>
              </a:spcBef>
              <a:spcAft>
                <a:spcPts val="0"/>
              </a:spcAft>
              <a:buClr>
                <a:srgbClr val="000000"/>
              </a:buClr>
              <a:buSzPts val="1689"/>
              <a:buFont typeface="Arial"/>
              <a:buNone/>
            </a:pPr>
            <a:r>
              <a:t/>
            </a:r>
            <a:endParaRPr b="0" i="0" sz="1689" u="none" cap="none" strike="noStrike">
              <a:solidFill>
                <a:srgbClr val="000000"/>
              </a:solidFill>
              <a:latin typeface="Calibri"/>
              <a:ea typeface="Calibri"/>
              <a:cs typeface="Calibri"/>
              <a:sym typeface="Calibri"/>
            </a:endParaRPr>
          </a:p>
          <a:p>
            <a:pPr indent="0" lvl="0" marL="0" marR="0" rtl="0" algn="l">
              <a:lnSpc>
                <a:spcPct val="150000"/>
              </a:lnSpc>
              <a:spcBef>
                <a:spcPts val="356"/>
              </a:spcBef>
              <a:spcAft>
                <a:spcPts val="0"/>
              </a:spcAft>
              <a:buClr>
                <a:srgbClr val="000000"/>
              </a:buClr>
              <a:buSzPts val="1689"/>
              <a:buFont typeface="Arial"/>
              <a:buNone/>
            </a:pPr>
            <a:r>
              <a:t/>
            </a:r>
            <a:endParaRPr b="0" i="0" sz="1689" u="none" cap="none" strike="noStrike">
              <a:solidFill>
                <a:srgbClr val="000000"/>
              </a:solidFill>
              <a:latin typeface="Calibri"/>
              <a:ea typeface="Calibri"/>
              <a:cs typeface="Calibri"/>
              <a:sym typeface="Calibri"/>
            </a:endParaRPr>
          </a:p>
          <a:p>
            <a:pPr indent="0" lvl="0" marL="0" marR="0" rtl="0" algn="l">
              <a:lnSpc>
                <a:spcPct val="150000"/>
              </a:lnSpc>
              <a:spcBef>
                <a:spcPts val="356"/>
              </a:spcBef>
              <a:spcAft>
                <a:spcPts val="0"/>
              </a:spcAft>
              <a:buClr>
                <a:srgbClr val="000000"/>
              </a:buClr>
              <a:buSzPts val="1689"/>
              <a:buFont typeface="Arial"/>
              <a:buNone/>
            </a:pPr>
            <a:r>
              <a:t/>
            </a:r>
            <a:endParaRPr b="0" i="0" sz="1689" u="none" cap="none" strike="noStrike">
              <a:solidFill>
                <a:srgbClr val="000000"/>
              </a:solidFill>
              <a:latin typeface="Calibri"/>
              <a:ea typeface="Calibri"/>
              <a:cs typeface="Calibri"/>
              <a:sym typeface="Calibri"/>
            </a:endParaRPr>
          </a:p>
          <a:p>
            <a:pPr indent="0" lvl="0" marL="0" marR="0" rtl="0" algn="l">
              <a:lnSpc>
                <a:spcPct val="150000"/>
              </a:lnSpc>
              <a:spcBef>
                <a:spcPts val="356"/>
              </a:spcBef>
              <a:spcAft>
                <a:spcPts val="0"/>
              </a:spcAft>
              <a:buClr>
                <a:srgbClr val="000000"/>
              </a:buClr>
              <a:buSzPts val="1689"/>
              <a:buFont typeface="Arial"/>
              <a:buNone/>
            </a:pPr>
            <a:r>
              <a:t/>
            </a:r>
            <a:endParaRPr b="0" i="0" sz="1689" u="none" cap="none" strike="noStrike">
              <a:solidFill>
                <a:srgbClr val="000000"/>
              </a:solidFill>
              <a:latin typeface="Calibri"/>
              <a:ea typeface="Calibri"/>
              <a:cs typeface="Calibri"/>
              <a:sym typeface="Calibri"/>
            </a:endParaRPr>
          </a:p>
          <a:p>
            <a:pPr indent="0" lvl="0" marL="0" marR="0" rtl="0" algn="l">
              <a:lnSpc>
                <a:spcPct val="150000"/>
              </a:lnSpc>
              <a:spcBef>
                <a:spcPts val="356"/>
              </a:spcBef>
              <a:spcAft>
                <a:spcPts val="0"/>
              </a:spcAft>
              <a:buClr>
                <a:srgbClr val="000000"/>
              </a:buClr>
              <a:buSzPts val="1689"/>
              <a:buFont typeface="Arial"/>
              <a:buNone/>
            </a:pPr>
            <a:r>
              <a:t/>
            </a:r>
            <a:endParaRPr b="0" i="0" sz="1689" u="none" cap="none" strike="noStrike">
              <a:solidFill>
                <a:srgbClr val="000000"/>
              </a:solidFill>
              <a:latin typeface="Calibri"/>
              <a:ea typeface="Calibri"/>
              <a:cs typeface="Calibri"/>
              <a:sym typeface="Calibri"/>
            </a:endParaRPr>
          </a:p>
          <a:p>
            <a:pPr indent="0" lvl="0" marL="0" marR="0" rtl="0" algn="l">
              <a:lnSpc>
                <a:spcPct val="150000"/>
              </a:lnSpc>
              <a:spcBef>
                <a:spcPts val="356"/>
              </a:spcBef>
              <a:spcAft>
                <a:spcPts val="0"/>
              </a:spcAft>
              <a:buClr>
                <a:srgbClr val="000000"/>
              </a:buClr>
              <a:buSzPts val="1689"/>
              <a:buFont typeface="Arial"/>
              <a:buNone/>
            </a:pPr>
            <a:r>
              <a:t/>
            </a:r>
            <a:endParaRPr b="0" i="0" sz="1689" u="none" cap="none" strike="noStrike">
              <a:solidFill>
                <a:srgbClr val="000000"/>
              </a:solidFill>
              <a:latin typeface="Calibri"/>
              <a:ea typeface="Calibri"/>
              <a:cs typeface="Calibri"/>
              <a:sym typeface="Calibri"/>
            </a:endParaRPr>
          </a:p>
          <a:p>
            <a:pPr indent="0" lvl="0" marL="0" marR="0" rtl="0" algn="l">
              <a:lnSpc>
                <a:spcPct val="100000"/>
              </a:lnSpc>
              <a:spcBef>
                <a:spcPts val="356"/>
              </a:spcBef>
              <a:spcAft>
                <a:spcPts val="0"/>
              </a:spcAft>
              <a:buClr>
                <a:srgbClr val="000000"/>
              </a:buClr>
              <a:buSzPts val="1689"/>
              <a:buFont typeface="Arial"/>
              <a:buNone/>
            </a:pPr>
            <a:r>
              <a:t/>
            </a:r>
            <a:endParaRPr b="0" i="0" sz="1689" u="none" cap="none" strike="noStrike">
              <a:solidFill>
                <a:srgbClr val="000000"/>
              </a:solidFill>
              <a:latin typeface="Calibri"/>
              <a:ea typeface="Calibri"/>
              <a:cs typeface="Calibri"/>
              <a:sym typeface="Calibri"/>
            </a:endParaRPr>
          </a:p>
          <a:p>
            <a:pPr indent="0" lvl="0" marL="0" marR="0" rtl="0" algn="l">
              <a:lnSpc>
                <a:spcPct val="100000"/>
              </a:lnSpc>
              <a:spcBef>
                <a:spcPts val="356"/>
              </a:spcBef>
              <a:spcAft>
                <a:spcPts val="0"/>
              </a:spcAft>
              <a:buClr>
                <a:srgbClr val="000000"/>
              </a:buClr>
              <a:buSzPts val="1689"/>
              <a:buFont typeface="Arial"/>
              <a:buNone/>
            </a:pPr>
            <a:r>
              <a:t/>
            </a:r>
            <a:endParaRPr b="0" i="0" sz="1689" u="none" cap="none" strike="noStrike">
              <a:solidFill>
                <a:srgbClr val="000000"/>
              </a:solidFill>
              <a:latin typeface="Calibri"/>
              <a:ea typeface="Calibri"/>
              <a:cs typeface="Calibri"/>
              <a:sym typeface="Calibri"/>
            </a:endParaRPr>
          </a:p>
          <a:p>
            <a:pPr indent="0" lvl="0" marL="0" marR="0" rtl="0" algn="l">
              <a:lnSpc>
                <a:spcPct val="100000"/>
              </a:lnSpc>
              <a:spcBef>
                <a:spcPts val="356"/>
              </a:spcBef>
              <a:spcAft>
                <a:spcPts val="0"/>
              </a:spcAft>
              <a:buClr>
                <a:srgbClr val="000000"/>
              </a:buClr>
              <a:buSzPts val="1689"/>
              <a:buFont typeface="Arial"/>
              <a:buNone/>
            </a:pPr>
            <a:r>
              <a:t/>
            </a:r>
            <a:endParaRPr b="0" i="0" sz="1689" u="none" cap="none" strike="noStrike">
              <a:solidFill>
                <a:srgbClr val="000000"/>
              </a:solidFill>
              <a:latin typeface="Calibri"/>
              <a:ea typeface="Calibri"/>
              <a:cs typeface="Calibri"/>
              <a:sym typeface="Calibri"/>
            </a:endParaRPr>
          </a:p>
          <a:p>
            <a:pPr indent="0" lvl="0" marL="0" marR="0" rtl="0" algn="l">
              <a:lnSpc>
                <a:spcPct val="100000"/>
              </a:lnSpc>
              <a:spcBef>
                <a:spcPts val="356"/>
              </a:spcBef>
              <a:spcAft>
                <a:spcPts val="0"/>
              </a:spcAft>
              <a:buClr>
                <a:srgbClr val="000000"/>
              </a:buClr>
              <a:buSzPts val="1689"/>
              <a:buFont typeface="Arial"/>
              <a:buNone/>
            </a:pPr>
            <a:r>
              <a:t/>
            </a:r>
            <a:endParaRPr b="0" i="0" sz="1689" u="none" cap="none" strike="noStrike">
              <a:solidFill>
                <a:srgbClr val="000000"/>
              </a:solidFill>
              <a:latin typeface="Calibri"/>
              <a:ea typeface="Calibri"/>
              <a:cs typeface="Calibri"/>
              <a:sym typeface="Calibri"/>
            </a:endParaRPr>
          </a:p>
          <a:p>
            <a:pPr indent="0" lvl="0" marL="0" marR="0" rtl="0" algn="l">
              <a:lnSpc>
                <a:spcPct val="100000"/>
              </a:lnSpc>
              <a:spcBef>
                <a:spcPts val="356"/>
              </a:spcBef>
              <a:spcAft>
                <a:spcPts val="0"/>
              </a:spcAft>
              <a:buClr>
                <a:srgbClr val="000000"/>
              </a:buClr>
              <a:buSzPts val="1689"/>
              <a:buFont typeface="Arial"/>
              <a:buNone/>
            </a:pPr>
            <a:r>
              <a:t/>
            </a:r>
            <a:endParaRPr b="0" i="0" sz="1689" u="none" cap="none" strike="noStrike">
              <a:solidFill>
                <a:srgbClr val="000000"/>
              </a:solidFill>
              <a:latin typeface="Calibri"/>
              <a:ea typeface="Calibri"/>
              <a:cs typeface="Calibri"/>
              <a:sym typeface="Calibri"/>
            </a:endParaRPr>
          </a:p>
          <a:p>
            <a:pPr indent="0" lvl="0" marL="0" marR="0" rtl="0" algn="l">
              <a:lnSpc>
                <a:spcPct val="100000"/>
              </a:lnSpc>
              <a:spcBef>
                <a:spcPts val="356"/>
              </a:spcBef>
              <a:spcAft>
                <a:spcPts val="0"/>
              </a:spcAft>
              <a:buClr>
                <a:srgbClr val="000000"/>
              </a:buClr>
              <a:buSzPts val="1689"/>
              <a:buFont typeface="Arial"/>
              <a:buNone/>
            </a:pPr>
            <a:r>
              <a:t/>
            </a:r>
            <a:endParaRPr b="0" i="0" sz="1689" u="none" cap="none" strike="noStrike">
              <a:solidFill>
                <a:srgbClr val="000000"/>
              </a:solidFill>
              <a:latin typeface="Calibri"/>
              <a:ea typeface="Calibri"/>
              <a:cs typeface="Calibri"/>
              <a:sym typeface="Calibri"/>
            </a:endParaRPr>
          </a:p>
        </p:txBody>
      </p:sp>
      <p:sp>
        <p:nvSpPr>
          <p:cNvPr id="98" name="Google Shape;98;p2"/>
          <p:cNvSpPr txBox="1"/>
          <p:nvPr>
            <p:ph idx="1" type="body"/>
          </p:nvPr>
        </p:nvSpPr>
        <p:spPr>
          <a:xfrm>
            <a:off x="1108310" y="1438826"/>
            <a:ext cx="6956446" cy="3590877"/>
          </a:xfrm>
          <a:prstGeom prst="rect">
            <a:avLst/>
          </a:prstGeom>
          <a:noFill/>
          <a:ln>
            <a:noFill/>
          </a:ln>
        </p:spPr>
        <p:txBody>
          <a:bodyPr anchorCtr="0" anchor="t" bIns="0" lIns="0" spcFirstLastPara="1" rIns="0" wrap="square" tIns="0">
            <a:noAutofit/>
          </a:bodyPr>
          <a:lstStyle/>
          <a:p>
            <a:pPr indent="-342900" lvl="0" marL="457200" rtl="0" algn="l">
              <a:lnSpc>
                <a:spcPct val="107000"/>
              </a:lnSpc>
              <a:spcBef>
                <a:spcPts val="1000"/>
              </a:spcBef>
              <a:spcAft>
                <a:spcPts val="0"/>
              </a:spcAft>
              <a:buSzPts val="1800"/>
              <a:buChar char="•"/>
            </a:pPr>
            <a:r>
              <a:rPr b="1" lang="en-US" sz="1800">
                <a:solidFill>
                  <a:schemeClr val="dk1"/>
                </a:solidFill>
                <a:latin typeface="Times New Roman"/>
                <a:ea typeface="Times New Roman"/>
                <a:cs typeface="Times New Roman"/>
                <a:sym typeface="Times New Roman"/>
              </a:rPr>
              <a:t>Objective of Software Project Planning</a:t>
            </a:r>
            <a:endParaRPr/>
          </a:p>
          <a:p>
            <a:pPr indent="-342900" lvl="0" marL="457200" rtl="0" algn="l">
              <a:lnSpc>
                <a:spcPct val="107000"/>
              </a:lnSpc>
              <a:spcBef>
                <a:spcPts val="1000"/>
              </a:spcBef>
              <a:spcAft>
                <a:spcPts val="0"/>
              </a:spcAft>
              <a:buSzPts val="1800"/>
              <a:buChar char="•"/>
            </a:pPr>
            <a:r>
              <a:rPr b="1" lang="en-US" sz="1800">
                <a:solidFill>
                  <a:schemeClr val="dk1"/>
                </a:solidFill>
                <a:latin typeface="Times New Roman"/>
                <a:ea typeface="Times New Roman"/>
                <a:cs typeface="Times New Roman"/>
                <a:sym typeface="Times New Roman"/>
              </a:rPr>
              <a:t>Software Scope of Software Project Planning</a:t>
            </a:r>
            <a:endParaRPr/>
          </a:p>
          <a:p>
            <a:pPr indent="-342900" lvl="0" marL="457200" rtl="0" algn="l">
              <a:lnSpc>
                <a:spcPct val="107000"/>
              </a:lnSpc>
              <a:spcBef>
                <a:spcPts val="1000"/>
              </a:spcBef>
              <a:spcAft>
                <a:spcPts val="0"/>
              </a:spcAft>
              <a:buSzPts val="1800"/>
              <a:buChar char="•"/>
            </a:pPr>
            <a:r>
              <a:rPr b="1" lang="en-US" sz="1800">
                <a:solidFill>
                  <a:schemeClr val="dk1"/>
                </a:solidFill>
                <a:latin typeface="Times New Roman"/>
                <a:ea typeface="Times New Roman"/>
                <a:cs typeface="Times New Roman"/>
                <a:sym typeface="Times New Roman"/>
              </a:rPr>
              <a:t>Resources of Software Project Planning</a:t>
            </a:r>
            <a:endParaRPr sz="1800">
              <a:latin typeface="Times New Roman"/>
              <a:ea typeface="Times New Roman"/>
              <a:cs typeface="Times New Roman"/>
              <a:sym typeface="Times New Roman"/>
            </a:endParaRPr>
          </a:p>
          <a:p>
            <a:pPr indent="-342900" lvl="0" marL="457200" rtl="0" algn="l">
              <a:lnSpc>
                <a:spcPct val="107000"/>
              </a:lnSpc>
              <a:spcBef>
                <a:spcPts val="1800"/>
              </a:spcBef>
              <a:spcAft>
                <a:spcPts val="0"/>
              </a:spcAft>
              <a:buSzPts val="1800"/>
              <a:buChar char="•"/>
            </a:pPr>
            <a:r>
              <a:rPr b="1" lang="en-US" sz="1800">
                <a:solidFill>
                  <a:schemeClr val="dk1"/>
                </a:solidFill>
                <a:latin typeface="Times New Roman"/>
                <a:ea typeface="Times New Roman"/>
                <a:cs typeface="Times New Roman"/>
                <a:sym typeface="Times New Roman"/>
              </a:rPr>
              <a:t>Software Project Estimation</a:t>
            </a:r>
            <a:endParaRPr sz="1800">
              <a:latin typeface="Times New Roman"/>
              <a:ea typeface="Times New Roman"/>
              <a:cs typeface="Times New Roman"/>
              <a:sym typeface="Times New Roman"/>
            </a:endParaRPr>
          </a:p>
          <a:p>
            <a:pPr indent="-342900" lvl="0" marL="457200" rtl="0" algn="l">
              <a:lnSpc>
                <a:spcPct val="107000"/>
              </a:lnSpc>
              <a:spcBef>
                <a:spcPts val="1800"/>
              </a:spcBef>
              <a:spcAft>
                <a:spcPts val="0"/>
              </a:spcAft>
              <a:buSzPts val="1800"/>
              <a:buChar char="•"/>
            </a:pPr>
            <a:r>
              <a:rPr b="1" i="0" lang="en-US" sz="1800" u="none" strike="noStrike">
                <a:solidFill>
                  <a:schemeClr val="dk1"/>
                </a:solidFill>
                <a:latin typeface="Times New Roman"/>
                <a:ea typeface="Times New Roman"/>
                <a:cs typeface="Times New Roman"/>
                <a:sym typeface="Times New Roman"/>
              </a:rPr>
              <a:t>Metrics for software project size estimation</a:t>
            </a:r>
            <a:endParaRPr sz="1800">
              <a:latin typeface="Times New Roman"/>
              <a:ea typeface="Times New Roman"/>
              <a:cs typeface="Times New Roman"/>
              <a:sym typeface="Times New Roman"/>
            </a:endParaRPr>
          </a:p>
          <a:p>
            <a:pPr indent="-342900" lvl="2" marL="1371600" rtl="0" algn="l">
              <a:lnSpc>
                <a:spcPct val="107000"/>
              </a:lnSpc>
              <a:spcBef>
                <a:spcPts val="1300"/>
              </a:spcBef>
              <a:spcAft>
                <a:spcPts val="0"/>
              </a:spcAft>
              <a:buSzPts val="1800"/>
              <a:buChar char="•"/>
            </a:pPr>
            <a:r>
              <a:rPr b="1" i="0" lang="en-US" sz="1800" u="none" strike="noStrike">
                <a:solidFill>
                  <a:schemeClr val="dk1"/>
                </a:solidFill>
                <a:latin typeface="Times New Roman"/>
                <a:ea typeface="Times New Roman"/>
                <a:cs typeface="Times New Roman"/>
                <a:sym typeface="Times New Roman"/>
              </a:rPr>
              <a:t>Lines of Code (LOC)  </a:t>
            </a:r>
            <a:endParaRPr sz="1800">
              <a:latin typeface="Times New Roman"/>
              <a:ea typeface="Times New Roman"/>
              <a:cs typeface="Times New Roman"/>
              <a:sym typeface="Times New Roman"/>
            </a:endParaRPr>
          </a:p>
          <a:p>
            <a:pPr indent="-342900" lvl="2" marL="1371600" rtl="0" algn="l">
              <a:lnSpc>
                <a:spcPct val="107000"/>
              </a:lnSpc>
              <a:spcBef>
                <a:spcPts val="1300"/>
              </a:spcBef>
              <a:spcAft>
                <a:spcPts val="0"/>
              </a:spcAft>
              <a:buSzPts val="1800"/>
              <a:buChar char="•"/>
            </a:pPr>
            <a:r>
              <a:rPr b="1" i="0" lang="en-US" sz="1800" u="none" strike="noStrike">
                <a:solidFill>
                  <a:schemeClr val="dk1"/>
                </a:solidFill>
                <a:latin typeface="Times New Roman"/>
                <a:ea typeface="Times New Roman"/>
                <a:cs typeface="Times New Roman"/>
                <a:sym typeface="Times New Roman"/>
              </a:rPr>
              <a:t>Computing Function Point</a:t>
            </a:r>
            <a:endParaRPr b="1" sz="1800">
              <a:solidFill>
                <a:schemeClr val="dk1"/>
              </a:solidFill>
              <a:latin typeface="Times New Roman"/>
              <a:ea typeface="Times New Roman"/>
              <a:cs typeface="Times New Roman"/>
              <a:sym typeface="Times New Roman"/>
            </a:endParaRPr>
          </a:p>
          <a:p>
            <a:pPr indent="-146763" lvl="0" marL="304817" rtl="0" algn="l">
              <a:lnSpc>
                <a:spcPct val="150000"/>
              </a:lnSpc>
              <a:spcBef>
                <a:spcPts val="0"/>
              </a:spcBef>
              <a:spcAft>
                <a:spcPts val="0"/>
              </a:spcAft>
              <a:buSzPts val="2800"/>
              <a:buNone/>
            </a:pPr>
            <a:r>
              <a:t/>
            </a:r>
            <a:endParaRPr b="1" sz="1800">
              <a:solidFill>
                <a:schemeClr val="dk1"/>
              </a:solidFill>
              <a:latin typeface="Times New Roman"/>
              <a:ea typeface="Times New Roman"/>
              <a:cs typeface="Times New Roman"/>
              <a:sym typeface="Times New Roman"/>
            </a:endParaRPr>
          </a:p>
          <a:p>
            <a:pPr indent="-146763" lvl="0" marL="304817" rtl="0" algn="l">
              <a:lnSpc>
                <a:spcPct val="150000"/>
              </a:lnSpc>
              <a:spcBef>
                <a:spcPts val="0"/>
              </a:spcBef>
              <a:spcAft>
                <a:spcPts val="0"/>
              </a:spcAft>
              <a:buSzPts val="2800"/>
              <a:buNone/>
            </a:pPr>
            <a:r>
              <a:t/>
            </a:r>
            <a:endParaRPr b="1" sz="18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45720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solidFill>
                  <a:schemeClr val="dk1"/>
                </a:solidFill>
                <a:latin typeface="Times New Roman"/>
                <a:ea typeface="Times New Roman"/>
                <a:cs typeface="Times New Roman"/>
                <a:sym typeface="Times New Roman"/>
              </a:rPr>
              <a:t>Project Planning</a:t>
            </a:r>
            <a:endParaRPr/>
          </a:p>
        </p:txBody>
      </p:sp>
      <p:sp>
        <p:nvSpPr>
          <p:cNvPr id="104" name="Google Shape;104;p3"/>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p>
            <a:pPr indent="-3429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S</a:t>
            </a:r>
            <a:r>
              <a:rPr lang="en-US" sz="1800">
                <a:solidFill>
                  <a:schemeClr val="dk1"/>
                </a:solidFill>
                <a:latin typeface="Times New Roman"/>
                <a:ea typeface="Times New Roman"/>
                <a:cs typeface="Times New Roman"/>
                <a:sym typeface="Times New Roman"/>
              </a:rPr>
              <a:t>/</a:t>
            </a:r>
            <a:r>
              <a:rPr lang="en-US" sz="1800">
                <a:latin typeface="Times New Roman"/>
                <a:ea typeface="Times New Roman"/>
                <a:cs typeface="Times New Roman"/>
                <a:sym typeface="Times New Roman"/>
              </a:rPr>
              <a:t>W</a:t>
            </a:r>
            <a:r>
              <a:rPr lang="en-US" sz="1800">
                <a:solidFill>
                  <a:schemeClr val="dk1"/>
                </a:solidFill>
                <a:latin typeface="Times New Roman"/>
                <a:ea typeface="Times New Roman"/>
                <a:cs typeface="Times New Roman"/>
                <a:sym typeface="Times New Roman"/>
              </a:rPr>
              <a:t> project management process begins with </a:t>
            </a:r>
            <a:r>
              <a:rPr i="1" lang="en-US" sz="1800">
                <a:solidFill>
                  <a:schemeClr val="dk1"/>
                </a:solidFill>
                <a:latin typeface="Times New Roman"/>
                <a:ea typeface="Times New Roman"/>
                <a:cs typeface="Times New Roman"/>
                <a:sym typeface="Times New Roman"/>
              </a:rPr>
              <a:t>project planning.</a:t>
            </a:r>
            <a:endParaRPr sz="1800">
              <a:solidFill>
                <a:schemeClr val="dk1"/>
              </a:solidFill>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O</a:t>
            </a:r>
            <a:r>
              <a:rPr b="1" lang="en-US" sz="1800">
                <a:solidFill>
                  <a:schemeClr val="dk1"/>
                </a:solidFill>
                <a:latin typeface="Times New Roman"/>
                <a:ea typeface="Times New Roman"/>
                <a:cs typeface="Times New Roman"/>
                <a:sym typeface="Times New Roman"/>
              </a:rPr>
              <a:t>bjective </a:t>
            </a:r>
            <a:endParaRPr/>
          </a:p>
          <a:p>
            <a:pPr indent="0" lvl="0" marL="114300" rtl="0" algn="l">
              <a:lnSpc>
                <a:spcPct val="90000"/>
              </a:lnSpc>
              <a:spcBef>
                <a:spcPts val="1000"/>
              </a:spcBef>
              <a:spcAft>
                <a:spcPts val="0"/>
              </a:spcAft>
              <a:buClr>
                <a:schemeClr val="dk1"/>
              </a:buClr>
              <a:buSzPts val="1800"/>
              <a:buNone/>
            </a:pPr>
            <a:r>
              <a:rPr b="1" lang="en-US" sz="1800">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To provide a framework for manager to make reasonable </a:t>
            </a:r>
            <a:r>
              <a:rPr i="1" lang="en-US" sz="1800">
                <a:solidFill>
                  <a:schemeClr val="dk1"/>
                </a:solidFill>
                <a:latin typeface="Times New Roman"/>
                <a:ea typeface="Times New Roman"/>
                <a:cs typeface="Times New Roman"/>
                <a:sym typeface="Times New Roman"/>
              </a:rPr>
              <a:t>estimates of </a:t>
            </a:r>
            <a:endParaRPr/>
          </a:p>
          <a:p>
            <a:pPr indent="0" lvl="0" marL="114300" rtl="0" algn="l">
              <a:lnSpc>
                <a:spcPct val="90000"/>
              </a:lnSpc>
              <a:spcBef>
                <a:spcPts val="1000"/>
              </a:spcBef>
              <a:spcAft>
                <a:spcPts val="0"/>
              </a:spcAft>
              <a:buClr>
                <a:schemeClr val="dk1"/>
              </a:buClr>
              <a:buSzPts val="1800"/>
              <a:buNone/>
            </a:pPr>
            <a:r>
              <a:rPr i="1" lang="en-US" sz="1800">
                <a:latin typeface="Times New Roman"/>
                <a:ea typeface="Times New Roman"/>
                <a:cs typeface="Times New Roman"/>
                <a:sym typeface="Times New Roman"/>
              </a:rPr>
              <a:t>                               </a:t>
            </a:r>
            <a:r>
              <a:rPr i="1" lang="en-US" sz="1800">
                <a:solidFill>
                  <a:schemeClr val="dk1"/>
                </a:solidFill>
                <a:latin typeface="Times New Roman"/>
                <a:ea typeface="Times New Roman"/>
                <a:cs typeface="Times New Roman"/>
                <a:sym typeface="Times New Roman"/>
              </a:rPr>
              <a:t>resources, costs and schedules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1800"/>
              <a:buNone/>
            </a:pPr>
            <a:r>
              <a:rPr b="1" lang="en-US">
                <a:solidFill>
                  <a:schemeClr val="dk1"/>
                </a:solidFill>
              </a:rPr>
              <a:t>Activities Associated with Project </a:t>
            </a:r>
            <a:r>
              <a:rPr b="1" lang="en-US"/>
              <a:t>P</a:t>
            </a:r>
            <a:r>
              <a:rPr b="1" lang="en-US">
                <a:solidFill>
                  <a:schemeClr val="dk1"/>
                </a:solidFill>
              </a:rPr>
              <a:t>lanning</a:t>
            </a:r>
            <a:endParaRPr b="1">
              <a:solidFill>
                <a:schemeClr val="dk1"/>
              </a:solidFill>
            </a:endParaRPr>
          </a:p>
        </p:txBody>
      </p:sp>
      <p:sp>
        <p:nvSpPr>
          <p:cNvPr id="110" name="Google Shape;110;p6"/>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p>
            <a:pPr indent="-342900" lvl="0" marL="457200" rtl="0" algn="l">
              <a:lnSpc>
                <a:spcPct val="90000"/>
              </a:lnSpc>
              <a:spcBef>
                <a:spcPts val="100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Software scope</a:t>
            </a:r>
            <a:endParaRPr sz="18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R</a:t>
            </a:r>
            <a:r>
              <a:rPr lang="en-US" sz="1800">
                <a:solidFill>
                  <a:schemeClr val="dk1"/>
                </a:solidFill>
                <a:latin typeface="Times New Roman"/>
                <a:ea typeface="Times New Roman"/>
                <a:cs typeface="Times New Roman"/>
                <a:sym typeface="Times New Roman"/>
              </a:rPr>
              <a:t>esources</a:t>
            </a:r>
            <a:endParaRPr sz="18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P</a:t>
            </a:r>
            <a:r>
              <a:rPr lang="en-US" sz="1800">
                <a:solidFill>
                  <a:schemeClr val="dk1"/>
                </a:solidFill>
                <a:latin typeface="Times New Roman"/>
                <a:ea typeface="Times New Roman"/>
                <a:cs typeface="Times New Roman"/>
                <a:sym typeface="Times New Roman"/>
              </a:rPr>
              <a:t>roject estimation</a:t>
            </a:r>
            <a:endParaRPr sz="18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D</a:t>
            </a:r>
            <a:r>
              <a:rPr lang="en-US" sz="1800">
                <a:solidFill>
                  <a:schemeClr val="dk1"/>
                </a:solidFill>
                <a:latin typeface="Times New Roman"/>
                <a:ea typeface="Times New Roman"/>
                <a:cs typeface="Times New Roman"/>
                <a:sym typeface="Times New Roman"/>
              </a:rPr>
              <a:t>ecomposition</a:t>
            </a:r>
            <a:endParaRPr sz="18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1"/>
          <p:cNvSpPr txBox="1"/>
          <p:nvPr>
            <p:ph type="title"/>
          </p:nvPr>
        </p:nvSpPr>
        <p:spPr>
          <a:xfrm>
            <a:off x="345440" y="-1052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i="0" lang="en-US">
                <a:solidFill>
                  <a:srgbClr val="000000"/>
                </a:solidFill>
                <a:latin typeface="Times New Roman"/>
                <a:ea typeface="Times New Roman"/>
                <a:cs typeface="Times New Roman"/>
                <a:sym typeface="Times New Roman"/>
              </a:rPr>
              <a:t>Project Scope</a:t>
            </a:r>
            <a:endParaRPr>
              <a:latin typeface="Times New Roman"/>
              <a:ea typeface="Times New Roman"/>
              <a:cs typeface="Times New Roman"/>
              <a:sym typeface="Times New Roman"/>
            </a:endParaRPr>
          </a:p>
        </p:txBody>
      </p:sp>
      <p:sp>
        <p:nvSpPr>
          <p:cNvPr id="116" name="Google Shape;116;p41"/>
          <p:cNvSpPr txBox="1"/>
          <p:nvPr/>
        </p:nvSpPr>
        <p:spPr>
          <a:xfrm>
            <a:off x="391160" y="1117240"/>
            <a:ext cx="8361680" cy="351121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Project scope encompasses the following aspects:</a:t>
            </a:r>
            <a:endParaRPr/>
          </a:p>
          <a:p>
            <a:pPr indent="-285750" lvl="0" marL="285750" marR="0" rtl="0" algn="just">
              <a:lnSpc>
                <a:spcPct val="104166"/>
              </a:lnSpc>
              <a:spcBef>
                <a:spcPts val="975"/>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Integration and Constraints:</a:t>
            </a:r>
            <a:r>
              <a:rPr b="0" i="0" lang="en-US" sz="1800" u="none" cap="none" strike="noStrike">
                <a:solidFill>
                  <a:srgbClr val="000000"/>
                </a:solidFill>
                <a:latin typeface="Times New Roman"/>
                <a:ea typeface="Times New Roman"/>
                <a:cs typeface="Times New Roman"/>
                <a:sym typeface="Times New Roman"/>
              </a:rPr>
              <a:t> Determine how accurately the project fits into a larger system and identify any constraints associated with the project.</a:t>
            </a:r>
            <a:endParaRPr/>
          </a:p>
          <a:p>
            <a:pPr indent="-285750" lvl="0" marL="285750" marR="0" rtl="0" algn="just">
              <a:lnSpc>
                <a:spcPct val="104166"/>
              </a:lnSpc>
              <a:spcBef>
                <a:spcPts val="150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Desired Output:</a:t>
            </a:r>
            <a:r>
              <a:rPr b="0" i="0" lang="en-US" sz="1800" u="none" cap="none" strike="noStrike">
                <a:solidFill>
                  <a:srgbClr val="000000"/>
                </a:solidFill>
                <a:latin typeface="Times New Roman"/>
                <a:ea typeface="Times New Roman"/>
                <a:cs typeface="Times New Roman"/>
                <a:sym typeface="Times New Roman"/>
              </a:rPr>
              <a:t> Clearly define the desired output that the project should produce.</a:t>
            </a:r>
            <a:endParaRPr/>
          </a:p>
          <a:p>
            <a:pPr indent="-285750" lvl="0" marL="285750" marR="0" rtl="0" algn="just">
              <a:lnSpc>
                <a:spcPct val="104166"/>
              </a:lnSpc>
              <a:spcBef>
                <a:spcPts val="150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Input Requirements:</a:t>
            </a:r>
            <a:r>
              <a:rPr b="0" i="0" lang="en-US" sz="1800" u="none" cap="none" strike="noStrike">
                <a:solidFill>
                  <a:srgbClr val="000000"/>
                </a:solidFill>
                <a:latin typeface="Times New Roman"/>
                <a:ea typeface="Times New Roman"/>
                <a:cs typeface="Times New Roman"/>
                <a:sym typeface="Times New Roman"/>
              </a:rPr>
              <a:t> Specify the input data required for the project.</a:t>
            </a:r>
            <a:endParaRPr/>
          </a:p>
          <a:p>
            <a:pPr indent="-285750" lvl="0" marL="285750" marR="0" rtl="0" algn="just">
              <a:lnSpc>
                <a:spcPct val="104166"/>
              </a:lnSpc>
              <a:spcBef>
                <a:spcPts val="150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Transformative Functions:</a:t>
            </a:r>
            <a:r>
              <a:rPr b="0" i="0" lang="en-US" sz="1800" u="none" cap="none" strike="noStrike">
                <a:solidFill>
                  <a:srgbClr val="000000"/>
                </a:solidFill>
                <a:latin typeface="Times New Roman"/>
                <a:ea typeface="Times New Roman"/>
                <a:cs typeface="Times New Roman"/>
                <a:sym typeface="Times New Roman"/>
              </a:rPr>
              <a:t> Identify the functions responsible for transforming input data into the desired output.</a:t>
            </a:r>
            <a:endParaRPr/>
          </a:p>
          <a:p>
            <a:pPr indent="-285750" lvl="0" marL="285750" marR="0" rtl="0" algn="just">
              <a:lnSpc>
                <a:spcPct val="104166"/>
              </a:lnSpc>
              <a:spcBef>
                <a:spcPts val="150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Example:</a:t>
            </a:r>
            <a:r>
              <a:rPr b="0" i="0" lang="en-US" sz="1800" u="none" cap="none" strike="noStrike">
                <a:solidFill>
                  <a:srgbClr val="000000"/>
                </a:solidFill>
                <a:latin typeface="Times New Roman"/>
                <a:ea typeface="Times New Roman"/>
                <a:cs typeface="Times New Roman"/>
                <a:sym typeface="Times New Roman"/>
              </a:rPr>
              <a:t> An example of the project scope is ensuring that customers can easily navigate the website, search for products, and complete the checkout process seamlessly.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2"/>
          <p:cNvSpPr txBox="1"/>
          <p:nvPr>
            <p:ph type="title"/>
          </p:nvPr>
        </p:nvSpPr>
        <p:spPr>
          <a:xfrm>
            <a:off x="345440" y="-1052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i="0" lang="en-US">
                <a:solidFill>
                  <a:srgbClr val="000000"/>
                </a:solidFill>
                <a:latin typeface="Times New Roman"/>
                <a:ea typeface="Times New Roman"/>
                <a:cs typeface="Times New Roman"/>
                <a:sym typeface="Times New Roman"/>
              </a:rPr>
              <a:t>Project Scope Cont.</a:t>
            </a:r>
            <a:endParaRPr>
              <a:latin typeface="Times New Roman"/>
              <a:ea typeface="Times New Roman"/>
              <a:cs typeface="Times New Roman"/>
              <a:sym typeface="Times New Roman"/>
            </a:endParaRPr>
          </a:p>
        </p:txBody>
      </p:sp>
      <p:sp>
        <p:nvSpPr>
          <p:cNvPr id="122" name="Google Shape;122;p42"/>
          <p:cNvSpPr txBox="1"/>
          <p:nvPr/>
        </p:nvSpPr>
        <p:spPr>
          <a:xfrm>
            <a:off x="462280" y="1279800"/>
            <a:ext cx="8219440" cy="285719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When defining project scope, it's essential to explicitly state the following information:</a:t>
            </a:r>
            <a:endParaRPr/>
          </a:p>
          <a:p>
            <a:pPr indent="-285750" lvl="0" marL="285750" marR="0" rtl="0" algn="just">
              <a:lnSpc>
                <a:spcPct val="104166"/>
              </a:lnSpc>
              <a:spcBef>
                <a:spcPts val="975"/>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Quantitative Data:</a:t>
            </a:r>
            <a:r>
              <a:rPr b="0" i="0" lang="en-US" sz="1800" u="none" cap="none" strike="noStrike">
                <a:solidFill>
                  <a:srgbClr val="000000"/>
                </a:solidFill>
                <a:latin typeface="Times New Roman"/>
                <a:ea typeface="Times New Roman"/>
                <a:cs typeface="Times New Roman"/>
                <a:sym typeface="Times New Roman"/>
              </a:rPr>
              <a:t> Clearly specify any measurable data associated with the project, such as timelines, budget, or performance metrics.</a:t>
            </a:r>
            <a:endParaRPr/>
          </a:p>
          <a:p>
            <a:pPr indent="-285750" lvl="0" marL="285750" marR="0" rtl="0" algn="just">
              <a:lnSpc>
                <a:spcPct val="104166"/>
              </a:lnSpc>
              <a:spcBef>
                <a:spcPts val="150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Constraints and/or Limitations:</a:t>
            </a:r>
            <a:r>
              <a:rPr b="0" i="0" lang="en-US" sz="1800" u="none" cap="none" strike="noStrike">
                <a:solidFill>
                  <a:srgbClr val="000000"/>
                </a:solidFill>
                <a:latin typeface="Times New Roman"/>
                <a:ea typeface="Times New Roman"/>
                <a:cs typeface="Times New Roman"/>
                <a:sym typeface="Times New Roman"/>
              </a:rPr>
              <a:t> Outline any restrictions or limitations that may impact the project, such as budget constraints, time constraints, or technological limitations.</a:t>
            </a:r>
            <a:endParaRPr/>
          </a:p>
          <a:p>
            <a:pPr indent="-285750" lvl="0" marL="285750" marR="0" rtl="0" algn="just">
              <a:lnSpc>
                <a:spcPct val="104166"/>
              </a:lnSpc>
              <a:spcBef>
                <a:spcPts val="150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Modifying Factors:</a:t>
            </a:r>
            <a:r>
              <a:rPr b="0" i="0" lang="en-US" sz="1800" u="none" cap="none" strike="noStrike">
                <a:solidFill>
                  <a:srgbClr val="000000"/>
                </a:solidFill>
                <a:latin typeface="Times New Roman"/>
                <a:ea typeface="Times New Roman"/>
                <a:cs typeface="Times New Roman"/>
                <a:sym typeface="Times New Roman"/>
              </a:rPr>
              <a:t> Identify any factors that could potentially modify or influence the project's scope, ensuring a comprehensive understanding of the conditions under which the project will be executed.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3"/>
          <p:cNvSpPr txBox="1"/>
          <p:nvPr>
            <p:ph type="title"/>
          </p:nvPr>
        </p:nvSpPr>
        <p:spPr>
          <a:xfrm>
            <a:off x="47752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i="0" lang="en-US">
                <a:solidFill>
                  <a:srgbClr val="000000"/>
                </a:solidFill>
                <a:latin typeface="Times New Roman"/>
                <a:ea typeface="Times New Roman"/>
                <a:cs typeface="Times New Roman"/>
                <a:sym typeface="Times New Roman"/>
              </a:rPr>
              <a:t>Resource Allocation</a:t>
            </a:r>
            <a:endParaRPr>
              <a:latin typeface="Times New Roman"/>
              <a:ea typeface="Times New Roman"/>
              <a:cs typeface="Times New Roman"/>
              <a:sym typeface="Times New Roman"/>
            </a:endParaRPr>
          </a:p>
        </p:txBody>
      </p:sp>
      <p:sp>
        <p:nvSpPr>
          <p:cNvPr id="128" name="Google Shape;128;p43"/>
          <p:cNvSpPr txBox="1"/>
          <p:nvPr/>
        </p:nvSpPr>
        <p:spPr>
          <a:xfrm>
            <a:off x="477520" y="1063215"/>
            <a:ext cx="8188960" cy="462947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Resource allocation in software engineering involves distributing and utilizing resources effectively to facilitate successful project development. The three major categories of software engineering resources are:</a:t>
            </a:r>
            <a:endParaRPr/>
          </a:p>
          <a:p>
            <a:pPr indent="-285750" lvl="0" marL="285750" marR="0" rtl="0" algn="just">
              <a:lnSpc>
                <a:spcPct val="104166"/>
              </a:lnSpc>
              <a:spcBef>
                <a:spcPts val="975"/>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People:</a:t>
            </a:r>
            <a:r>
              <a:rPr b="0" i="0" lang="en-US" sz="1800" u="none" cap="none" strike="noStrike">
                <a:solidFill>
                  <a:srgbClr val="000000"/>
                </a:solidFill>
                <a:latin typeface="Times New Roman"/>
                <a:ea typeface="Times New Roman"/>
                <a:cs typeface="Times New Roman"/>
                <a:sym typeface="Times New Roman"/>
              </a:rPr>
              <a:t> Allocate human resources, defining roles and responsibilities for team members. Consider the skills, expertise, and availability of individuals to form an effective project team. This includes assessing skills, geographical location, and determining the number of team members.</a:t>
            </a:r>
            <a:endParaRPr/>
          </a:p>
          <a:p>
            <a:pPr indent="-285750" lvl="0" marL="285750" marR="0" rtl="0" algn="just">
              <a:lnSpc>
                <a:spcPct val="104166"/>
              </a:lnSpc>
              <a:spcBef>
                <a:spcPts val="150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Reusable Software Components:</a:t>
            </a:r>
            <a:r>
              <a:rPr b="0" i="0" lang="en-US" sz="1800" u="none" cap="none" strike="noStrike">
                <a:solidFill>
                  <a:srgbClr val="000000"/>
                </a:solidFill>
                <a:latin typeface="Times New Roman"/>
                <a:ea typeface="Times New Roman"/>
                <a:cs typeface="Times New Roman"/>
                <a:sym typeface="Times New Roman"/>
              </a:rPr>
              <a:t> Identify and allocate existing software components that can be reused in the project. This includes Commercial Off-The-Shelf (COTS) components, new components, and fully experienced components for faster development. Reusing components helps save time, effort, and ensures consistency in software development.</a:t>
            </a:r>
            <a:endParaRPr/>
          </a:p>
          <a:p>
            <a:pPr indent="-285750" lvl="1" marL="742950" marR="0" rtl="0" algn="just">
              <a:lnSpc>
                <a:spcPct val="104166"/>
              </a:lnSpc>
              <a:spcBef>
                <a:spcPts val="1500"/>
              </a:spcBef>
              <a:spcAft>
                <a:spcPts val="0"/>
              </a:spcAft>
              <a:buClr>
                <a:srgbClr val="000000"/>
              </a:buClr>
              <a:buSzPts val="1800"/>
              <a:buFont typeface="Arial"/>
              <a:buChar char="•"/>
            </a:pPr>
            <a:r>
              <a:rPr b="0" i="0" lang="en-US" sz="1800" u="none" cap="none" strike="noStrike">
                <a:solidFill>
                  <a:srgbClr val="000000"/>
                </a:solidFill>
                <a:latin typeface="Times New Roman"/>
                <a:ea typeface="Times New Roman"/>
                <a:cs typeface="Times New Roman"/>
                <a:sym typeface="Times New Roman"/>
              </a:rPr>
              <a:t>"COTS" stands for "Commercial Off-The-Shelf." COTS refers to pre-built software products or components that are commercially available and can be purchased or licensed for use in a project. These are ready-made software solutions developed by third-party vendors for a wide range of applications.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44"/>
          <p:cNvSpPr txBox="1"/>
          <p:nvPr>
            <p:ph type="title"/>
          </p:nvPr>
        </p:nvSpPr>
        <p:spPr>
          <a:xfrm>
            <a:off x="47752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i="0" lang="en-US">
                <a:solidFill>
                  <a:srgbClr val="000000"/>
                </a:solidFill>
                <a:latin typeface="Times New Roman"/>
                <a:ea typeface="Times New Roman"/>
                <a:cs typeface="Times New Roman"/>
                <a:sym typeface="Times New Roman"/>
              </a:rPr>
              <a:t>Resource Allocation</a:t>
            </a:r>
            <a:endParaRPr>
              <a:latin typeface="Times New Roman"/>
              <a:ea typeface="Times New Roman"/>
              <a:cs typeface="Times New Roman"/>
              <a:sym typeface="Times New Roman"/>
            </a:endParaRPr>
          </a:p>
        </p:txBody>
      </p:sp>
      <p:sp>
        <p:nvSpPr>
          <p:cNvPr id="134" name="Google Shape;134;p44"/>
          <p:cNvSpPr txBox="1"/>
          <p:nvPr/>
        </p:nvSpPr>
        <p:spPr>
          <a:xfrm>
            <a:off x="477520" y="1743935"/>
            <a:ext cx="7782560" cy="1310615"/>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4166"/>
              </a:lnSpc>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Development Environment:</a:t>
            </a:r>
            <a:r>
              <a:rPr b="0" i="0" lang="en-US" sz="1800" u="none" cap="none" strike="noStrike">
                <a:solidFill>
                  <a:srgbClr val="000000"/>
                </a:solidFill>
                <a:latin typeface="Times New Roman"/>
                <a:ea typeface="Times New Roman"/>
                <a:cs typeface="Times New Roman"/>
                <a:sym typeface="Times New Roman"/>
              </a:rPr>
              <a:t> Allocate the necessary tools, software, hardware, and infrastructure required for development, testing, and deployment. This involves provisioning software tools, hardware resources, and network infrastructure. Create an environment that supports efficient coding, testing, and collaboration.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5"/>
          <p:cNvSpPr txBox="1"/>
          <p:nvPr>
            <p:ph type="title"/>
          </p:nvPr>
        </p:nvSpPr>
        <p:spPr>
          <a:xfrm>
            <a:off x="34036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i="0" lang="en-US" sz="2800">
                <a:solidFill>
                  <a:srgbClr val="000000"/>
                </a:solidFill>
                <a:latin typeface="Times New Roman"/>
                <a:ea typeface="Times New Roman"/>
                <a:cs typeface="Times New Roman"/>
                <a:sym typeface="Times New Roman"/>
              </a:rPr>
              <a:t>Software Project Estimation</a:t>
            </a:r>
            <a:endParaRPr/>
          </a:p>
        </p:txBody>
      </p:sp>
      <p:sp>
        <p:nvSpPr>
          <p:cNvPr id="140" name="Google Shape;140;p45"/>
          <p:cNvSpPr txBox="1"/>
          <p:nvPr/>
        </p:nvSpPr>
        <p:spPr>
          <a:xfrm>
            <a:off x="340360" y="1026160"/>
            <a:ext cx="8580120" cy="423962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Estimating the cost and effort required for developing a software project is a critical aspect of project planning and management. Several approaches are used in software project estimation to ensure accurate and realistic estimations:</a:t>
            </a:r>
            <a:endParaRPr/>
          </a:p>
          <a:p>
            <a:pPr indent="0" lvl="0" marL="0" marR="0" rtl="0" algn="just">
              <a:lnSpc>
                <a:spcPct val="100000"/>
              </a:lnSpc>
              <a:spcBef>
                <a:spcPts val="45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4166"/>
              </a:lnSpc>
              <a:spcBef>
                <a:spcPts val="525"/>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Delay Estimation until Late in the Project:</a:t>
            </a:r>
            <a:endParaRPr/>
          </a:p>
          <a:p>
            <a:pPr indent="0" lvl="3" marL="0" marR="0" rtl="0" algn="just">
              <a:lnSpc>
                <a:spcPct val="104166"/>
              </a:lnSpc>
              <a:spcBef>
                <a:spcPts val="525"/>
              </a:spcBef>
              <a:spcAft>
                <a:spcPts val="0"/>
              </a:spcAft>
              <a:buNone/>
            </a:pPr>
            <a:r>
              <a:rPr b="0" i="0" lang="en-US" sz="1800" u="none" cap="none" strike="noStrike">
                <a:solidFill>
                  <a:srgbClr val="000000"/>
                </a:solidFill>
                <a:latin typeface="Times New Roman"/>
                <a:ea typeface="Times New Roman"/>
                <a:cs typeface="Times New Roman"/>
                <a:sym typeface="Times New Roman"/>
              </a:rPr>
              <a:t>      Delaying estimation until later stages of the project involves gathering more information and data as the project progresses. This approach allows for more accurate estimations based on  concrete project details, requirements, and progress metrics. It is particularly useful when project requirements are unclear or subject to change.</a:t>
            </a:r>
            <a:endParaRPr/>
          </a:p>
          <a:p>
            <a:pPr indent="0" lvl="3" marL="0" marR="0" rtl="0" algn="just">
              <a:lnSpc>
                <a:spcPct val="104166"/>
              </a:lnSpc>
              <a:spcBef>
                <a:spcPts val="45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4166"/>
              </a:lnSpc>
              <a:spcBef>
                <a:spcPts val="525"/>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Base Estimates on Similar Completed Projects:</a:t>
            </a:r>
            <a:endParaRPr/>
          </a:p>
          <a:p>
            <a:pPr indent="0" lvl="0" marL="0" marR="0" rtl="0" algn="just">
              <a:lnSpc>
                <a:spcPct val="104166"/>
              </a:lnSpc>
              <a:spcBef>
                <a:spcPts val="525"/>
              </a:spcBef>
              <a:spcAft>
                <a:spcPts val="0"/>
              </a:spcAft>
              <a:buNone/>
            </a:pPr>
            <a:r>
              <a:rPr b="0" i="0" lang="en-US" sz="1800" u="none" cap="none" strike="noStrike">
                <a:solidFill>
                  <a:srgbClr val="000000"/>
                </a:solidFill>
                <a:latin typeface="Times New Roman"/>
                <a:ea typeface="Times New Roman"/>
                <a:cs typeface="Times New Roman"/>
                <a:sym typeface="Times New Roman"/>
              </a:rPr>
              <a:t>      Basing estimates on similar completed projects involves leveraging historical data and lessons learned from past projects with similar characteristics, scope, and complexity. This approach helps in providing initial estimates based on real-world experiences, project outcomes, and performance metrics, leading to more reliable estimations.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46"/>
          <p:cNvSpPr txBox="1"/>
          <p:nvPr>
            <p:ph type="title"/>
          </p:nvPr>
        </p:nvSpPr>
        <p:spPr>
          <a:xfrm>
            <a:off x="34544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i="0" lang="en-US" sz="2800">
                <a:solidFill>
                  <a:srgbClr val="000000"/>
                </a:solidFill>
                <a:latin typeface="Times New Roman"/>
                <a:ea typeface="Times New Roman"/>
                <a:cs typeface="Times New Roman"/>
                <a:sym typeface="Times New Roman"/>
              </a:rPr>
              <a:t>Software Project Estimation Cont.</a:t>
            </a:r>
            <a:endParaRPr/>
          </a:p>
        </p:txBody>
      </p:sp>
      <p:sp>
        <p:nvSpPr>
          <p:cNvPr id="146" name="Google Shape;146;p46"/>
          <p:cNvSpPr txBox="1"/>
          <p:nvPr/>
        </p:nvSpPr>
        <p:spPr>
          <a:xfrm>
            <a:off x="345440" y="1351280"/>
            <a:ext cx="8138160" cy="387542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4166"/>
              </a:lnSpc>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Use Relatively Simple Decomposition Techniques:</a:t>
            </a:r>
            <a:endParaRPr/>
          </a:p>
          <a:p>
            <a:pPr indent="0" lvl="0" marL="0" marR="0" rtl="0" algn="just">
              <a:lnSpc>
                <a:spcPct val="104166"/>
              </a:lnSpc>
              <a:spcBef>
                <a:spcPts val="525"/>
              </a:spcBef>
              <a:spcAft>
                <a:spcPts val="0"/>
              </a:spcAft>
              <a:buNone/>
            </a:pPr>
            <a:r>
              <a:rPr b="0" i="0" lang="en-US" sz="1800" u="none" cap="none" strike="noStrike">
                <a:solidFill>
                  <a:srgbClr val="000000"/>
                </a:solidFill>
                <a:latin typeface="Times New Roman"/>
                <a:ea typeface="Times New Roman"/>
                <a:cs typeface="Times New Roman"/>
                <a:sym typeface="Times New Roman"/>
              </a:rPr>
              <a:t>      Employing relatively simple decomposition techniques involves breaking down the project into manageable tasks, components, or modules based on a basic decomposition strategy. </a:t>
            </a:r>
            <a:endParaRPr/>
          </a:p>
          <a:p>
            <a:pPr indent="0" lvl="0" marL="0" marR="0" rtl="0" algn="just">
              <a:lnSpc>
                <a:spcPct val="104166"/>
              </a:lnSpc>
              <a:spcBef>
                <a:spcPts val="450"/>
              </a:spcBef>
              <a:spcAft>
                <a:spcPts val="0"/>
              </a:spcAft>
              <a:buNone/>
            </a:pPr>
            <a:r>
              <a:rPr b="0" i="0" lang="en-US" sz="1800" u="none" cap="none" strike="noStrike">
                <a:solidFill>
                  <a:srgbClr val="000000"/>
                </a:solidFill>
                <a:latin typeface="Times New Roman"/>
                <a:ea typeface="Times New Roman"/>
                <a:cs typeface="Times New Roman"/>
                <a:sym typeface="Times New Roman"/>
              </a:rPr>
              <a:t>      This approach is useful for estimating effort, time, and resources required for individual project elements, ensuring a structured and systematic approach to estimation.</a:t>
            </a:r>
            <a:endParaRPr/>
          </a:p>
          <a:p>
            <a:pPr indent="0" lvl="0" marL="0" marR="0" rtl="0" algn="just">
              <a:lnSpc>
                <a:spcPct val="104166"/>
              </a:lnSpc>
              <a:spcBef>
                <a:spcPts val="525"/>
              </a:spcBef>
              <a:spcAft>
                <a:spcPts val="0"/>
              </a:spcAft>
              <a:buNone/>
            </a:pPr>
            <a:r>
              <a:t/>
            </a:r>
            <a:endParaRPr b="1" i="0" sz="18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4166"/>
              </a:lnSpc>
              <a:spcBef>
                <a:spcPts val="60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Use One or More Empirical Models:</a:t>
            </a:r>
            <a:endParaRPr/>
          </a:p>
          <a:p>
            <a:pPr indent="0" lvl="0" marL="0" marR="0" rtl="0" algn="just">
              <a:lnSpc>
                <a:spcPct val="104166"/>
              </a:lnSpc>
              <a:spcBef>
                <a:spcPts val="525"/>
              </a:spcBef>
              <a:spcAft>
                <a:spcPts val="0"/>
              </a:spcAft>
              <a:buNone/>
            </a:pPr>
            <a:r>
              <a:rPr b="0" i="0" lang="en-US" sz="1800" u="none" cap="none" strike="noStrike">
                <a:solidFill>
                  <a:srgbClr val="000000"/>
                </a:solidFill>
                <a:latin typeface="Times New Roman"/>
                <a:ea typeface="Times New Roman"/>
                <a:cs typeface="Times New Roman"/>
                <a:sym typeface="Times New Roman"/>
              </a:rPr>
              <a:t>      Using empirical models involves applying mathematical models, algorithms, or statistical techniques to predict project costs, effort, and duration based on historical data, industry benchmarks, and project parameters. Empirical models incorporate factors such as project size, complexity, team capabilities, and technology used to generate estimations.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3"/>
          <p:cNvSpPr txBox="1"/>
          <p:nvPr>
            <p:ph type="title"/>
          </p:nvPr>
        </p:nvSpPr>
        <p:spPr>
          <a:xfrm>
            <a:off x="457200" y="0"/>
            <a:ext cx="5486040" cy="914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3200"/>
              <a:buFont typeface="Times New Roman"/>
              <a:buNone/>
            </a:pPr>
            <a:r>
              <a:rPr b="1" i="0" lang="en-US" u="none" strike="noStrike">
                <a:solidFill>
                  <a:schemeClr val="dk1"/>
                </a:solidFill>
                <a:latin typeface="Times New Roman"/>
                <a:ea typeface="Times New Roman"/>
                <a:cs typeface="Times New Roman"/>
                <a:sym typeface="Times New Roman"/>
              </a:rPr>
              <a:t>Metrics for </a:t>
            </a:r>
            <a:r>
              <a:rPr b="1" lang="en-US"/>
              <a:t>S</a:t>
            </a:r>
            <a:r>
              <a:rPr b="1" i="0" lang="en-US" u="none" strike="noStrike">
                <a:solidFill>
                  <a:schemeClr val="dk1"/>
                </a:solidFill>
                <a:latin typeface="Times New Roman"/>
                <a:ea typeface="Times New Roman"/>
                <a:cs typeface="Times New Roman"/>
                <a:sym typeface="Times New Roman"/>
              </a:rPr>
              <a:t>oftware </a:t>
            </a:r>
            <a:r>
              <a:rPr b="1" lang="en-US"/>
              <a:t>P</a:t>
            </a:r>
            <a:r>
              <a:rPr b="1" i="0" lang="en-US" u="none" strike="noStrike">
                <a:solidFill>
                  <a:schemeClr val="dk1"/>
                </a:solidFill>
                <a:latin typeface="Times New Roman"/>
                <a:ea typeface="Times New Roman"/>
                <a:cs typeface="Times New Roman"/>
                <a:sym typeface="Times New Roman"/>
              </a:rPr>
              <a:t>roject </a:t>
            </a:r>
            <a:r>
              <a:rPr b="1" lang="en-US"/>
              <a:t>S</a:t>
            </a:r>
            <a:r>
              <a:rPr b="1" i="0" lang="en-US" u="none" strike="noStrike">
                <a:solidFill>
                  <a:schemeClr val="dk1"/>
                </a:solidFill>
                <a:latin typeface="Times New Roman"/>
                <a:ea typeface="Times New Roman"/>
                <a:cs typeface="Times New Roman"/>
                <a:sym typeface="Times New Roman"/>
              </a:rPr>
              <a:t>ize </a:t>
            </a:r>
            <a:r>
              <a:rPr b="1" lang="en-US"/>
              <a:t>E</a:t>
            </a:r>
            <a:r>
              <a:rPr b="1" i="0" lang="en-US" u="none" strike="noStrike">
                <a:solidFill>
                  <a:schemeClr val="dk1"/>
                </a:solidFill>
                <a:latin typeface="Times New Roman"/>
                <a:ea typeface="Times New Roman"/>
                <a:cs typeface="Times New Roman"/>
                <a:sym typeface="Times New Roman"/>
              </a:rPr>
              <a:t>stimation </a:t>
            </a:r>
            <a:endParaRPr b="1"/>
          </a:p>
        </p:txBody>
      </p:sp>
      <p:sp>
        <p:nvSpPr>
          <p:cNvPr id="152" name="Google Shape;152;p13"/>
          <p:cNvSpPr txBox="1"/>
          <p:nvPr>
            <p:ph idx="1" type="body"/>
          </p:nvPr>
        </p:nvSpPr>
        <p:spPr>
          <a:xfrm>
            <a:off x="457200" y="1604520"/>
            <a:ext cx="8229240" cy="3977280"/>
          </a:xfrm>
          <a:prstGeom prst="rect">
            <a:avLst/>
          </a:prstGeom>
          <a:noFill/>
          <a:ln>
            <a:noFill/>
          </a:ln>
        </p:spPr>
        <p:txBody>
          <a:bodyPr anchorCtr="0" anchor="t" bIns="45700" lIns="91425" spcFirstLastPara="1" rIns="91425" wrap="square" tIns="45700">
            <a:normAutofit/>
          </a:bodyPr>
          <a:lstStyle/>
          <a:p>
            <a:pPr indent="-342900" lvl="0" marL="457200" rtl="0" algn="just">
              <a:lnSpc>
                <a:spcPct val="90000"/>
              </a:lnSpc>
              <a:spcBef>
                <a:spcPts val="1000"/>
              </a:spcBef>
              <a:spcAft>
                <a:spcPts val="0"/>
              </a:spcAft>
              <a:buSzPts val="1800"/>
              <a:buFont typeface="Noto Sans Symbols"/>
              <a:buChar char="⮚"/>
            </a:pPr>
            <a:r>
              <a:rPr lang="en-US" sz="1800">
                <a:solidFill>
                  <a:schemeClr val="dk1"/>
                </a:solidFill>
                <a:latin typeface="Times New Roman"/>
                <a:ea typeface="Times New Roman"/>
                <a:cs typeface="Times New Roman"/>
                <a:sym typeface="Times New Roman"/>
              </a:rPr>
              <a:t>Accurate estimation of the problem size is fundamental to satisfactory estimation of effort, time duration and cost of a software project. </a:t>
            </a:r>
            <a:endParaRPr sz="1800"/>
          </a:p>
          <a:p>
            <a:pPr indent="-342900" lvl="0" marL="457200" rtl="0" algn="just">
              <a:lnSpc>
                <a:spcPct val="90000"/>
              </a:lnSpc>
              <a:spcBef>
                <a:spcPts val="1000"/>
              </a:spcBef>
              <a:spcAft>
                <a:spcPts val="0"/>
              </a:spcAft>
              <a:buSzPts val="1800"/>
              <a:buFont typeface="Noto Sans Symbols"/>
              <a:buChar char="⮚"/>
            </a:pPr>
            <a:r>
              <a:rPr lang="en-US" sz="1800">
                <a:solidFill>
                  <a:schemeClr val="dk1"/>
                </a:solidFill>
                <a:latin typeface="Times New Roman"/>
                <a:ea typeface="Times New Roman"/>
                <a:cs typeface="Times New Roman"/>
                <a:sym typeface="Times New Roman"/>
              </a:rPr>
              <a:t>The size of a problem is obviously not the number of bytes that the source code occupies. </a:t>
            </a:r>
            <a:endParaRPr sz="1800"/>
          </a:p>
          <a:p>
            <a:pPr indent="-342900" lvl="0" marL="457200" rtl="0" algn="just">
              <a:lnSpc>
                <a:spcPct val="90000"/>
              </a:lnSpc>
              <a:spcBef>
                <a:spcPts val="1000"/>
              </a:spcBef>
              <a:spcAft>
                <a:spcPts val="0"/>
              </a:spcAft>
              <a:buSzPts val="1800"/>
              <a:buFont typeface="Noto Sans Symbols"/>
              <a:buChar char="⮚"/>
            </a:pPr>
            <a:r>
              <a:rPr lang="en-US" sz="1800">
                <a:solidFill>
                  <a:schemeClr val="dk1"/>
                </a:solidFill>
                <a:latin typeface="Times New Roman"/>
                <a:ea typeface="Times New Roman"/>
                <a:cs typeface="Times New Roman"/>
                <a:sym typeface="Times New Roman"/>
              </a:rPr>
              <a:t>The project size is a measure of the problem complexity in terms of the effort and time required to develop the product. </a:t>
            </a:r>
            <a:endParaRPr sz="1800"/>
          </a:p>
          <a:p>
            <a:pPr indent="-342900" lvl="0" marL="457200" rtl="0" algn="just">
              <a:lnSpc>
                <a:spcPct val="90000"/>
              </a:lnSpc>
              <a:spcBef>
                <a:spcPts val="1000"/>
              </a:spcBef>
              <a:spcAft>
                <a:spcPts val="0"/>
              </a:spcAft>
              <a:buSzPts val="1800"/>
              <a:buFont typeface="Noto Sans Symbols"/>
              <a:buChar char="⮚"/>
            </a:pPr>
            <a:r>
              <a:rPr b="1" i="1" lang="en-US" sz="1800">
                <a:solidFill>
                  <a:schemeClr val="dk1"/>
                </a:solidFill>
                <a:latin typeface="Times New Roman"/>
                <a:ea typeface="Times New Roman"/>
                <a:cs typeface="Times New Roman"/>
                <a:sym typeface="Times New Roman"/>
              </a:rPr>
              <a:t>Currently two metrics are popularly being used widely to estimate size: </a:t>
            </a:r>
            <a:endParaRPr sz="1800"/>
          </a:p>
          <a:p>
            <a:pPr indent="-342900" lvl="1" marL="914400" rtl="0" algn="just">
              <a:lnSpc>
                <a:spcPct val="90000"/>
              </a:lnSpc>
              <a:spcBef>
                <a:spcPts val="500"/>
              </a:spcBef>
              <a:spcAft>
                <a:spcPts val="0"/>
              </a:spcAft>
              <a:buSzPts val="1800"/>
              <a:buFont typeface="Noto Sans Symbols"/>
              <a:buChar char="⮚"/>
            </a:pPr>
            <a:r>
              <a:rPr lang="en-US" sz="1800">
                <a:solidFill>
                  <a:schemeClr val="dk1"/>
                </a:solidFill>
                <a:latin typeface="Times New Roman"/>
                <a:ea typeface="Times New Roman"/>
                <a:cs typeface="Times New Roman"/>
                <a:sym typeface="Times New Roman"/>
              </a:rPr>
              <a:t>Lines of code (LOC) and function point (FP). </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4"/>
          <p:cNvSpPr txBox="1"/>
          <p:nvPr>
            <p:ph type="title"/>
          </p:nvPr>
        </p:nvSpPr>
        <p:spPr>
          <a:xfrm>
            <a:off x="355600" y="-76020"/>
            <a:ext cx="5486040" cy="9140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chemeClr val="dk1"/>
              </a:buClr>
              <a:buSzPts val="3200"/>
              <a:buFont typeface="Times New Roman"/>
              <a:buNone/>
            </a:pPr>
            <a:r>
              <a:rPr b="1" i="0" lang="en-US" u="none" strike="noStrike">
                <a:solidFill>
                  <a:schemeClr val="dk1"/>
                </a:solidFill>
                <a:latin typeface="Times New Roman"/>
                <a:ea typeface="Times New Roman"/>
                <a:cs typeface="Times New Roman"/>
                <a:sym typeface="Times New Roman"/>
              </a:rPr>
              <a:t>Lines of Code (LOC) </a:t>
            </a:r>
            <a:endParaRPr b="1"/>
          </a:p>
        </p:txBody>
      </p:sp>
      <p:sp>
        <p:nvSpPr>
          <p:cNvPr id="158" name="Google Shape;158;p14"/>
          <p:cNvSpPr txBox="1"/>
          <p:nvPr>
            <p:ph idx="1" type="body"/>
          </p:nvPr>
        </p:nvSpPr>
        <p:spPr>
          <a:xfrm>
            <a:off x="152400" y="1188720"/>
            <a:ext cx="8676640" cy="5105400"/>
          </a:xfrm>
          <a:prstGeom prst="rect">
            <a:avLst/>
          </a:prstGeom>
          <a:noFill/>
          <a:ln>
            <a:noFill/>
          </a:ln>
        </p:spPr>
        <p:txBody>
          <a:bodyPr anchorCtr="0" anchor="t" bIns="45700" lIns="91425" spcFirstLastPara="1" rIns="91425" wrap="square" tIns="45700">
            <a:normAutofit lnSpcReduction="10000"/>
          </a:bodyPr>
          <a:lstStyle/>
          <a:p>
            <a:pPr indent="-342900" lvl="0" marL="342900" marR="0" rtl="0" algn="just">
              <a:lnSpc>
                <a:spcPct val="100000"/>
              </a:lnSpc>
              <a:spcBef>
                <a:spcPts val="320"/>
              </a:spcBef>
              <a:spcAft>
                <a:spcPts val="0"/>
              </a:spcAft>
              <a:buClr>
                <a:schemeClr val="accent1"/>
              </a:buClr>
              <a:buSzPts val="1120"/>
              <a:buFont typeface="Noto Sans Symbols"/>
              <a:buChar char="⮚"/>
            </a:pPr>
            <a:r>
              <a:rPr b="0" i="0" lang="en-US" sz="1800" u="none" cap="none" strike="noStrike">
                <a:solidFill>
                  <a:schemeClr val="dk1"/>
                </a:solidFill>
                <a:latin typeface="Times New Roman"/>
                <a:ea typeface="Times New Roman"/>
                <a:cs typeface="Times New Roman"/>
                <a:sym typeface="Times New Roman"/>
              </a:rPr>
              <a:t>LOC is the simplest among all metrics available to estimate project size. </a:t>
            </a:r>
            <a:endParaRPr sz="1800">
              <a:latin typeface="Times New Roman"/>
              <a:ea typeface="Times New Roman"/>
              <a:cs typeface="Times New Roman"/>
              <a:sym typeface="Times New Roman"/>
            </a:endParaRPr>
          </a:p>
          <a:p>
            <a:pPr indent="-342900" lvl="0" marL="342900" marR="0" rtl="0" algn="just">
              <a:lnSpc>
                <a:spcPct val="100000"/>
              </a:lnSpc>
              <a:spcBef>
                <a:spcPts val="320"/>
              </a:spcBef>
              <a:spcAft>
                <a:spcPts val="0"/>
              </a:spcAft>
              <a:buClr>
                <a:schemeClr val="accent1"/>
              </a:buClr>
              <a:buSzPts val="1120"/>
              <a:buFont typeface="Noto Sans Symbols"/>
              <a:buChar char="⮚"/>
            </a:pPr>
            <a:r>
              <a:rPr b="0" i="0" lang="en-US" sz="1800" u="none" cap="none" strike="noStrike">
                <a:solidFill>
                  <a:schemeClr val="dk1"/>
                </a:solidFill>
                <a:latin typeface="Times New Roman"/>
                <a:ea typeface="Times New Roman"/>
                <a:cs typeface="Times New Roman"/>
                <a:sym typeface="Times New Roman"/>
              </a:rPr>
              <a:t>Using this metric, the project size is estimated by counting the number of source instructions in the developed program.</a:t>
            </a:r>
            <a:endParaRPr sz="1800">
              <a:latin typeface="Times New Roman"/>
              <a:ea typeface="Times New Roman"/>
              <a:cs typeface="Times New Roman"/>
              <a:sym typeface="Times New Roman"/>
            </a:endParaRPr>
          </a:p>
          <a:p>
            <a:pPr indent="-271780" lvl="0" marL="342900" marR="0" rtl="0" algn="just">
              <a:lnSpc>
                <a:spcPct val="100000"/>
              </a:lnSpc>
              <a:spcBef>
                <a:spcPts val="320"/>
              </a:spcBef>
              <a:spcAft>
                <a:spcPts val="0"/>
              </a:spcAft>
              <a:buClr>
                <a:schemeClr val="accent1"/>
              </a:buClr>
              <a:buSzPts val="1120"/>
              <a:buFont typeface="Noto Sans Symbols"/>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320"/>
              </a:spcBef>
              <a:spcAft>
                <a:spcPts val="0"/>
              </a:spcAft>
              <a:buClr>
                <a:schemeClr val="accent1"/>
              </a:buClr>
              <a:buSzPts val="1120"/>
              <a:buFont typeface="Noto Sans Symbols"/>
              <a:buChar char="⮚"/>
            </a:pPr>
            <a:r>
              <a:rPr b="0" i="0" lang="en-US" sz="1800" u="none" cap="none" strike="noStrike">
                <a:solidFill>
                  <a:schemeClr val="dk1"/>
                </a:solidFill>
                <a:latin typeface="Times New Roman"/>
                <a:ea typeface="Times New Roman"/>
                <a:cs typeface="Times New Roman"/>
                <a:sym typeface="Times New Roman"/>
              </a:rPr>
              <a:t> Obviously, while counting the number of source instructions, lines used for commenting the code and the header lines should be ignored. </a:t>
            </a:r>
            <a:endParaRPr sz="1800">
              <a:latin typeface="Times New Roman"/>
              <a:ea typeface="Times New Roman"/>
              <a:cs typeface="Times New Roman"/>
              <a:sym typeface="Times New Roman"/>
            </a:endParaRPr>
          </a:p>
          <a:p>
            <a:pPr indent="-271780" lvl="0" marL="342900" marR="0" rtl="0" algn="just">
              <a:lnSpc>
                <a:spcPct val="100000"/>
              </a:lnSpc>
              <a:spcBef>
                <a:spcPts val="320"/>
              </a:spcBef>
              <a:spcAft>
                <a:spcPts val="0"/>
              </a:spcAft>
              <a:buClr>
                <a:schemeClr val="accent1"/>
              </a:buClr>
              <a:buSzPts val="1120"/>
              <a:buFont typeface="Noto Sans Symbols"/>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320"/>
              </a:spcBef>
              <a:spcAft>
                <a:spcPts val="0"/>
              </a:spcAft>
              <a:buClr>
                <a:schemeClr val="accent1"/>
              </a:buClr>
              <a:buSzPts val="1120"/>
              <a:buFont typeface="Noto Sans Symbols"/>
              <a:buChar char="⮚"/>
            </a:pPr>
            <a:r>
              <a:rPr b="1" i="1" lang="en-US" sz="1800" u="none" cap="none" strike="noStrike">
                <a:solidFill>
                  <a:schemeClr val="dk1"/>
                </a:solidFill>
                <a:latin typeface="Times New Roman"/>
                <a:ea typeface="Times New Roman"/>
                <a:cs typeface="Times New Roman"/>
                <a:sym typeface="Times New Roman"/>
              </a:rPr>
              <a:t>Determining the LOC count at the end of a project is a very simple job. However, accurate estimation of the LOC count at the beginning of a project is very difficult.</a:t>
            </a:r>
            <a:endParaRPr sz="1800">
              <a:latin typeface="Times New Roman"/>
              <a:ea typeface="Times New Roman"/>
              <a:cs typeface="Times New Roman"/>
              <a:sym typeface="Times New Roman"/>
            </a:endParaRPr>
          </a:p>
          <a:p>
            <a:pPr indent="-271780" lvl="0" marL="342900" marR="0" rtl="0" algn="just">
              <a:lnSpc>
                <a:spcPct val="100000"/>
              </a:lnSpc>
              <a:spcBef>
                <a:spcPts val="320"/>
              </a:spcBef>
              <a:spcAft>
                <a:spcPts val="0"/>
              </a:spcAft>
              <a:buClr>
                <a:schemeClr val="accent1"/>
              </a:buClr>
              <a:buSzPts val="1120"/>
              <a:buFont typeface="Noto Sans Symbols"/>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320"/>
              </a:spcBef>
              <a:spcAft>
                <a:spcPts val="0"/>
              </a:spcAft>
              <a:buClr>
                <a:schemeClr val="accent1"/>
              </a:buClr>
              <a:buSzPts val="1120"/>
              <a:buFont typeface="Noto Sans Symbols"/>
              <a:buChar char="⮚"/>
            </a:pPr>
            <a:r>
              <a:rPr b="0" i="0" lang="en-US" sz="1800" u="none" cap="none" strike="noStrike">
                <a:solidFill>
                  <a:schemeClr val="dk1"/>
                </a:solidFill>
                <a:latin typeface="Times New Roman"/>
                <a:ea typeface="Times New Roman"/>
                <a:cs typeface="Times New Roman"/>
                <a:sym typeface="Times New Roman"/>
              </a:rPr>
              <a:t> To estimate the LOC count at the beginning of a project, project managers usually divide the problem into modules, and each module into sub modules and so on, until the sizes of the different leaf-level modules can be approximately predicted.</a:t>
            </a:r>
            <a:endParaRPr sz="1800">
              <a:latin typeface="Times New Roman"/>
              <a:ea typeface="Times New Roman"/>
              <a:cs typeface="Times New Roman"/>
              <a:sym typeface="Times New Roman"/>
            </a:endParaRPr>
          </a:p>
          <a:p>
            <a:pPr indent="-271780" lvl="0" marL="342900" marR="0" rtl="0" algn="just">
              <a:lnSpc>
                <a:spcPct val="100000"/>
              </a:lnSpc>
              <a:spcBef>
                <a:spcPts val="320"/>
              </a:spcBef>
              <a:spcAft>
                <a:spcPts val="0"/>
              </a:spcAft>
              <a:buClr>
                <a:schemeClr val="accent1"/>
              </a:buClr>
              <a:buSzPts val="1120"/>
              <a:buFont typeface="Noto Sans Symbols"/>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320"/>
              </a:spcBef>
              <a:spcAft>
                <a:spcPts val="0"/>
              </a:spcAft>
              <a:buClr>
                <a:schemeClr val="accent1"/>
              </a:buClr>
              <a:buSzPts val="1120"/>
              <a:buFont typeface="Noto Sans Symbols"/>
              <a:buChar char="⮚"/>
            </a:pPr>
            <a:r>
              <a:rPr b="0" i="0" lang="en-US" sz="1800" u="none" cap="none" strike="noStrike">
                <a:solidFill>
                  <a:schemeClr val="dk1"/>
                </a:solidFill>
                <a:latin typeface="Times New Roman"/>
                <a:ea typeface="Times New Roman"/>
                <a:cs typeface="Times New Roman"/>
                <a:sym typeface="Times New Roman"/>
              </a:rPr>
              <a:t> To be able to do this, experience in developing similar products is helpful. By using the estimation of the lowest level modules, project managers arrive at the total size estimation. </a:t>
            </a:r>
            <a:endParaRPr sz="18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Effect filter="fade" transition="in">
                                      <p:cBhvr>
                                        <p:cTn dur="2000"/>
                                        <p:tgtEl>
                                          <p:spTgt spid="1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animEffect filter="fade" transition="in">
                                      <p:cBhvr>
                                        <p:cTn dur="2000"/>
                                        <p:tgtEl>
                                          <p:spTgt spid="1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animEffect filter="fade" transition="in">
                                      <p:cBhvr>
                                        <p:cTn dur="2000"/>
                                        <p:tgtEl>
                                          <p:spTgt spid="1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animEffect filter="fade" transition="in">
                                      <p:cBhvr>
                                        <p:cTn dur="2000"/>
                                        <p:tgtEl>
                                          <p:spTgt spid="1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4" st="4"/>
                                            </p:txEl>
                                          </p:spTgt>
                                        </p:tgtEl>
                                        <p:attrNameLst>
                                          <p:attrName>style.visibility</p:attrName>
                                        </p:attrNameLst>
                                      </p:cBhvr>
                                      <p:to>
                                        <p:strVal val="visible"/>
                                      </p:to>
                                    </p:set>
                                    <p:animEffect filter="fade" transition="in">
                                      <p:cBhvr>
                                        <p:cTn dur="2000"/>
                                        <p:tgtEl>
                                          <p:spTgt spid="1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5" st="5"/>
                                            </p:txEl>
                                          </p:spTgt>
                                        </p:tgtEl>
                                        <p:attrNameLst>
                                          <p:attrName>style.visibility</p:attrName>
                                        </p:attrNameLst>
                                      </p:cBhvr>
                                      <p:to>
                                        <p:strVal val="visible"/>
                                      </p:to>
                                    </p:set>
                                    <p:animEffect filter="fade" transition="in">
                                      <p:cBhvr>
                                        <p:cTn dur="2000"/>
                                        <p:tgtEl>
                                          <p:spTgt spid="1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6" st="6"/>
                                            </p:txEl>
                                          </p:spTgt>
                                        </p:tgtEl>
                                        <p:attrNameLst>
                                          <p:attrName>style.visibility</p:attrName>
                                        </p:attrNameLst>
                                      </p:cBhvr>
                                      <p:to>
                                        <p:strVal val="visible"/>
                                      </p:to>
                                    </p:set>
                                    <p:animEffect filter="fade" transition="in">
                                      <p:cBhvr>
                                        <p:cTn dur="2000"/>
                                        <p:tgtEl>
                                          <p:spTgt spid="1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7" st="7"/>
                                            </p:txEl>
                                          </p:spTgt>
                                        </p:tgtEl>
                                        <p:attrNameLst>
                                          <p:attrName>style.visibility</p:attrName>
                                        </p:attrNameLst>
                                      </p:cBhvr>
                                      <p:to>
                                        <p:strVal val="visible"/>
                                      </p:to>
                                    </p:set>
                                    <p:animEffect filter="fade" transition="in">
                                      <p:cBhvr>
                                        <p:cTn dur="2000"/>
                                        <p:tgtEl>
                                          <p:spTgt spid="15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8" st="8"/>
                                            </p:txEl>
                                          </p:spTgt>
                                        </p:tgtEl>
                                        <p:attrNameLst>
                                          <p:attrName>style.visibility</p:attrName>
                                        </p:attrNameLst>
                                      </p:cBhvr>
                                      <p:to>
                                        <p:strVal val="visible"/>
                                      </p:to>
                                    </p:set>
                                    <p:animEffect filter="fade" transition="in">
                                      <p:cBhvr>
                                        <p:cTn dur="2000"/>
                                        <p:tgtEl>
                                          <p:spTgt spid="15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xEl>
                                              <p:pRg end="9" st="9"/>
                                            </p:txEl>
                                          </p:spTgt>
                                        </p:tgtEl>
                                        <p:attrNameLst>
                                          <p:attrName>style.visibility</p:attrName>
                                        </p:attrNameLst>
                                      </p:cBhvr>
                                      <p:to>
                                        <p:strVal val="visible"/>
                                      </p:to>
                                    </p:set>
                                    <p:animEffect filter="fade" transition="in">
                                      <p:cBhvr>
                                        <p:cTn dur="2000"/>
                                        <p:tgtEl>
                                          <p:spTgt spid="15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type="title"/>
          </p:nvPr>
        </p:nvSpPr>
        <p:spPr>
          <a:xfrm>
            <a:off x="447040" y="0"/>
            <a:ext cx="5486040" cy="9140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chemeClr val="dk1"/>
              </a:buClr>
              <a:buSzPts val="3200"/>
              <a:buFont typeface="Times New Roman"/>
              <a:buNone/>
            </a:pPr>
            <a:r>
              <a:rPr b="1" i="0" lang="en-US" u="none" strike="noStrike">
                <a:solidFill>
                  <a:schemeClr val="dk1"/>
                </a:solidFill>
                <a:latin typeface="Times New Roman"/>
                <a:ea typeface="Times New Roman"/>
                <a:cs typeface="Times New Roman"/>
                <a:sym typeface="Times New Roman"/>
              </a:rPr>
              <a:t>Function point (FP) </a:t>
            </a:r>
            <a:endParaRPr b="1"/>
          </a:p>
        </p:txBody>
      </p:sp>
      <p:sp>
        <p:nvSpPr>
          <p:cNvPr id="164" name="Google Shape;164;p15"/>
          <p:cNvSpPr txBox="1"/>
          <p:nvPr>
            <p:ph idx="1" type="body"/>
          </p:nvPr>
        </p:nvSpPr>
        <p:spPr>
          <a:xfrm>
            <a:off x="365760" y="1166018"/>
            <a:ext cx="8402320" cy="4525963"/>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100000"/>
              </a:lnSpc>
              <a:spcBef>
                <a:spcPts val="320"/>
              </a:spcBef>
              <a:spcAft>
                <a:spcPts val="0"/>
              </a:spcAft>
              <a:buClr>
                <a:schemeClr val="accent1"/>
              </a:buClr>
              <a:buSzPts val="1120"/>
              <a:buFont typeface="Noto Sans Symbols"/>
              <a:buChar char="⮚"/>
            </a:pPr>
            <a:r>
              <a:rPr b="0" i="0" lang="en-US" sz="1800" u="none" cap="none" strike="noStrike">
                <a:solidFill>
                  <a:schemeClr val="dk1"/>
                </a:solidFill>
                <a:latin typeface="Times New Roman"/>
                <a:ea typeface="Times New Roman"/>
                <a:cs typeface="Times New Roman"/>
                <a:sym typeface="Times New Roman"/>
              </a:rPr>
              <a:t>Easily estimate the size of a software product directly from the problem specification. </a:t>
            </a:r>
            <a:endParaRPr sz="1800">
              <a:latin typeface="Times New Roman"/>
              <a:ea typeface="Times New Roman"/>
              <a:cs typeface="Times New Roman"/>
              <a:sym typeface="Times New Roman"/>
            </a:endParaRPr>
          </a:p>
          <a:p>
            <a:pPr indent="-342900" lvl="0" marL="342900" marR="0" rtl="0" algn="just">
              <a:lnSpc>
                <a:spcPct val="100000"/>
              </a:lnSpc>
              <a:spcBef>
                <a:spcPts val="320"/>
              </a:spcBef>
              <a:spcAft>
                <a:spcPts val="0"/>
              </a:spcAft>
              <a:buClr>
                <a:schemeClr val="accent1"/>
              </a:buClr>
              <a:buSzPts val="1120"/>
              <a:buFont typeface="Noto Sans Symbols"/>
              <a:buChar char="⮚"/>
            </a:pPr>
            <a:r>
              <a:rPr b="0" i="0" lang="en-US" sz="1800" u="none" cap="none" strike="noStrike">
                <a:solidFill>
                  <a:schemeClr val="dk1"/>
                </a:solidFill>
                <a:latin typeface="Times New Roman"/>
                <a:ea typeface="Times New Roman"/>
                <a:cs typeface="Times New Roman"/>
                <a:sym typeface="Times New Roman"/>
              </a:rPr>
              <a:t>This contrasts with the LOC metric, where the size can be accurately determined only after the product has fully been developed. </a:t>
            </a:r>
            <a:endParaRPr sz="1800">
              <a:latin typeface="Times New Roman"/>
              <a:ea typeface="Times New Roman"/>
              <a:cs typeface="Times New Roman"/>
              <a:sym typeface="Times New Roman"/>
            </a:endParaRPr>
          </a:p>
          <a:p>
            <a:pPr indent="-342900" lvl="0" marL="342900" marR="0" rtl="0" algn="just">
              <a:lnSpc>
                <a:spcPct val="100000"/>
              </a:lnSpc>
              <a:spcBef>
                <a:spcPts val="320"/>
              </a:spcBef>
              <a:spcAft>
                <a:spcPts val="0"/>
              </a:spcAft>
              <a:buClr>
                <a:schemeClr val="accent1"/>
              </a:buClr>
              <a:buSzPts val="1120"/>
              <a:buFont typeface="Noto Sans Symbols"/>
              <a:buChar char="⮚"/>
            </a:pPr>
            <a:r>
              <a:rPr b="0" i="0" lang="en-US" sz="1800" u="none" cap="none" strike="noStrike">
                <a:solidFill>
                  <a:schemeClr val="dk1"/>
                </a:solidFill>
                <a:latin typeface="Times New Roman"/>
                <a:ea typeface="Times New Roman"/>
                <a:cs typeface="Times New Roman"/>
                <a:sym typeface="Times New Roman"/>
              </a:rPr>
              <a:t>The conceptual idea behind the function point metric is that the </a:t>
            </a:r>
            <a:r>
              <a:rPr b="1" i="1" lang="en-US" sz="1800" u="none" cap="none" strike="noStrike">
                <a:solidFill>
                  <a:schemeClr val="dk1"/>
                </a:solidFill>
                <a:latin typeface="Times New Roman"/>
                <a:ea typeface="Times New Roman"/>
                <a:cs typeface="Times New Roman"/>
                <a:sym typeface="Times New Roman"/>
              </a:rPr>
              <a:t>size of a software product is directly dependent on the number of different functions or features it supports. </a:t>
            </a:r>
            <a:endParaRPr sz="1800">
              <a:latin typeface="Times New Roman"/>
              <a:ea typeface="Times New Roman"/>
              <a:cs typeface="Times New Roman"/>
              <a:sym typeface="Times New Roman"/>
            </a:endParaRPr>
          </a:p>
          <a:p>
            <a:pPr indent="-457200" lvl="1" marL="731520" marR="0" rtl="0" algn="just">
              <a:lnSpc>
                <a:spcPct val="100000"/>
              </a:lnSpc>
              <a:spcBef>
                <a:spcPts val="320"/>
              </a:spcBef>
              <a:spcAft>
                <a:spcPts val="0"/>
              </a:spcAft>
              <a:buClr>
                <a:schemeClr val="accent1"/>
              </a:buClr>
              <a:buSzPts val="1120"/>
              <a:buFont typeface="Noto Sans Symbols"/>
              <a:buChar char="⮚"/>
            </a:pPr>
            <a:r>
              <a:rPr b="0" i="0" lang="en-US" sz="1800" u="none" cap="none" strike="noStrike">
                <a:solidFill>
                  <a:schemeClr val="dk1"/>
                </a:solidFill>
                <a:latin typeface="Times New Roman"/>
                <a:ea typeface="Times New Roman"/>
                <a:cs typeface="Times New Roman"/>
                <a:sym typeface="Times New Roman"/>
              </a:rPr>
              <a:t>A software product supporting many features would certainly be of larger size than a product with less number of features. </a:t>
            </a:r>
            <a:endParaRPr sz="1800">
              <a:latin typeface="Times New Roman"/>
              <a:ea typeface="Times New Roman"/>
              <a:cs typeface="Times New Roman"/>
              <a:sym typeface="Times New Roman"/>
            </a:endParaRPr>
          </a:p>
          <a:p>
            <a:pPr indent="-342900" lvl="0" marL="342900" marR="0" rtl="0" algn="just">
              <a:lnSpc>
                <a:spcPct val="100000"/>
              </a:lnSpc>
              <a:spcBef>
                <a:spcPts val="320"/>
              </a:spcBef>
              <a:spcAft>
                <a:spcPts val="0"/>
              </a:spcAft>
              <a:buClr>
                <a:schemeClr val="accent1"/>
              </a:buClr>
              <a:buSzPts val="1120"/>
              <a:buFont typeface="Noto Sans Symbols"/>
              <a:buChar char="⮚"/>
            </a:pPr>
            <a:r>
              <a:rPr b="0" i="0" lang="en-US" sz="1800" u="none" cap="none" strike="noStrike">
                <a:solidFill>
                  <a:schemeClr val="dk1"/>
                </a:solidFill>
                <a:latin typeface="Times New Roman"/>
                <a:ea typeface="Times New Roman"/>
                <a:cs typeface="Times New Roman"/>
                <a:sym typeface="Times New Roman"/>
              </a:rPr>
              <a:t>Each function when invoked reads some input data and transforms it to the corresponding output data. </a:t>
            </a:r>
            <a:endParaRPr sz="1800">
              <a:latin typeface="Times New Roman"/>
              <a:ea typeface="Times New Roman"/>
              <a:cs typeface="Times New Roman"/>
              <a:sym typeface="Times New Roman"/>
            </a:endParaRPr>
          </a:p>
          <a:p>
            <a:pPr indent="-342900" lvl="0" marL="342900" marR="0" rtl="0" algn="just">
              <a:lnSpc>
                <a:spcPct val="100000"/>
              </a:lnSpc>
              <a:spcBef>
                <a:spcPts val="320"/>
              </a:spcBef>
              <a:spcAft>
                <a:spcPts val="0"/>
              </a:spcAft>
              <a:buClr>
                <a:schemeClr val="accent1"/>
              </a:buClr>
              <a:buSzPts val="1120"/>
              <a:buFont typeface="Noto Sans Symbols"/>
              <a:buChar char="⮚"/>
            </a:pPr>
            <a:r>
              <a:rPr b="1" i="1" lang="en-US" sz="1800" u="none" cap="none" strike="noStrike">
                <a:solidFill>
                  <a:schemeClr val="dk1"/>
                </a:solidFill>
                <a:latin typeface="Times New Roman"/>
                <a:ea typeface="Times New Roman"/>
                <a:cs typeface="Times New Roman"/>
                <a:sym typeface="Times New Roman"/>
              </a:rPr>
              <a:t>In addition to the number of basic functions that a software performs, the size is also dependent on the number of files and the number of interfaces. </a:t>
            </a:r>
            <a:endParaRPr sz="18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Effect filter="fade" transition="in">
                                      <p:cBhvr>
                                        <p:cTn dur="2000"/>
                                        <p:tgtEl>
                                          <p:spTgt spid="1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animEffect filter="fade" transition="in">
                                      <p:cBhvr>
                                        <p:cTn dur="2000"/>
                                        <p:tgtEl>
                                          <p:spTgt spid="1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animEffect filter="fade" transition="in">
                                      <p:cBhvr>
                                        <p:cTn dur="2000"/>
                                        <p:tgtEl>
                                          <p:spTgt spid="1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animEffect filter="fade" transition="in">
                                      <p:cBhvr>
                                        <p:cTn dur="2000"/>
                                        <p:tgtEl>
                                          <p:spTgt spid="1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animEffect filter="fade" transition="in">
                                      <p:cBhvr>
                                        <p:cTn dur="2000"/>
                                        <p:tgtEl>
                                          <p:spTgt spid="1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5" st="5"/>
                                            </p:txEl>
                                          </p:spTgt>
                                        </p:tgtEl>
                                        <p:attrNameLst>
                                          <p:attrName>style.visibility</p:attrName>
                                        </p:attrNameLst>
                                      </p:cBhvr>
                                      <p:to>
                                        <p:strVal val="visible"/>
                                      </p:to>
                                    </p:set>
                                    <p:animEffect filter="fade" transition="in">
                                      <p:cBhvr>
                                        <p:cTn dur="2000"/>
                                        <p:tgtEl>
                                          <p:spTgt spid="16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7"/>
          <p:cNvSpPr txBox="1"/>
          <p:nvPr>
            <p:ph type="title"/>
          </p:nvPr>
        </p:nvSpPr>
        <p:spPr>
          <a:xfrm>
            <a:off x="447040" y="0"/>
            <a:ext cx="5486040" cy="9140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chemeClr val="dk1"/>
              </a:buClr>
              <a:buSzPts val="3200"/>
              <a:buFont typeface="Times New Roman"/>
              <a:buNone/>
            </a:pPr>
            <a:r>
              <a:rPr b="1" i="0" lang="en-US" u="none" strike="noStrike">
                <a:solidFill>
                  <a:schemeClr val="dk1"/>
                </a:solidFill>
                <a:latin typeface="Times New Roman"/>
                <a:ea typeface="Times New Roman"/>
                <a:cs typeface="Times New Roman"/>
                <a:sym typeface="Times New Roman"/>
              </a:rPr>
              <a:t>Function point (FP) </a:t>
            </a:r>
            <a:endParaRPr b="1"/>
          </a:p>
        </p:txBody>
      </p:sp>
      <p:sp>
        <p:nvSpPr>
          <p:cNvPr id="170" name="Google Shape;170;p47"/>
          <p:cNvSpPr txBox="1"/>
          <p:nvPr/>
        </p:nvSpPr>
        <p:spPr>
          <a:xfrm>
            <a:off x="1351280" y="1447751"/>
            <a:ext cx="5943600" cy="33319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Types of FP Attributes or Information Domain Characteristics</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a:p>
            <a:pPr indent="-342900" lvl="0" marL="342900" marR="0" rtl="0" algn="l">
              <a:lnSpc>
                <a:spcPct val="2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Number of External Inputs (EI): </a:t>
            </a:r>
            <a:endParaRPr/>
          </a:p>
          <a:p>
            <a:pPr indent="-342900" lvl="0" marL="342900" marR="0" rtl="0" algn="l">
              <a:lnSpc>
                <a:spcPct val="2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Number of External Output (EO)</a:t>
            </a:r>
            <a:endParaRPr/>
          </a:p>
          <a:p>
            <a:pPr indent="-342900" lvl="0" marL="342900" marR="0" rtl="0" algn="l">
              <a:lnSpc>
                <a:spcPct val="2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Number of external inquiries (EQ)</a:t>
            </a:r>
            <a:endParaRPr/>
          </a:p>
          <a:p>
            <a:pPr indent="-342900" lvl="0" marL="342900" marR="0" rtl="0" algn="l">
              <a:lnSpc>
                <a:spcPct val="2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Number of internal files (ILF)</a:t>
            </a:r>
            <a:endParaRPr/>
          </a:p>
          <a:p>
            <a:pPr indent="-342900" lvl="0" marL="342900" marR="0" rtl="0" algn="l">
              <a:lnSpc>
                <a:spcPct val="2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Number of external interfaces (EIF)</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6"/>
          <p:cNvSpPr/>
          <p:nvPr/>
        </p:nvSpPr>
        <p:spPr>
          <a:xfrm>
            <a:off x="266700" y="995328"/>
            <a:ext cx="8610600"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For example</a:t>
            </a:r>
            <a:r>
              <a:rPr b="0" i="0" lang="en-US" sz="1800" u="none" cap="none" strike="noStrike">
                <a:solidFill>
                  <a:schemeClr val="dk1"/>
                </a:solidFill>
                <a:latin typeface="Times New Roman"/>
                <a:ea typeface="Times New Roman"/>
                <a:cs typeface="Times New Roman"/>
                <a:sym typeface="Times New Roman"/>
              </a:rPr>
              <a:t>, the issue book feature of a Library Automation Software takes the name of the book as input and displays its location and the number of copies available. Thus, a </a:t>
            </a:r>
            <a:r>
              <a:rPr b="0" i="0" lang="en-US" sz="1600" u="none" cap="none" strike="noStrike">
                <a:solidFill>
                  <a:schemeClr val="dk1"/>
                </a:solidFill>
                <a:latin typeface="Times New Roman"/>
                <a:ea typeface="Times New Roman"/>
                <a:cs typeface="Times New Roman"/>
                <a:sym typeface="Times New Roman"/>
              </a:rPr>
              <a:t>computation</a:t>
            </a:r>
            <a:r>
              <a:rPr b="0" i="0" lang="en-US" sz="1800" u="none" cap="none" strike="noStrike">
                <a:solidFill>
                  <a:schemeClr val="dk1"/>
                </a:solidFill>
                <a:latin typeface="Times New Roman"/>
                <a:ea typeface="Times New Roman"/>
                <a:cs typeface="Times New Roman"/>
                <a:sym typeface="Times New Roman"/>
              </a:rPr>
              <a:t> of the number of input and the output data values to a system gives some indication of the number of functions supported by the system</a:t>
            </a:r>
            <a:endParaRPr b="0" i="0" sz="1400" u="none" cap="none" strike="noStrike">
              <a:solidFill>
                <a:srgbClr val="000000"/>
              </a:solidFill>
              <a:latin typeface="Arial"/>
              <a:ea typeface="Arial"/>
              <a:cs typeface="Arial"/>
              <a:sym typeface="Arial"/>
            </a:endParaRPr>
          </a:p>
        </p:txBody>
      </p:sp>
      <p:sp>
        <p:nvSpPr>
          <p:cNvPr id="176" name="Google Shape;176;p16"/>
          <p:cNvSpPr txBox="1"/>
          <p:nvPr>
            <p:ph type="title"/>
          </p:nvPr>
        </p:nvSpPr>
        <p:spPr>
          <a:xfrm>
            <a:off x="447040" y="0"/>
            <a:ext cx="5486040" cy="9140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chemeClr val="dk1"/>
              </a:buClr>
              <a:buSzPts val="3200"/>
              <a:buFont typeface="Times New Roman"/>
              <a:buNone/>
            </a:pPr>
            <a:r>
              <a:rPr b="1" i="0" lang="en-US" u="none" strike="noStrike">
                <a:solidFill>
                  <a:schemeClr val="dk1"/>
                </a:solidFill>
                <a:latin typeface="Times New Roman"/>
                <a:ea typeface="Times New Roman"/>
                <a:cs typeface="Times New Roman"/>
                <a:sym typeface="Times New Roman"/>
              </a:rPr>
              <a:t>Example</a:t>
            </a:r>
            <a:endParaRPr b="1"/>
          </a:p>
        </p:txBody>
      </p:sp>
      <p:sp>
        <p:nvSpPr>
          <p:cNvPr id="177" name="Google Shape;177;p16"/>
          <p:cNvSpPr/>
          <p:nvPr/>
        </p:nvSpPr>
        <p:spPr>
          <a:xfrm>
            <a:off x="3149600" y="2682240"/>
            <a:ext cx="2377440" cy="3475072"/>
          </a:xfrm>
          <a:prstGeom prst="rect">
            <a:avLst/>
          </a:prstGeom>
          <a:solidFill>
            <a:schemeClr val="l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8" name="Google Shape;178;p16"/>
          <p:cNvSpPr/>
          <p:nvPr/>
        </p:nvSpPr>
        <p:spPr>
          <a:xfrm>
            <a:off x="3688080" y="2926080"/>
            <a:ext cx="1300480" cy="502920"/>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Query Book</a:t>
            </a:r>
            <a:endParaRPr b="0" i="0" sz="1400" u="none" cap="none" strike="noStrike">
              <a:solidFill>
                <a:schemeClr val="lt1"/>
              </a:solidFill>
              <a:latin typeface="Arial"/>
              <a:ea typeface="Arial"/>
              <a:cs typeface="Arial"/>
              <a:sym typeface="Arial"/>
            </a:endParaRPr>
          </a:p>
        </p:txBody>
      </p:sp>
      <p:sp>
        <p:nvSpPr>
          <p:cNvPr id="179" name="Google Shape;179;p16"/>
          <p:cNvSpPr txBox="1"/>
          <p:nvPr/>
        </p:nvSpPr>
        <p:spPr>
          <a:xfrm>
            <a:off x="3434080" y="5601062"/>
            <a:ext cx="180848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Library Automation Software</a:t>
            </a:r>
            <a:endParaRPr b="0" i="0" sz="1400" u="none" cap="none" strike="noStrike">
              <a:solidFill>
                <a:srgbClr val="000000"/>
              </a:solidFill>
              <a:latin typeface="Arial"/>
              <a:ea typeface="Arial"/>
              <a:cs typeface="Arial"/>
              <a:sym typeface="Arial"/>
            </a:endParaRPr>
          </a:p>
        </p:txBody>
      </p:sp>
      <p:sp>
        <p:nvSpPr>
          <p:cNvPr id="180" name="Google Shape;180;p16"/>
          <p:cNvSpPr/>
          <p:nvPr/>
        </p:nvSpPr>
        <p:spPr>
          <a:xfrm>
            <a:off x="3688080" y="3738880"/>
            <a:ext cx="1300480" cy="502920"/>
          </a:xfrm>
          <a:prstGeom prst="rect">
            <a:avLst/>
          </a:prstGeom>
          <a:solidFill>
            <a:srgbClr val="76923C"/>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Issue Book</a:t>
            </a:r>
            <a:endParaRPr b="0" i="0" sz="1400" u="none" cap="none" strike="noStrike">
              <a:solidFill>
                <a:schemeClr val="lt1"/>
              </a:solidFill>
              <a:latin typeface="Arial"/>
              <a:ea typeface="Arial"/>
              <a:cs typeface="Arial"/>
              <a:sym typeface="Arial"/>
            </a:endParaRPr>
          </a:p>
        </p:txBody>
      </p:sp>
      <p:sp>
        <p:nvSpPr>
          <p:cNvPr id="181" name="Google Shape;181;p16"/>
          <p:cNvSpPr/>
          <p:nvPr/>
        </p:nvSpPr>
        <p:spPr>
          <a:xfrm>
            <a:off x="3688080" y="4568371"/>
            <a:ext cx="1300480" cy="502920"/>
          </a:xfrm>
          <a:prstGeom prst="rect">
            <a:avLst/>
          </a:prstGeom>
          <a:solidFill>
            <a:srgbClr val="5F497A"/>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Return Book</a:t>
            </a:r>
            <a:endParaRPr b="0" i="0" sz="1400" u="none" cap="none" strike="noStrike">
              <a:solidFill>
                <a:schemeClr val="lt1"/>
              </a:solidFill>
              <a:latin typeface="Arial"/>
              <a:ea typeface="Arial"/>
              <a:cs typeface="Arial"/>
              <a:sym typeface="Arial"/>
            </a:endParaRPr>
          </a:p>
        </p:txBody>
      </p:sp>
      <p:sp>
        <p:nvSpPr>
          <p:cNvPr id="182" name="Google Shape;182;p16"/>
          <p:cNvSpPr txBox="1"/>
          <p:nvPr/>
        </p:nvSpPr>
        <p:spPr>
          <a:xfrm>
            <a:off x="1209040" y="3007360"/>
            <a:ext cx="304800"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INPUT DATA</a:t>
            </a:r>
            <a:endParaRPr b="1" i="0" sz="1400" u="none" cap="none" strike="noStrike">
              <a:solidFill>
                <a:srgbClr val="000000"/>
              </a:solidFill>
              <a:latin typeface="Arial"/>
              <a:ea typeface="Arial"/>
              <a:cs typeface="Arial"/>
              <a:sym typeface="Arial"/>
            </a:endParaRPr>
          </a:p>
        </p:txBody>
      </p:sp>
      <p:sp>
        <p:nvSpPr>
          <p:cNvPr id="183" name="Google Shape;183;p16"/>
          <p:cNvSpPr txBox="1"/>
          <p:nvPr/>
        </p:nvSpPr>
        <p:spPr>
          <a:xfrm>
            <a:off x="7142480" y="2987040"/>
            <a:ext cx="304800"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OUTPUT DATA</a:t>
            </a:r>
            <a:endParaRPr b="1" i="0" sz="1400" u="none" cap="none" strike="noStrike">
              <a:solidFill>
                <a:srgbClr val="000000"/>
              </a:solidFill>
              <a:latin typeface="Arial"/>
              <a:ea typeface="Arial"/>
              <a:cs typeface="Arial"/>
              <a:sym typeface="Arial"/>
            </a:endParaRPr>
          </a:p>
        </p:txBody>
      </p:sp>
      <p:cxnSp>
        <p:nvCxnSpPr>
          <p:cNvPr id="184" name="Google Shape;184;p16"/>
          <p:cNvCxnSpPr/>
          <p:nvPr/>
        </p:nvCxnSpPr>
        <p:spPr>
          <a:xfrm>
            <a:off x="1524000" y="3177540"/>
            <a:ext cx="2160000" cy="0"/>
          </a:xfrm>
          <a:prstGeom prst="straightConnector1">
            <a:avLst/>
          </a:prstGeom>
          <a:noFill/>
          <a:ln cap="flat" cmpd="sng" w="19050">
            <a:solidFill>
              <a:schemeClr val="dk1"/>
            </a:solidFill>
            <a:prstDash val="solid"/>
            <a:round/>
            <a:headEnd len="sm" w="sm" type="none"/>
            <a:tailEnd len="med" w="med" type="triangle"/>
          </a:ln>
        </p:spPr>
      </p:cxnSp>
      <p:cxnSp>
        <p:nvCxnSpPr>
          <p:cNvPr id="185" name="Google Shape;185;p16"/>
          <p:cNvCxnSpPr/>
          <p:nvPr/>
        </p:nvCxnSpPr>
        <p:spPr>
          <a:xfrm>
            <a:off x="4988560" y="3177540"/>
            <a:ext cx="2204720" cy="0"/>
          </a:xfrm>
          <a:prstGeom prst="straightConnector1">
            <a:avLst/>
          </a:prstGeom>
          <a:noFill/>
          <a:ln cap="flat" cmpd="sng" w="19050">
            <a:solidFill>
              <a:schemeClr val="dk1"/>
            </a:solidFill>
            <a:prstDash val="solid"/>
            <a:round/>
            <a:headEnd len="sm" w="sm" type="none"/>
            <a:tailEnd len="med" w="med" type="triangle"/>
          </a:ln>
        </p:spPr>
      </p:cxnSp>
      <p:cxnSp>
        <p:nvCxnSpPr>
          <p:cNvPr id="186" name="Google Shape;186;p16"/>
          <p:cNvCxnSpPr>
            <a:stCxn id="182" idx="3"/>
            <a:endCxn id="180" idx="1"/>
          </p:cNvCxnSpPr>
          <p:nvPr/>
        </p:nvCxnSpPr>
        <p:spPr>
          <a:xfrm flipH="1" rot="10800000">
            <a:off x="1513840" y="3990323"/>
            <a:ext cx="2174100" cy="32700"/>
          </a:xfrm>
          <a:prstGeom prst="straightConnector1">
            <a:avLst/>
          </a:prstGeom>
          <a:noFill/>
          <a:ln cap="flat" cmpd="sng" w="19050">
            <a:solidFill>
              <a:schemeClr val="dk1"/>
            </a:solidFill>
            <a:prstDash val="solid"/>
            <a:round/>
            <a:headEnd len="sm" w="sm" type="none"/>
            <a:tailEnd len="med" w="med" type="triangle"/>
          </a:ln>
        </p:spPr>
      </p:cxnSp>
      <p:cxnSp>
        <p:nvCxnSpPr>
          <p:cNvPr id="187" name="Google Shape;187;p16"/>
          <p:cNvCxnSpPr>
            <a:endCxn id="181" idx="1"/>
          </p:cNvCxnSpPr>
          <p:nvPr/>
        </p:nvCxnSpPr>
        <p:spPr>
          <a:xfrm flipH="1" rot="10800000">
            <a:off x="1534080" y="4819831"/>
            <a:ext cx="2154000" cy="15000"/>
          </a:xfrm>
          <a:prstGeom prst="straightConnector1">
            <a:avLst/>
          </a:prstGeom>
          <a:noFill/>
          <a:ln cap="flat" cmpd="sng" w="19050">
            <a:solidFill>
              <a:schemeClr val="dk1"/>
            </a:solidFill>
            <a:prstDash val="solid"/>
            <a:round/>
            <a:headEnd len="sm" w="sm" type="none"/>
            <a:tailEnd len="med" w="med" type="triangle"/>
          </a:ln>
        </p:spPr>
      </p:cxnSp>
      <p:cxnSp>
        <p:nvCxnSpPr>
          <p:cNvPr id="188" name="Google Shape;188;p16"/>
          <p:cNvCxnSpPr/>
          <p:nvPr/>
        </p:nvCxnSpPr>
        <p:spPr>
          <a:xfrm flipH="1" rot="10800000">
            <a:off x="4988560" y="3990340"/>
            <a:ext cx="2174240" cy="32683"/>
          </a:xfrm>
          <a:prstGeom prst="straightConnector1">
            <a:avLst/>
          </a:prstGeom>
          <a:noFill/>
          <a:ln cap="flat" cmpd="sng" w="19050">
            <a:solidFill>
              <a:schemeClr val="dk1"/>
            </a:solidFill>
            <a:prstDash val="solid"/>
            <a:round/>
            <a:headEnd len="sm" w="sm" type="none"/>
            <a:tailEnd len="med" w="med" type="triangle"/>
          </a:ln>
        </p:spPr>
      </p:cxnSp>
      <p:cxnSp>
        <p:nvCxnSpPr>
          <p:cNvPr id="189" name="Google Shape;189;p16"/>
          <p:cNvCxnSpPr/>
          <p:nvPr/>
        </p:nvCxnSpPr>
        <p:spPr>
          <a:xfrm flipH="1" rot="10800000">
            <a:off x="4988560" y="4819831"/>
            <a:ext cx="2153920" cy="15074"/>
          </a:xfrm>
          <a:prstGeom prst="straightConnector1">
            <a:avLst/>
          </a:prstGeom>
          <a:noFill/>
          <a:ln cap="flat" cmpd="sng" w="19050">
            <a:solidFill>
              <a:schemeClr val="dk1"/>
            </a:solidFill>
            <a:prstDash val="solid"/>
            <a:round/>
            <a:headEnd len="sm" w="sm" type="none"/>
            <a:tailEnd len="med" w="med" type="triangle"/>
          </a:ln>
        </p:spPr>
      </p:cxnSp>
      <p:sp>
        <p:nvSpPr>
          <p:cNvPr id="190" name="Google Shape;190;p16"/>
          <p:cNvSpPr txBox="1"/>
          <p:nvPr/>
        </p:nvSpPr>
        <p:spPr>
          <a:xfrm>
            <a:off x="1808480" y="2875280"/>
            <a:ext cx="134112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Book Name</a:t>
            </a:r>
            <a:endParaRPr b="0" i="0" sz="1400" u="none" cap="none" strike="noStrike">
              <a:solidFill>
                <a:srgbClr val="000000"/>
              </a:solidFill>
              <a:latin typeface="Arial"/>
              <a:ea typeface="Arial"/>
              <a:cs typeface="Arial"/>
              <a:sym typeface="Arial"/>
            </a:endParaRPr>
          </a:p>
        </p:txBody>
      </p:sp>
      <p:sp>
        <p:nvSpPr>
          <p:cNvPr id="191" name="Google Shape;191;p16"/>
          <p:cNvSpPr txBox="1"/>
          <p:nvPr/>
        </p:nvSpPr>
        <p:spPr>
          <a:xfrm>
            <a:off x="5608320" y="2871167"/>
            <a:ext cx="134112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Book Location</a:t>
            </a:r>
            <a:endParaRPr b="0" i="0" sz="1400" u="none" cap="none" strike="noStrike">
              <a:solidFill>
                <a:srgbClr val="000000"/>
              </a:solidFill>
              <a:latin typeface="Arial"/>
              <a:ea typeface="Arial"/>
              <a:cs typeface="Arial"/>
              <a:sym typeface="Arial"/>
            </a:endParaRPr>
          </a:p>
        </p:txBody>
      </p:sp>
      <p:sp>
        <p:nvSpPr>
          <p:cNvPr id="192" name="Google Shape;192;p16"/>
          <p:cNvSpPr txBox="1"/>
          <p:nvPr/>
        </p:nvSpPr>
        <p:spPr>
          <a:xfrm>
            <a:off x="3190060" y="6336297"/>
            <a:ext cx="281359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Fig 1. </a:t>
            </a:r>
            <a:r>
              <a:rPr b="0" i="0" lang="en-US" sz="1400" u="none" cap="none" strike="noStrike">
                <a:solidFill>
                  <a:schemeClr val="dk1"/>
                </a:solidFill>
                <a:latin typeface="Times New Roman"/>
                <a:ea typeface="Times New Roman"/>
                <a:cs typeface="Times New Roman"/>
                <a:sym typeface="Times New Roman"/>
              </a:rPr>
              <a:t>Library Automation Software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7"/>
          <p:cNvSpPr txBox="1"/>
          <p:nvPr>
            <p:ph type="title"/>
          </p:nvPr>
        </p:nvSpPr>
        <p:spPr>
          <a:xfrm>
            <a:off x="386080" y="-104415"/>
            <a:ext cx="5486040" cy="914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3200"/>
              <a:buFont typeface="Times New Roman"/>
              <a:buNone/>
            </a:pPr>
            <a:r>
              <a:rPr i="0" lang="en-US" sz="3200" u="none" strike="noStrike">
                <a:solidFill>
                  <a:schemeClr val="dk1"/>
                </a:solidFill>
                <a:latin typeface="Times New Roman"/>
                <a:ea typeface="Times New Roman"/>
                <a:cs typeface="Times New Roman"/>
                <a:sym typeface="Times New Roman"/>
              </a:rPr>
              <a:t>Computing Function Point</a:t>
            </a:r>
            <a:endParaRPr/>
          </a:p>
        </p:txBody>
      </p:sp>
      <p:sp>
        <p:nvSpPr>
          <p:cNvPr id="198" name="Google Shape;198;p17"/>
          <p:cNvSpPr txBox="1"/>
          <p:nvPr>
            <p:ph idx="1" type="body"/>
          </p:nvPr>
        </p:nvSpPr>
        <p:spPr>
          <a:xfrm>
            <a:off x="283368" y="1143000"/>
            <a:ext cx="8577263"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320"/>
              </a:spcBef>
              <a:spcAft>
                <a:spcPts val="0"/>
              </a:spcAft>
              <a:buClr>
                <a:schemeClr val="accent1"/>
              </a:buClr>
              <a:buSzPts val="1120"/>
              <a:buFont typeface="Noto Sans Symbols"/>
              <a:buChar char="⮚"/>
            </a:pPr>
            <a:r>
              <a:rPr i="0" lang="en-US" sz="1800" u="none" cap="none" strike="noStrike">
                <a:solidFill>
                  <a:schemeClr val="dk1"/>
                </a:solidFill>
                <a:latin typeface="Times New Roman"/>
                <a:ea typeface="Times New Roman"/>
                <a:cs typeface="Times New Roman"/>
                <a:sym typeface="Times New Roman"/>
              </a:rPr>
              <a:t>Function point is computed in two steps.</a:t>
            </a:r>
            <a:endParaRPr sz="1800">
              <a:latin typeface="Times New Roman"/>
              <a:ea typeface="Times New Roman"/>
              <a:cs typeface="Times New Roman"/>
              <a:sym typeface="Times New Roman"/>
            </a:endParaRPr>
          </a:p>
          <a:p>
            <a:pPr indent="-274320" lvl="0" marL="274320" marR="0" rtl="0" algn="l">
              <a:lnSpc>
                <a:spcPct val="100000"/>
              </a:lnSpc>
              <a:spcBef>
                <a:spcPts val="320"/>
              </a:spcBef>
              <a:spcAft>
                <a:spcPts val="0"/>
              </a:spcAft>
              <a:buClr>
                <a:schemeClr val="accent1"/>
              </a:buClr>
              <a:buSzPts val="1120"/>
              <a:buFont typeface="Noto Sans Symbols"/>
              <a:buNone/>
            </a:pPr>
            <a:r>
              <a:t/>
            </a:r>
            <a:endParaRPr i="0" sz="1800" u="none" cap="none" strike="noStrike">
              <a:solidFill>
                <a:schemeClr val="dk1"/>
              </a:solidFill>
              <a:latin typeface="Times New Roman"/>
              <a:ea typeface="Times New Roman"/>
              <a:cs typeface="Times New Roman"/>
              <a:sym typeface="Times New Roman"/>
            </a:endParaRPr>
          </a:p>
          <a:p>
            <a:pPr indent="-274320" lvl="0" marL="274320" marR="0" rtl="0" algn="l">
              <a:lnSpc>
                <a:spcPct val="100000"/>
              </a:lnSpc>
              <a:spcBef>
                <a:spcPts val="320"/>
              </a:spcBef>
              <a:spcAft>
                <a:spcPts val="0"/>
              </a:spcAft>
              <a:buClr>
                <a:schemeClr val="accent1"/>
              </a:buClr>
              <a:buSzPts val="1120"/>
              <a:buFont typeface="Noto Sans Symbols"/>
              <a:buNone/>
            </a:pPr>
            <a:r>
              <a:rPr i="0" lang="en-US" sz="1800" u="none" cap="none" strike="noStrike">
                <a:solidFill>
                  <a:schemeClr val="dk1"/>
                </a:solidFill>
                <a:latin typeface="Times New Roman"/>
                <a:ea typeface="Times New Roman"/>
                <a:cs typeface="Times New Roman"/>
                <a:sym typeface="Times New Roman"/>
              </a:rPr>
              <a:t>1. Compute the unadjusted function point (UFP). </a:t>
            </a:r>
            <a:endParaRPr sz="1800">
              <a:latin typeface="Times New Roman"/>
              <a:ea typeface="Times New Roman"/>
              <a:cs typeface="Times New Roman"/>
              <a:sym typeface="Times New Roman"/>
            </a:endParaRPr>
          </a:p>
          <a:p>
            <a:pPr indent="-274320" lvl="0" marL="274320" marR="0" rtl="0" algn="l">
              <a:lnSpc>
                <a:spcPct val="100000"/>
              </a:lnSpc>
              <a:spcBef>
                <a:spcPts val="320"/>
              </a:spcBef>
              <a:spcAft>
                <a:spcPts val="0"/>
              </a:spcAft>
              <a:buClr>
                <a:schemeClr val="accent1"/>
              </a:buClr>
              <a:buSzPts val="1120"/>
              <a:buFont typeface="Noto Sans Symbols"/>
              <a:buNone/>
            </a:pPr>
            <a:r>
              <a:rPr i="0" lang="en-US" sz="1800" u="none" cap="none" strike="noStrike">
                <a:solidFill>
                  <a:schemeClr val="dk1"/>
                </a:solidFill>
                <a:latin typeface="Times New Roman"/>
                <a:ea typeface="Times New Roman"/>
                <a:cs typeface="Times New Roman"/>
                <a:sym typeface="Times New Roman"/>
              </a:rPr>
              <a:t>        UFP = (Number of inputs)*4 + (Number of outputs)*5 + </a:t>
            </a:r>
            <a:endParaRPr sz="1800">
              <a:latin typeface="Times New Roman"/>
              <a:ea typeface="Times New Roman"/>
              <a:cs typeface="Times New Roman"/>
              <a:sym typeface="Times New Roman"/>
            </a:endParaRPr>
          </a:p>
          <a:p>
            <a:pPr indent="-274320" lvl="0" marL="274320" marR="0" rtl="0" algn="l">
              <a:lnSpc>
                <a:spcPct val="100000"/>
              </a:lnSpc>
              <a:spcBef>
                <a:spcPts val="320"/>
              </a:spcBef>
              <a:spcAft>
                <a:spcPts val="0"/>
              </a:spcAft>
              <a:buClr>
                <a:schemeClr val="accent1"/>
              </a:buClr>
              <a:buSzPts val="1120"/>
              <a:buFont typeface="Noto Sans Symbols"/>
              <a:buNone/>
            </a:pPr>
            <a:r>
              <a:rPr i="0" lang="en-US" sz="1800" u="none" cap="none" strike="noStrike">
                <a:solidFill>
                  <a:schemeClr val="dk1"/>
                </a:solidFill>
                <a:latin typeface="Times New Roman"/>
                <a:ea typeface="Times New Roman"/>
                <a:cs typeface="Times New Roman"/>
                <a:sym typeface="Times New Roman"/>
              </a:rPr>
              <a:t>                    (Number of inquiries)*4 + (Number of files)*10 + (Number of  interfaces)*10</a:t>
            </a:r>
            <a:endParaRPr sz="1800">
              <a:latin typeface="Times New Roman"/>
              <a:ea typeface="Times New Roman"/>
              <a:cs typeface="Times New Roman"/>
              <a:sym typeface="Times New Roman"/>
            </a:endParaRPr>
          </a:p>
          <a:p>
            <a:pPr indent="-274320" lvl="0" marL="274320" marR="0" rtl="0" algn="l">
              <a:lnSpc>
                <a:spcPct val="100000"/>
              </a:lnSpc>
              <a:spcBef>
                <a:spcPts val="320"/>
              </a:spcBef>
              <a:spcAft>
                <a:spcPts val="0"/>
              </a:spcAft>
              <a:buClr>
                <a:schemeClr val="accent1"/>
              </a:buClr>
              <a:buSzPts val="1120"/>
              <a:buFont typeface="Noto Sans Symbols"/>
              <a:buNone/>
            </a:pPr>
            <a:r>
              <a:rPr i="0" lang="en-US" sz="1800" u="none" cap="none" strike="noStrike">
                <a:solidFill>
                  <a:schemeClr val="dk1"/>
                </a:solidFill>
                <a:latin typeface="Times New Roman"/>
                <a:ea typeface="Times New Roman"/>
                <a:cs typeface="Times New Roman"/>
                <a:sym typeface="Times New Roman"/>
              </a:rPr>
              <a:t>2. Compute the technical complexity factor (TCF) </a:t>
            </a:r>
            <a:endParaRPr sz="1800">
              <a:latin typeface="Times New Roman"/>
              <a:ea typeface="Times New Roman"/>
              <a:cs typeface="Times New Roman"/>
              <a:sym typeface="Times New Roman"/>
            </a:endParaRPr>
          </a:p>
          <a:p>
            <a:pPr indent="-342898" lvl="1" marL="617220" marR="0" rtl="0" algn="l">
              <a:lnSpc>
                <a:spcPct val="100000"/>
              </a:lnSpc>
              <a:spcBef>
                <a:spcPts val="320"/>
              </a:spcBef>
              <a:spcAft>
                <a:spcPts val="0"/>
              </a:spcAft>
              <a:buClr>
                <a:schemeClr val="accent1"/>
              </a:buClr>
              <a:buSzPts val="1120"/>
              <a:buFont typeface="Noto Sans Symbols"/>
              <a:buChar char="⮚"/>
            </a:pPr>
            <a:r>
              <a:rPr i="0" lang="en-US" sz="1800" u="none" cap="none" strike="noStrike">
                <a:solidFill>
                  <a:schemeClr val="dk1"/>
                </a:solidFill>
                <a:latin typeface="Times New Roman"/>
                <a:ea typeface="Times New Roman"/>
                <a:cs typeface="Times New Roman"/>
                <a:sym typeface="Times New Roman"/>
              </a:rPr>
              <a:t>TCF refines the UFP measure by considering fourteen other factors such as high transaction rates, throughput, and response time requirements, etc. </a:t>
            </a:r>
            <a:endParaRPr sz="1800">
              <a:latin typeface="Times New Roman"/>
              <a:ea typeface="Times New Roman"/>
              <a:cs typeface="Times New Roman"/>
              <a:sym typeface="Times New Roman"/>
            </a:endParaRPr>
          </a:p>
          <a:p>
            <a:pPr indent="-342898" lvl="1" marL="617220" marR="0" rtl="0" algn="l">
              <a:lnSpc>
                <a:spcPct val="100000"/>
              </a:lnSpc>
              <a:spcBef>
                <a:spcPts val="320"/>
              </a:spcBef>
              <a:spcAft>
                <a:spcPts val="0"/>
              </a:spcAft>
              <a:buClr>
                <a:schemeClr val="accent1"/>
              </a:buClr>
              <a:buSzPts val="1120"/>
              <a:buFont typeface="Noto Sans Symbols"/>
              <a:buChar char="⮚"/>
            </a:pPr>
            <a:r>
              <a:rPr i="0" lang="en-US" sz="1800" u="none" cap="none" strike="noStrike">
                <a:solidFill>
                  <a:schemeClr val="dk1"/>
                </a:solidFill>
                <a:latin typeface="Times New Roman"/>
                <a:ea typeface="Times New Roman"/>
                <a:cs typeface="Times New Roman"/>
                <a:sym typeface="Times New Roman"/>
              </a:rPr>
              <a:t>Each of these 14 factors is assigned from 0 (not present or no influence) to 6 (strong influence). </a:t>
            </a:r>
            <a:endParaRPr sz="1800">
              <a:latin typeface="Times New Roman"/>
              <a:ea typeface="Times New Roman"/>
              <a:cs typeface="Times New Roman"/>
              <a:sym typeface="Times New Roman"/>
            </a:endParaRPr>
          </a:p>
          <a:p>
            <a:pPr indent="-342898" lvl="1" marL="617220" marR="0" rtl="0" algn="l">
              <a:lnSpc>
                <a:spcPct val="100000"/>
              </a:lnSpc>
              <a:spcBef>
                <a:spcPts val="320"/>
              </a:spcBef>
              <a:spcAft>
                <a:spcPts val="0"/>
              </a:spcAft>
              <a:buClr>
                <a:schemeClr val="accent1"/>
              </a:buClr>
              <a:buSzPts val="1120"/>
              <a:buFont typeface="Noto Sans Symbols"/>
              <a:buChar char="⮚"/>
            </a:pPr>
            <a:r>
              <a:rPr i="0" lang="en-US" sz="1800" u="none" cap="none" strike="noStrike">
                <a:solidFill>
                  <a:schemeClr val="dk1"/>
                </a:solidFill>
                <a:latin typeface="Times New Roman"/>
                <a:ea typeface="Times New Roman"/>
                <a:cs typeface="Times New Roman"/>
                <a:sym typeface="Times New Roman"/>
              </a:rPr>
              <a:t>The resulting numbers are summed, yielding the total degree of influence (DI). </a:t>
            </a:r>
            <a:endParaRPr sz="1800">
              <a:latin typeface="Times New Roman"/>
              <a:ea typeface="Times New Roman"/>
              <a:cs typeface="Times New Roman"/>
              <a:sym typeface="Times New Roman"/>
            </a:endParaRPr>
          </a:p>
          <a:p>
            <a:pPr indent="-342898" lvl="1" marL="617220" marR="0" rtl="0" algn="l">
              <a:lnSpc>
                <a:spcPct val="100000"/>
              </a:lnSpc>
              <a:spcBef>
                <a:spcPts val="320"/>
              </a:spcBef>
              <a:spcAft>
                <a:spcPts val="0"/>
              </a:spcAft>
              <a:buClr>
                <a:schemeClr val="accent1"/>
              </a:buClr>
              <a:buSzPts val="1120"/>
              <a:buFont typeface="Noto Sans Symbols"/>
              <a:buChar char="⮚"/>
            </a:pPr>
            <a:r>
              <a:rPr i="0" lang="en-US" sz="1800" u="none" cap="none" strike="noStrike">
                <a:solidFill>
                  <a:schemeClr val="dk1"/>
                </a:solidFill>
                <a:latin typeface="Times New Roman"/>
                <a:ea typeface="Times New Roman"/>
                <a:cs typeface="Times New Roman"/>
                <a:sym typeface="Times New Roman"/>
              </a:rPr>
              <a:t>Now, TCF is computed as (0.65+0.01*DI). As DI can vary from 0 to 70, TCF can vary from 0.65 to 1.35. </a:t>
            </a:r>
            <a:endParaRPr sz="1800">
              <a:latin typeface="Times New Roman"/>
              <a:ea typeface="Times New Roman"/>
              <a:cs typeface="Times New Roman"/>
              <a:sym typeface="Times New Roman"/>
            </a:endParaRPr>
          </a:p>
          <a:p>
            <a:pPr indent="-274320" lvl="0" marL="274320" marR="0" rtl="0" algn="l">
              <a:lnSpc>
                <a:spcPct val="100000"/>
              </a:lnSpc>
              <a:spcBef>
                <a:spcPts val="320"/>
              </a:spcBef>
              <a:spcAft>
                <a:spcPts val="0"/>
              </a:spcAft>
              <a:buClr>
                <a:schemeClr val="accent1"/>
              </a:buClr>
              <a:buSzPts val="1120"/>
              <a:buFont typeface="Noto Sans Symbols"/>
              <a:buNone/>
            </a:pPr>
            <a:r>
              <a:t/>
            </a:r>
            <a:endParaRPr i="0" sz="1800" u="none" cap="none" strike="noStrike">
              <a:solidFill>
                <a:schemeClr val="dk1"/>
              </a:solidFill>
              <a:latin typeface="Times New Roman"/>
              <a:ea typeface="Times New Roman"/>
              <a:cs typeface="Times New Roman"/>
              <a:sym typeface="Times New Roman"/>
            </a:endParaRPr>
          </a:p>
          <a:p>
            <a:pPr indent="-274320" lvl="0" marL="274320" marR="0" rtl="0" algn="l">
              <a:lnSpc>
                <a:spcPct val="100000"/>
              </a:lnSpc>
              <a:spcBef>
                <a:spcPts val="320"/>
              </a:spcBef>
              <a:spcAft>
                <a:spcPts val="0"/>
              </a:spcAft>
              <a:buClr>
                <a:schemeClr val="accent1"/>
              </a:buClr>
              <a:buSzPts val="1120"/>
              <a:buFont typeface="Noto Sans Symbols"/>
              <a:buNone/>
            </a:pPr>
            <a:r>
              <a:rPr i="0" lang="en-US" sz="1800" u="none" cap="none" strike="noStrike">
                <a:solidFill>
                  <a:schemeClr val="dk1"/>
                </a:solidFill>
                <a:latin typeface="Times New Roman"/>
                <a:ea typeface="Times New Roman"/>
                <a:cs typeface="Times New Roman"/>
                <a:sym typeface="Times New Roman"/>
              </a:rPr>
              <a:t>Finally, FP=UFP*TCF.  </a:t>
            </a:r>
            <a:endParaRPr sz="18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8"/>
          <p:cNvSpPr txBox="1"/>
          <p:nvPr>
            <p:ph type="title"/>
          </p:nvPr>
        </p:nvSpPr>
        <p:spPr>
          <a:xfrm>
            <a:off x="343973"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t>Example FP</a:t>
            </a:r>
            <a:endParaRPr b="1"/>
          </a:p>
        </p:txBody>
      </p:sp>
      <p:pic>
        <p:nvPicPr>
          <p:cNvPr id="204" name="Google Shape;204;p48"/>
          <p:cNvPicPr preferRelativeResize="0"/>
          <p:nvPr/>
        </p:nvPicPr>
        <p:blipFill rotWithShape="1">
          <a:blip r:embed="rId3">
            <a:alphaModFix/>
          </a:blip>
          <a:srcRect b="0" l="0" r="0" t="0"/>
          <a:stretch/>
        </p:blipFill>
        <p:spPr>
          <a:xfrm>
            <a:off x="242374" y="1282690"/>
            <a:ext cx="4477652" cy="3123068"/>
          </a:xfrm>
          <a:prstGeom prst="rect">
            <a:avLst/>
          </a:prstGeom>
          <a:noFill/>
          <a:ln>
            <a:noFill/>
          </a:ln>
        </p:spPr>
      </p:pic>
      <p:sp>
        <p:nvSpPr>
          <p:cNvPr id="205" name="Google Shape;205;p48"/>
          <p:cNvSpPr txBox="1"/>
          <p:nvPr/>
        </p:nvSpPr>
        <p:spPr>
          <a:xfrm>
            <a:off x="6174740" y="2259449"/>
            <a:ext cx="2237740"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User Input = 50</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User Output = 40</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User Inquiries = 35</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User Files = 6</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External Interface = 4</a:t>
            </a:r>
            <a:endParaRPr/>
          </a:p>
        </p:txBody>
      </p:sp>
      <p:sp>
        <p:nvSpPr>
          <p:cNvPr id="206" name="Google Shape;206;p48"/>
          <p:cNvSpPr txBox="1"/>
          <p:nvPr/>
        </p:nvSpPr>
        <p:spPr>
          <a:xfrm>
            <a:off x="4785360" y="1152128"/>
            <a:ext cx="45720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Given the following values, compute function point when all complexity adjustment factor (CAF) and weighting factors are average.</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9"/>
          <p:cNvSpPr txBox="1"/>
          <p:nvPr>
            <p:ph type="title"/>
          </p:nvPr>
        </p:nvSpPr>
        <p:spPr>
          <a:xfrm>
            <a:off x="343973"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t>Solution</a:t>
            </a:r>
            <a:endParaRPr b="1"/>
          </a:p>
        </p:txBody>
      </p:sp>
      <p:sp>
        <p:nvSpPr>
          <p:cNvPr id="212" name="Google Shape;212;p49"/>
          <p:cNvSpPr txBox="1"/>
          <p:nvPr/>
        </p:nvSpPr>
        <p:spPr>
          <a:xfrm>
            <a:off x="982980" y="1495812"/>
            <a:ext cx="6972300" cy="42473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Step-1</a:t>
            </a:r>
            <a:r>
              <a:rPr b="0" i="0" lang="en-US" sz="1800" u="none" cap="none" strike="noStrike">
                <a:solidFill>
                  <a:srgbClr val="000000"/>
                </a:solidFill>
                <a:latin typeface="Times New Roman"/>
                <a:ea typeface="Times New Roman"/>
                <a:cs typeface="Times New Roman"/>
                <a:sym typeface="Times New Roman"/>
              </a:rPr>
              <a:t>: As complexity adjustment factor is average (given in question), hence,</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scale = 3.</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F = 14 * 3 = 42 </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Step-2:</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CAF = 0.65 + ( 0.01 * 42 ) = 1.07 </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Step-3: </a:t>
            </a:r>
            <a:r>
              <a:rPr b="0" i="0" lang="en-US" sz="1800" u="none" cap="none" strike="noStrike">
                <a:solidFill>
                  <a:srgbClr val="000000"/>
                </a:solidFill>
                <a:latin typeface="Times New Roman"/>
                <a:ea typeface="Times New Roman"/>
                <a:cs typeface="Times New Roman"/>
                <a:sym typeface="Times New Roman"/>
              </a:rPr>
              <a:t>As weighting factors are also average (given in question) hence we will multiply each individual function point to corresponding values in TABLE.</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UFP = (50*4) + (40*5) + (35*4) + (6*10) + (4*7) = 628 </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Step-4:</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Function Point = 628 * 1.07 = 671.96</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50"/>
          <p:cNvSpPr txBox="1"/>
          <p:nvPr>
            <p:ph type="title"/>
          </p:nvPr>
        </p:nvSpPr>
        <p:spPr>
          <a:xfrm>
            <a:off x="33020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i="0" lang="en-US">
                <a:solidFill>
                  <a:srgbClr val="000000"/>
                </a:solidFill>
                <a:latin typeface="Times New Roman"/>
                <a:ea typeface="Times New Roman"/>
                <a:cs typeface="Times New Roman"/>
                <a:sym typeface="Times New Roman"/>
              </a:rPr>
              <a:t>Decomposition Techniques</a:t>
            </a:r>
            <a:endParaRPr/>
          </a:p>
        </p:txBody>
      </p:sp>
      <p:sp>
        <p:nvSpPr>
          <p:cNvPr id="218" name="Google Shape;218;p50"/>
          <p:cNvSpPr txBox="1"/>
          <p:nvPr/>
        </p:nvSpPr>
        <p:spPr>
          <a:xfrm>
            <a:off x="238760" y="955787"/>
            <a:ext cx="8483600" cy="5647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imes New Roman"/>
                <a:ea typeface="Times New Roman"/>
                <a:cs typeface="Times New Roman"/>
                <a:sym typeface="Times New Roman"/>
              </a:rPr>
              <a:t>Decomposition techniques are fundamental strategies used in project management and software development to break down complex tasks into manageable components. These techniques play a crucial role in estimating project effort, defining project scope, and allocating resources effectively. Decomposition techniques involve a divide-and-conquer approach to software project estimation. Let's explore the key decomposition techniques</a:t>
            </a:r>
            <a:endParaRPr/>
          </a:p>
          <a:p>
            <a:pPr indent="0" lvl="0" marL="0" marR="0" rtl="0" algn="just">
              <a:lnSpc>
                <a:spcPct val="100000"/>
              </a:lnSpc>
              <a:spcBef>
                <a:spcPts val="525"/>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1. Software Sizing</a:t>
            </a:r>
            <a:endParaRPr/>
          </a:p>
          <a:p>
            <a:pPr indent="0" lvl="0" marL="0" marR="0" rtl="0" algn="just">
              <a:lnSpc>
                <a:spcPct val="100000"/>
              </a:lnSpc>
              <a:spcBef>
                <a:spcPts val="525"/>
              </a:spcBef>
              <a:spcAft>
                <a:spcPts val="0"/>
              </a:spcAft>
              <a:buClr>
                <a:srgbClr val="000000"/>
              </a:buClr>
              <a:buSzPts val="1600"/>
              <a:buFont typeface="Arial"/>
              <a:buNone/>
            </a:pPr>
            <a:r>
              <a:rPr b="0" i="0" lang="en-US" sz="1600" u="none" cap="none" strike="noStrike">
                <a:solidFill>
                  <a:srgbClr val="000000"/>
                </a:solidFill>
                <a:latin typeface="Times New Roman"/>
                <a:ea typeface="Times New Roman"/>
                <a:cs typeface="Times New Roman"/>
                <a:sym typeface="Times New Roman"/>
              </a:rPr>
              <a:t>Software sizing involves quantifying the size or volume of software components, such as lines of code, function points, or object-oriented metrics. This technique helps in estimating the effort required for software development, determining project timelines, and evaluating resource requirements based on the size and complexity of the software.</a:t>
            </a:r>
            <a:endParaRPr/>
          </a:p>
          <a:p>
            <a:pPr indent="0" lvl="0" marL="0" marR="0" rtl="0" algn="just">
              <a:lnSpc>
                <a:spcPct val="100000"/>
              </a:lnSpc>
              <a:spcBef>
                <a:spcPts val="525"/>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2. Problem-based Estimation</a:t>
            </a:r>
            <a:endParaRPr/>
          </a:p>
          <a:p>
            <a:pPr indent="0" lvl="0" marL="0" marR="0" rtl="0" algn="just">
              <a:lnSpc>
                <a:spcPct val="100000"/>
              </a:lnSpc>
              <a:spcBef>
                <a:spcPts val="525"/>
              </a:spcBef>
              <a:spcAft>
                <a:spcPts val="0"/>
              </a:spcAft>
              <a:buClr>
                <a:srgbClr val="000000"/>
              </a:buClr>
              <a:buSzPts val="1600"/>
              <a:buFont typeface="Arial"/>
              <a:buNone/>
            </a:pPr>
            <a:r>
              <a:rPr b="0" i="0" lang="en-US" sz="1600" u="none" cap="none" strike="noStrike">
                <a:solidFill>
                  <a:srgbClr val="000000"/>
                </a:solidFill>
                <a:latin typeface="Times New Roman"/>
                <a:ea typeface="Times New Roman"/>
                <a:cs typeface="Times New Roman"/>
                <a:sym typeface="Times New Roman"/>
              </a:rPr>
              <a:t>Problem-based estimation focuses on breaking down project requirements and tasks based on specific problems or functionalities. It involves analyzing the project scope, identifying distinct problems or features, and estimating effort, time, and resources needed to address each problem individually. This approach enables a more detailed and accurate estimation of project complexity and work effort.</a:t>
            </a:r>
            <a:endParaRPr/>
          </a:p>
          <a:p>
            <a:pPr indent="0" lvl="0" marL="0" marR="0" rtl="0" algn="just">
              <a:lnSpc>
                <a:spcPct val="100000"/>
              </a:lnSpc>
              <a:spcBef>
                <a:spcPts val="525"/>
              </a:spcBef>
              <a:spcAft>
                <a:spcPts val="0"/>
              </a:spcAft>
              <a:buClr>
                <a:srgbClr val="000000"/>
              </a:buClr>
              <a:buSzPts val="1600"/>
              <a:buFont typeface="Arial"/>
              <a:buNone/>
            </a:pPr>
            <a:r>
              <a:rPr b="1" i="0" lang="en-US" sz="1600" u="none" cap="none" strike="noStrike">
                <a:solidFill>
                  <a:srgbClr val="000000"/>
                </a:solidFill>
                <a:latin typeface="Times New Roman"/>
                <a:ea typeface="Times New Roman"/>
                <a:cs typeface="Times New Roman"/>
                <a:sym typeface="Times New Roman"/>
              </a:rPr>
              <a:t>3. Process-based Estimation</a:t>
            </a:r>
            <a:endParaRPr/>
          </a:p>
          <a:p>
            <a:pPr indent="0" lvl="0" marL="0" marR="0" rtl="0" algn="just">
              <a:lnSpc>
                <a:spcPct val="100000"/>
              </a:lnSpc>
              <a:spcBef>
                <a:spcPts val="525"/>
              </a:spcBef>
              <a:spcAft>
                <a:spcPts val="0"/>
              </a:spcAft>
              <a:buNone/>
            </a:pPr>
            <a:r>
              <a:rPr b="0" i="0" lang="en-US" sz="1600" u="none" cap="none" strike="noStrike">
                <a:solidFill>
                  <a:srgbClr val="000000"/>
                </a:solidFill>
                <a:latin typeface="Times New Roman"/>
                <a:ea typeface="Times New Roman"/>
                <a:cs typeface="Times New Roman"/>
                <a:sym typeface="Times New Roman"/>
              </a:rPr>
              <a:t>Process-based estimation involves decomposing project activities and tasks based on the underlying processes involved in software development. It breaks down the project into phases, stages, or workflows, identifying key processes and subprocesses required to complete the project. This technique helps in planning project activities, allocating resources efficiently, and managing project dependencies and workflows effectively.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6"/>
          <p:cNvSpPr txBox="1"/>
          <p:nvPr>
            <p:ph type="title"/>
          </p:nvPr>
        </p:nvSpPr>
        <p:spPr>
          <a:xfrm>
            <a:off x="107504" y="116632"/>
            <a:ext cx="3837607" cy="844332"/>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0000"/>
              </a:buClr>
              <a:buSzPts val="1800"/>
              <a:buNone/>
            </a:pPr>
            <a:r>
              <a:rPr lang="en-US" sz="3200">
                <a:solidFill>
                  <a:schemeClr val="dk1"/>
                </a:solidFill>
                <a:latin typeface="Times New Roman"/>
                <a:ea typeface="Times New Roman"/>
                <a:cs typeface="Times New Roman"/>
                <a:sym typeface="Times New Roman"/>
              </a:rPr>
              <a:t>Practice Questions</a:t>
            </a:r>
            <a:endParaRPr/>
          </a:p>
        </p:txBody>
      </p:sp>
      <p:sp>
        <p:nvSpPr>
          <p:cNvPr id="224" name="Google Shape;224;p26"/>
          <p:cNvSpPr txBox="1"/>
          <p:nvPr>
            <p:ph idx="1" type="body"/>
          </p:nvPr>
        </p:nvSpPr>
        <p:spPr>
          <a:xfrm>
            <a:off x="339381" y="1095034"/>
            <a:ext cx="7599000" cy="3672000"/>
          </a:xfrm>
          <a:prstGeom prst="rect">
            <a:avLst/>
          </a:prstGeom>
          <a:noFill/>
          <a:ln>
            <a:noFill/>
          </a:ln>
        </p:spPr>
        <p:txBody>
          <a:bodyPr anchorCtr="0" anchor="t" bIns="0" lIns="0" spcFirstLastPara="1" rIns="0" wrap="square" tIns="0">
            <a:normAutofit/>
          </a:bodyPr>
          <a:lstStyle/>
          <a:p>
            <a:pPr indent="-342900" lvl="0" marL="457200" rtl="0" algn="l">
              <a:lnSpc>
                <a:spcPct val="90000"/>
              </a:lnSpc>
              <a:spcBef>
                <a:spcPts val="1000"/>
              </a:spcBef>
              <a:spcAft>
                <a:spcPts val="0"/>
              </a:spcAft>
              <a:buSzPts val="1800"/>
              <a:buChar char="•"/>
            </a:pPr>
            <a:r>
              <a:rPr i="0" lang="en-US" sz="1600">
                <a:solidFill>
                  <a:schemeClr val="dk1"/>
                </a:solidFill>
                <a:latin typeface="Times New Roman"/>
                <a:ea typeface="Times New Roman"/>
                <a:cs typeface="Times New Roman"/>
                <a:sym typeface="Times New Roman"/>
              </a:rPr>
              <a:t>What is the first activity in software project planning?</a:t>
            </a:r>
            <a:endParaRPr/>
          </a:p>
          <a:p>
            <a:pPr indent="-342900" lvl="0" marL="457200" rtl="0" algn="l">
              <a:lnSpc>
                <a:spcPct val="90000"/>
              </a:lnSpc>
              <a:spcBef>
                <a:spcPts val="1000"/>
              </a:spcBef>
              <a:spcAft>
                <a:spcPts val="0"/>
              </a:spcAft>
              <a:buSzPts val="1800"/>
              <a:buChar char="•"/>
            </a:pPr>
            <a:r>
              <a:rPr i="0" lang="en-US" sz="1600">
                <a:solidFill>
                  <a:schemeClr val="dk1"/>
                </a:solidFill>
                <a:latin typeface="Times New Roman"/>
                <a:ea typeface="Times New Roman"/>
                <a:cs typeface="Times New Roman"/>
                <a:sym typeface="Times New Roman"/>
              </a:rPr>
              <a:t>What is the main objective of software project planning?</a:t>
            </a:r>
            <a:endParaRPr/>
          </a:p>
          <a:p>
            <a:pPr indent="-342900" lvl="0" marL="457200" rtl="0" algn="l">
              <a:lnSpc>
                <a:spcPct val="90000"/>
              </a:lnSpc>
              <a:spcBef>
                <a:spcPts val="1000"/>
              </a:spcBef>
              <a:spcAft>
                <a:spcPts val="0"/>
              </a:spcAft>
              <a:buSzPts val="1800"/>
              <a:buChar char="•"/>
            </a:pPr>
            <a:r>
              <a:rPr i="0" lang="en-US" sz="1600">
                <a:solidFill>
                  <a:schemeClr val="dk1"/>
                </a:solidFill>
                <a:latin typeface="Times New Roman"/>
                <a:ea typeface="Times New Roman"/>
                <a:cs typeface="Times New Roman"/>
                <a:sym typeface="Times New Roman"/>
              </a:rPr>
              <a:t>What is the meaning of software scope?</a:t>
            </a:r>
            <a:endParaRPr sz="1600">
              <a:solidFill>
                <a:schemeClr val="dk1"/>
              </a:solidFill>
              <a:latin typeface="Times New Roman"/>
              <a:ea typeface="Times New Roman"/>
              <a:cs typeface="Times New Roman"/>
              <a:sym typeface="Times New Roman"/>
            </a:endParaRPr>
          </a:p>
          <a:p>
            <a:pPr indent="-342900" lvl="0" marL="457200" rtl="0" algn="l">
              <a:lnSpc>
                <a:spcPct val="90000"/>
              </a:lnSpc>
              <a:spcBef>
                <a:spcPts val="1000"/>
              </a:spcBef>
              <a:spcAft>
                <a:spcPts val="0"/>
              </a:spcAft>
              <a:buSzPts val="1800"/>
              <a:buChar char="•"/>
            </a:pPr>
            <a:r>
              <a:rPr lang="en-US">
                <a:latin typeface="Times New Roman"/>
                <a:ea typeface="Times New Roman"/>
                <a:cs typeface="Times New Roman"/>
                <a:sym typeface="Times New Roman"/>
              </a:rPr>
              <a:t>component-</a:t>
            </a:r>
            <a:r>
              <a:rPr i="0" lang="en-US" sz="1600">
                <a:solidFill>
                  <a:schemeClr val="dk1"/>
                </a:solidFill>
                <a:latin typeface="Times New Roman"/>
                <a:ea typeface="Times New Roman"/>
                <a:cs typeface="Times New Roman"/>
                <a:sym typeface="Times New Roman"/>
              </a:rPr>
              <a:t>based software engineering emphasizes </a:t>
            </a:r>
            <a:r>
              <a:rPr lang="en-US">
                <a:latin typeface="Times New Roman"/>
                <a:ea typeface="Times New Roman"/>
                <a:cs typeface="Times New Roman"/>
                <a:sym typeface="Times New Roman"/>
              </a:rPr>
              <a:t>reusability</a:t>
            </a:r>
            <a:r>
              <a:rPr i="0" lang="en-US" sz="1600">
                <a:solidFill>
                  <a:schemeClr val="dk1"/>
                </a:solidFill>
                <a:latin typeface="Times New Roman"/>
                <a:ea typeface="Times New Roman"/>
                <a:cs typeface="Times New Roman"/>
                <a:sym typeface="Times New Roman"/>
              </a:rPr>
              <a:t>. State Yes/No.</a:t>
            </a:r>
            <a:endParaRPr/>
          </a:p>
          <a:p>
            <a:pPr indent="-342900" lvl="0" marL="457200" rtl="0" algn="l">
              <a:lnSpc>
                <a:spcPct val="90000"/>
              </a:lnSpc>
              <a:spcBef>
                <a:spcPts val="1000"/>
              </a:spcBef>
              <a:spcAft>
                <a:spcPts val="0"/>
              </a:spcAft>
              <a:buSzPts val="1800"/>
              <a:buChar char="•"/>
            </a:pPr>
            <a:r>
              <a:rPr i="0" lang="en-US" sz="1600">
                <a:solidFill>
                  <a:schemeClr val="dk1"/>
                </a:solidFill>
                <a:latin typeface="Times New Roman"/>
                <a:ea typeface="Times New Roman"/>
                <a:cs typeface="Times New Roman"/>
                <a:sym typeface="Times New Roman"/>
              </a:rPr>
              <a:t>Software feasibility has four dimensions. Which of the following are those dimensions?</a:t>
            </a:r>
            <a:endParaRPr/>
          </a:p>
          <a:p>
            <a:pPr indent="-342900" lvl="0" marL="457200" rtl="0" algn="l">
              <a:lnSpc>
                <a:spcPct val="90000"/>
              </a:lnSpc>
              <a:spcBef>
                <a:spcPts val="1000"/>
              </a:spcBef>
              <a:spcAft>
                <a:spcPts val="0"/>
              </a:spcAft>
              <a:buSzPts val="1800"/>
              <a:buChar char="•"/>
            </a:pPr>
            <a:r>
              <a:rPr i="0" lang="en-US" sz="1600">
                <a:solidFill>
                  <a:schemeClr val="dk1"/>
                </a:solidFill>
                <a:latin typeface="Times New Roman"/>
                <a:ea typeface="Times New Roman"/>
                <a:cs typeface="Times New Roman"/>
                <a:sym typeface="Times New Roman"/>
              </a:rPr>
              <a:t>As a software manager, </a:t>
            </a:r>
            <a:r>
              <a:rPr lang="en-US">
                <a:latin typeface="Times New Roman"/>
                <a:ea typeface="Times New Roman"/>
                <a:cs typeface="Times New Roman"/>
                <a:sym typeface="Times New Roman"/>
              </a:rPr>
              <a:t>when will</a:t>
            </a:r>
            <a:r>
              <a:rPr i="0" lang="en-US" sz="1600">
                <a:solidFill>
                  <a:schemeClr val="dk1"/>
                </a:solidFill>
                <a:latin typeface="Times New Roman"/>
                <a:ea typeface="Times New Roman"/>
                <a:cs typeface="Times New Roman"/>
                <a:sym typeface="Times New Roman"/>
              </a:rPr>
              <a:t> you decide the number of people required for a software project?</a:t>
            </a:r>
            <a:br>
              <a:rPr lang="en-US" sz="1600">
                <a:solidFill>
                  <a:schemeClr val="dk1"/>
                </a:solidFill>
                <a:latin typeface="Times New Roman"/>
                <a:ea typeface="Times New Roman"/>
                <a:cs typeface="Times New Roman"/>
                <a:sym typeface="Times New Roman"/>
              </a:rPr>
            </a:br>
            <a:endParaRPr b="1" sz="1600">
              <a:solidFill>
                <a:schemeClr val="dk1"/>
              </a:solidFill>
              <a:latin typeface="Times New Roman"/>
              <a:ea typeface="Times New Roman"/>
              <a:cs typeface="Times New Roman"/>
              <a:sym typeface="Times New Roman"/>
            </a:endParaRPr>
          </a:p>
          <a:p>
            <a:pPr indent="-211089" lvl="0" marL="457200" rtl="0" algn="l">
              <a:lnSpc>
                <a:spcPct val="90000"/>
              </a:lnSpc>
              <a:spcBef>
                <a:spcPts val="1000"/>
              </a:spcBef>
              <a:spcAft>
                <a:spcPts val="0"/>
              </a:spcAft>
              <a:buSzPts val="1800"/>
              <a:buNone/>
            </a:pPr>
            <a:r>
              <a:t/>
            </a:r>
            <a:endParaRPr b="1" sz="16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51"/>
          <p:cNvSpPr txBox="1"/>
          <p:nvPr/>
        </p:nvSpPr>
        <p:spPr>
          <a:xfrm>
            <a:off x="612140" y="972909"/>
            <a:ext cx="7901940" cy="21544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73239"/>
                </a:solidFill>
                <a:latin typeface="Times New Roman"/>
                <a:ea typeface="Times New Roman"/>
                <a:cs typeface="Times New Roman"/>
                <a:sym typeface="Times New Roman"/>
              </a:rPr>
              <a:t>While estimating the cost of the software, Lines of Code(LOC) and Function Points (FP) are used to measure which of the following? </a:t>
            </a:r>
            <a:endParaRPr/>
          </a:p>
          <a:p>
            <a:pPr indent="0" lvl="0" marL="0" marR="0" rtl="0" algn="l">
              <a:lnSpc>
                <a:spcPct val="100000"/>
              </a:lnSpc>
              <a:spcBef>
                <a:spcPts val="2400"/>
              </a:spcBef>
              <a:spcAft>
                <a:spcPts val="0"/>
              </a:spcAft>
              <a:buClr>
                <a:srgbClr val="000000"/>
              </a:buClr>
              <a:buSzPts val="1400"/>
              <a:buFont typeface="Arial"/>
              <a:buNone/>
            </a:pPr>
            <a:r>
              <a:rPr b="0" i="0" lang="en-US" sz="1400" u="none" cap="none" strike="noStrike">
                <a:solidFill>
                  <a:srgbClr val="273239"/>
                </a:solidFill>
                <a:latin typeface="Times New Roman"/>
                <a:ea typeface="Times New Roman"/>
                <a:cs typeface="Times New Roman"/>
                <a:sym typeface="Times New Roman"/>
              </a:rPr>
              <a:t>(A) Length of Code</a:t>
            </a:r>
            <a:endParaRPr/>
          </a:p>
          <a:p>
            <a:pPr indent="0" lvl="0" marL="0" marR="0" rtl="0" algn="l">
              <a:lnSpc>
                <a:spcPct val="100000"/>
              </a:lnSpc>
              <a:spcBef>
                <a:spcPts val="1200"/>
              </a:spcBef>
              <a:spcAft>
                <a:spcPts val="0"/>
              </a:spcAft>
              <a:buClr>
                <a:srgbClr val="000000"/>
              </a:buClr>
              <a:buSzPts val="1400"/>
              <a:buFont typeface="Arial"/>
              <a:buNone/>
            </a:pPr>
            <a:r>
              <a:rPr b="1" i="0" lang="en-US" sz="1400" u="none" cap="none" strike="noStrike">
                <a:solidFill>
                  <a:srgbClr val="273239"/>
                </a:solidFill>
                <a:latin typeface="Times New Roman"/>
                <a:ea typeface="Times New Roman"/>
                <a:cs typeface="Times New Roman"/>
                <a:sym typeface="Times New Roman"/>
              </a:rPr>
              <a:t>(B)</a:t>
            </a:r>
            <a:r>
              <a:rPr b="0" i="0" lang="en-US" sz="1400" u="none" cap="none" strike="noStrike">
                <a:solidFill>
                  <a:srgbClr val="273239"/>
                </a:solidFill>
                <a:latin typeface="Times New Roman"/>
                <a:ea typeface="Times New Roman"/>
                <a:cs typeface="Times New Roman"/>
                <a:sym typeface="Times New Roman"/>
              </a:rPr>
              <a:t> </a:t>
            </a:r>
            <a:r>
              <a:rPr b="1" i="0" lang="en-US" sz="1400" u="none" cap="none" strike="noStrike">
                <a:solidFill>
                  <a:srgbClr val="273239"/>
                </a:solidFill>
                <a:latin typeface="Times New Roman"/>
                <a:ea typeface="Times New Roman"/>
                <a:cs typeface="Times New Roman"/>
                <a:sym typeface="Times New Roman"/>
              </a:rPr>
              <a:t>Size of Software</a:t>
            </a:r>
            <a:endParaRPr/>
          </a:p>
          <a:p>
            <a:pPr indent="0" lvl="0" marL="0" marR="0" rtl="0" algn="l">
              <a:lnSpc>
                <a:spcPct val="100000"/>
              </a:lnSpc>
              <a:spcBef>
                <a:spcPts val="1200"/>
              </a:spcBef>
              <a:spcAft>
                <a:spcPts val="0"/>
              </a:spcAft>
              <a:buClr>
                <a:srgbClr val="000000"/>
              </a:buClr>
              <a:buSzPts val="1400"/>
              <a:buFont typeface="Arial"/>
              <a:buNone/>
            </a:pPr>
            <a:r>
              <a:rPr b="0" i="0" lang="en-US" sz="1400" u="none" cap="none" strike="noStrike">
                <a:solidFill>
                  <a:srgbClr val="273239"/>
                </a:solidFill>
                <a:latin typeface="Times New Roman"/>
                <a:ea typeface="Times New Roman"/>
                <a:cs typeface="Times New Roman"/>
                <a:sym typeface="Times New Roman"/>
              </a:rPr>
              <a:t>(C) Functionality of Software</a:t>
            </a:r>
            <a:endParaRPr/>
          </a:p>
          <a:p>
            <a:pPr indent="0" lvl="0" marL="0" marR="0" rtl="0" algn="l">
              <a:lnSpc>
                <a:spcPct val="100000"/>
              </a:lnSpc>
              <a:spcBef>
                <a:spcPts val="1200"/>
              </a:spcBef>
              <a:spcAft>
                <a:spcPts val="0"/>
              </a:spcAft>
              <a:buClr>
                <a:srgbClr val="000000"/>
              </a:buClr>
              <a:buSzPts val="1400"/>
              <a:buFont typeface="Arial"/>
              <a:buNone/>
            </a:pPr>
            <a:r>
              <a:rPr b="0" i="0" lang="en-US" sz="1400" u="none" cap="none" strike="noStrike">
                <a:solidFill>
                  <a:srgbClr val="273239"/>
                </a:solidFill>
                <a:latin typeface="Times New Roman"/>
                <a:ea typeface="Times New Roman"/>
                <a:cs typeface="Times New Roman"/>
                <a:sym typeface="Times New Roman"/>
              </a:rPr>
              <a:t>(D) None of the Above</a:t>
            </a:r>
            <a:endParaRPr/>
          </a:p>
        </p:txBody>
      </p:sp>
      <p:sp>
        <p:nvSpPr>
          <p:cNvPr id="230" name="Google Shape;230;p51"/>
          <p:cNvSpPr txBox="1"/>
          <p:nvPr/>
        </p:nvSpPr>
        <p:spPr>
          <a:xfrm>
            <a:off x="621030" y="3205480"/>
            <a:ext cx="7901940" cy="1708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273239"/>
                </a:solidFill>
                <a:latin typeface="Times New Roman"/>
                <a:ea typeface="Times New Roman"/>
                <a:cs typeface="Times New Roman"/>
                <a:sym typeface="Times New Roman"/>
              </a:rPr>
              <a:t>In functional point analysis, the number of complexity adjustment factors</a:t>
            </a:r>
            <a:endParaRPr/>
          </a:p>
          <a:p>
            <a:pPr indent="0" lvl="0" marL="0" marR="0" rtl="0" algn="just">
              <a:lnSpc>
                <a:spcPct val="100000"/>
              </a:lnSpc>
              <a:spcBef>
                <a:spcPts val="1800"/>
              </a:spcBef>
              <a:spcAft>
                <a:spcPts val="0"/>
              </a:spcAft>
              <a:buClr>
                <a:srgbClr val="000000"/>
              </a:buClr>
              <a:buSzPts val="1400"/>
              <a:buFont typeface="Arial"/>
              <a:buNone/>
            </a:pPr>
            <a:r>
              <a:rPr b="0" i="0" lang="en-US" sz="1400" u="none" cap="none" strike="noStrike">
                <a:solidFill>
                  <a:srgbClr val="273239"/>
                </a:solidFill>
                <a:latin typeface="Times New Roman"/>
                <a:ea typeface="Times New Roman"/>
                <a:cs typeface="Times New Roman"/>
                <a:sym typeface="Times New Roman"/>
              </a:rPr>
              <a:t>(A) 10</a:t>
            </a:r>
            <a:endParaRPr/>
          </a:p>
          <a:p>
            <a:pPr indent="0" lvl="0" marL="0" marR="0" rtl="0" algn="just">
              <a:lnSpc>
                <a:spcPct val="100000"/>
              </a:lnSpc>
              <a:spcBef>
                <a:spcPts val="750"/>
              </a:spcBef>
              <a:spcAft>
                <a:spcPts val="0"/>
              </a:spcAft>
              <a:buClr>
                <a:srgbClr val="000000"/>
              </a:buClr>
              <a:buSzPts val="1400"/>
              <a:buFont typeface="Arial"/>
              <a:buNone/>
            </a:pPr>
            <a:r>
              <a:rPr b="0" i="0" lang="en-US" sz="1400" u="none" cap="none" strike="noStrike">
                <a:solidFill>
                  <a:srgbClr val="273239"/>
                </a:solidFill>
                <a:latin typeface="Times New Roman"/>
                <a:ea typeface="Times New Roman"/>
                <a:cs typeface="Times New Roman"/>
                <a:sym typeface="Times New Roman"/>
              </a:rPr>
              <a:t>(B) 12</a:t>
            </a:r>
            <a:endParaRPr/>
          </a:p>
          <a:p>
            <a:pPr indent="0" lvl="0" marL="0" marR="0" rtl="0" algn="just">
              <a:lnSpc>
                <a:spcPct val="100000"/>
              </a:lnSpc>
              <a:spcBef>
                <a:spcPts val="750"/>
              </a:spcBef>
              <a:spcAft>
                <a:spcPts val="0"/>
              </a:spcAft>
              <a:buClr>
                <a:srgbClr val="000000"/>
              </a:buClr>
              <a:buSzPts val="1400"/>
              <a:buFont typeface="Arial"/>
              <a:buNone/>
            </a:pPr>
            <a:r>
              <a:rPr b="1" i="0" lang="en-US" sz="1400" u="none" cap="none" strike="noStrike">
                <a:solidFill>
                  <a:srgbClr val="273239"/>
                </a:solidFill>
                <a:latin typeface="Times New Roman"/>
                <a:ea typeface="Times New Roman"/>
                <a:cs typeface="Times New Roman"/>
                <a:sym typeface="Times New Roman"/>
              </a:rPr>
              <a:t>(C) 14</a:t>
            </a:r>
            <a:endParaRPr/>
          </a:p>
          <a:p>
            <a:pPr indent="0" lvl="0" marL="0" marR="0" rtl="0" algn="just">
              <a:lnSpc>
                <a:spcPct val="100000"/>
              </a:lnSpc>
              <a:spcBef>
                <a:spcPts val="750"/>
              </a:spcBef>
              <a:spcAft>
                <a:spcPts val="0"/>
              </a:spcAft>
              <a:buNone/>
            </a:pPr>
            <a:r>
              <a:rPr b="0" i="0" lang="en-US" sz="1400" u="none" cap="none" strike="noStrike">
                <a:solidFill>
                  <a:srgbClr val="273239"/>
                </a:solidFill>
                <a:latin typeface="Times New Roman"/>
                <a:ea typeface="Times New Roman"/>
                <a:cs typeface="Times New Roman"/>
                <a:sym typeface="Times New Roman"/>
              </a:rPr>
              <a:t>(D) 20</a:t>
            </a:r>
            <a:endParaRPr/>
          </a:p>
        </p:txBody>
      </p:sp>
      <p:sp>
        <p:nvSpPr>
          <p:cNvPr id="231" name="Google Shape;231;p51"/>
          <p:cNvSpPr txBox="1"/>
          <p:nvPr>
            <p:ph type="title"/>
          </p:nvPr>
        </p:nvSpPr>
        <p:spPr>
          <a:xfrm>
            <a:off x="107504" y="116632"/>
            <a:ext cx="3837607" cy="844332"/>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0000"/>
              </a:buClr>
              <a:buSzPts val="1800"/>
              <a:buNone/>
            </a:pPr>
            <a:r>
              <a:rPr lang="en-US" sz="3200">
                <a:solidFill>
                  <a:schemeClr val="dk1"/>
                </a:solidFill>
                <a:latin typeface="Times New Roman"/>
                <a:ea typeface="Times New Roman"/>
                <a:cs typeface="Times New Roman"/>
                <a:sym typeface="Times New Roman"/>
              </a:rPr>
              <a:t>MCQ Questions</a:t>
            </a:r>
            <a:endParaRPr/>
          </a:p>
        </p:txBody>
      </p:sp>
      <p:sp>
        <p:nvSpPr>
          <p:cNvPr id="232" name="Google Shape;232;p51"/>
          <p:cNvSpPr txBox="1"/>
          <p:nvPr/>
        </p:nvSpPr>
        <p:spPr>
          <a:xfrm>
            <a:off x="621030" y="5035560"/>
            <a:ext cx="4643120" cy="166949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1400" u="none" cap="none" strike="noStrike">
                <a:solidFill>
                  <a:srgbClr val="000000"/>
                </a:solidFill>
                <a:latin typeface="Times New Roman"/>
                <a:ea typeface="Times New Roman"/>
                <a:cs typeface="Times New Roman"/>
                <a:sym typeface="Times New Roman"/>
              </a:rPr>
              <a:t>What is a project scope?</a:t>
            </a:r>
            <a:endParaRPr/>
          </a:p>
          <a:p>
            <a:pPr indent="-342900" lvl="0" marL="342900" marR="0" rtl="0" algn="l">
              <a:lnSpc>
                <a:spcPct val="150000"/>
              </a:lnSpc>
              <a:spcBef>
                <a:spcPts val="0"/>
              </a:spcBef>
              <a:spcAft>
                <a:spcPts val="0"/>
              </a:spcAft>
              <a:buClr>
                <a:srgbClr val="000000"/>
              </a:buClr>
              <a:buSzPts val="1400"/>
              <a:buFont typeface="Arial"/>
              <a:buAutoNum type="alphaUcParenBoth"/>
            </a:pPr>
            <a:r>
              <a:rPr b="0" i="0" lang="en-US" sz="1400" u="none" cap="none" strike="noStrike">
                <a:solidFill>
                  <a:srgbClr val="000000"/>
                </a:solidFill>
                <a:latin typeface="Times New Roman"/>
                <a:ea typeface="Times New Roman"/>
                <a:cs typeface="Times New Roman"/>
                <a:sym typeface="Times New Roman"/>
              </a:rPr>
              <a:t>The project’s timeline</a:t>
            </a:r>
            <a:endParaRPr/>
          </a:p>
          <a:p>
            <a:pPr indent="-342900" lvl="0" marL="342900" marR="0" rtl="0" algn="l">
              <a:lnSpc>
                <a:spcPct val="150000"/>
              </a:lnSpc>
              <a:spcBef>
                <a:spcPts val="0"/>
              </a:spcBef>
              <a:spcAft>
                <a:spcPts val="0"/>
              </a:spcAft>
              <a:buClr>
                <a:srgbClr val="000000"/>
              </a:buClr>
              <a:buSzPts val="1400"/>
              <a:buFont typeface="Arial"/>
              <a:buAutoNum type="alphaUcParenBoth"/>
            </a:pPr>
            <a:r>
              <a:rPr b="1" i="0" lang="en-US" sz="1400" u="none" cap="none" strike="noStrike">
                <a:solidFill>
                  <a:srgbClr val="000000"/>
                </a:solidFill>
                <a:latin typeface="Times New Roman"/>
                <a:ea typeface="Times New Roman"/>
                <a:cs typeface="Times New Roman"/>
                <a:sym typeface="Times New Roman"/>
              </a:rPr>
              <a:t>The project’s goals and deliverables</a:t>
            </a:r>
            <a:endParaRPr/>
          </a:p>
          <a:p>
            <a:pPr indent="-342900" lvl="0" marL="342900" marR="0" rtl="0" algn="l">
              <a:lnSpc>
                <a:spcPct val="150000"/>
              </a:lnSpc>
              <a:spcBef>
                <a:spcPts val="0"/>
              </a:spcBef>
              <a:spcAft>
                <a:spcPts val="0"/>
              </a:spcAft>
              <a:buClr>
                <a:srgbClr val="000000"/>
              </a:buClr>
              <a:buSzPts val="1400"/>
              <a:buFont typeface="Arial"/>
              <a:buAutoNum type="alphaUcParenBoth"/>
            </a:pPr>
            <a:r>
              <a:rPr b="0" i="0" lang="en-US" sz="1400" u="none" cap="none" strike="noStrike">
                <a:solidFill>
                  <a:srgbClr val="000000"/>
                </a:solidFill>
                <a:latin typeface="Times New Roman"/>
                <a:ea typeface="Times New Roman"/>
                <a:cs typeface="Times New Roman"/>
                <a:sym typeface="Times New Roman"/>
              </a:rPr>
              <a:t>The project’s risk management plan</a:t>
            </a:r>
            <a:endParaRPr/>
          </a:p>
          <a:p>
            <a:pPr indent="-342900" lvl="0" marL="342900" marR="0" rtl="0" algn="l">
              <a:lnSpc>
                <a:spcPct val="150000"/>
              </a:lnSpc>
              <a:spcBef>
                <a:spcPts val="0"/>
              </a:spcBef>
              <a:spcAft>
                <a:spcPts val="0"/>
              </a:spcAft>
              <a:buClr>
                <a:srgbClr val="000000"/>
              </a:buClr>
              <a:buSzPts val="1400"/>
              <a:buFont typeface="Arial"/>
              <a:buAutoNum type="alphaUcParenBoth"/>
            </a:pPr>
            <a:r>
              <a:rPr b="0" i="0" lang="en-US" sz="1400" u="none" cap="none" strike="noStrike">
                <a:solidFill>
                  <a:srgbClr val="000000"/>
                </a:solidFill>
                <a:latin typeface="Times New Roman"/>
                <a:ea typeface="Times New Roman"/>
                <a:cs typeface="Times New Roman"/>
                <a:sym typeface="Times New Roman"/>
              </a:rPr>
              <a:t>The project’s budget</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52"/>
          <p:cNvSpPr txBox="1"/>
          <p:nvPr>
            <p:ph type="title"/>
          </p:nvPr>
        </p:nvSpPr>
        <p:spPr>
          <a:xfrm>
            <a:off x="107504" y="116632"/>
            <a:ext cx="3837607" cy="844332"/>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000000"/>
              </a:buClr>
              <a:buSzPts val="1800"/>
              <a:buNone/>
            </a:pPr>
            <a:r>
              <a:rPr lang="en-US" sz="3200">
                <a:solidFill>
                  <a:schemeClr val="dk1"/>
                </a:solidFill>
                <a:latin typeface="Times New Roman"/>
                <a:ea typeface="Times New Roman"/>
                <a:cs typeface="Times New Roman"/>
                <a:sym typeface="Times New Roman"/>
              </a:rPr>
              <a:t>MCQ Questions</a:t>
            </a:r>
            <a:endParaRPr/>
          </a:p>
        </p:txBody>
      </p:sp>
      <p:sp>
        <p:nvSpPr>
          <p:cNvPr id="238" name="Google Shape;238;p52"/>
          <p:cNvSpPr txBox="1"/>
          <p:nvPr/>
        </p:nvSpPr>
        <p:spPr>
          <a:xfrm>
            <a:off x="736600" y="1039783"/>
            <a:ext cx="5369560" cy="2181175"/>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What is the first step in the project management process?</a:t>
            </a:r>
            <a:endParaRPr/>
          </a:p>
          <a:p>
            <a:pPr indent="0" lvl="0" marL="0" marR="0" rtl="0" algn="l">
              <a:lnSpc>
                <a:spcPct val="2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a) </a:t>
            </a:r>
            <a:r>
              <a:rPr b="1" i="0" lang="en-US" sz="1400" u="none" cap="none" strike="noStrike">
                <a:solidFill>
                  <a:srgbClr val="000000"/>
                </a:solidFill>
                <a:latin typeface="Times New Roman"/>
                <a:ea typeface="Times New Roman"/>
                <a:cs typeface="Times New Roman"/>
                <a:sym typeface="Times New Roman"/>
              </a:rPr>
              <a:t>Initiating the project</a:t>
            </a:r>
            <a:endParaRPr/>
          </a:p>
          <a:p>
            <a:pPr indent="0" lvl="0" marL="0" marR="0" rtl="0" algn="l">
              <a:lnSpc>
                <a:spcPct val="2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b) Monitoring project progress</a:t>
            </a:r>
            <a:endParaRPr/>
          </a:p>
          <a:p>
            <a:pPr indent="0" lvl="0" marL="0" marR="0" rtl="0" algn="l">
              <a:lnSpc>
                <a:spcPct val="2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c) Defining project risks</a:t>
            </a:r>
            <a:endParaRPr/>
          </a:p>
          <a:p>
            <a:pPr indent="0" lvl="0" marL="0" marR="0" rtl="0" algn="l">
              <a:lnSpc>
                <a:spcPct val="2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d) Planning the project timeline</a:t>
            </a:r>
            <a:endParaRPr b="0" i="0" sz="1400" u="none" cap="none" strike="noStrike">
              <a:solidFill>
                <a:srgbClr val="000000"/>
              </a:solidFill>
              <a:latin typeface="Times New Roman"/>
              <a:ea typeface="Times New Roman"/>
              <a:cs typeface="Times New Roman"/>
              <a:sym typeface="Times New Roman"/>
            </a:endParaRPr>
          </a:p>
        </p:txBody>
      </p:sp>
      <p:sp>
        <p:nvSpPr>
          <p:cNvPr id="239" name="Google Shape;239;p52"/>
          <p:cNvSpPr txBox="1"/>
          <p:nvPr/>
        </p:nvSpPr>
        <p:spPr>
          <a:xfrm>
            <a:off x="736600" y="3637043"/>
            <a:ext cx="5044440" cy="2181175"/>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Which of the following is a common reason for project failure?</a:t>
            </a:r>
            <a:endParaRPr/>
          </a:p>
          <a:p>
            <a:pPr indent="0" lvl="0" marL="0" marR="0" rtl="0" algn="l">
              <a:lnSpc>
                <a:spcPct val="2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a) Clear project goals and timelines</a:t>
            </a:r>
            <a:endParaRPr/>
          </a:p>
          <a:p>
            <a:pPr indent="0" lvl="0" marL="0" marR="0" rtl="0" algn="l">
              <a:lnSpc>
                <a:spcPct val="200000"/>
              </a:lnSpc>
              <a:spcBef>
                <a:spcPts val="0"/>
              </a:spcBef>
              <a:spcAft>
                <a:spcPts val="0"/>
              </a:spcAft>
              <a:buNone/>
            </a:pPr>
            <a:r>
              <a:rPr b="1" i="0" lang="en-US" sz="1400" u="none" cap="none" strike="noStrike">
                <a:solidFill>
                  <a:srgbClr val="000000"/>
                </a:solidFill>
                <a:latin typeface="Times New Roman"/>
                <a:ea typeface="Times New Roman"/>
                <a:cs typeface="Times New Roman"/>
                <a:sym typeface="Times New Roman"/>
              </a:rPr>
              <a:t>b) Insufficient planning and poor communication</a:t>
            </a:r>
            <a:endParaRPr/>
          </a:p>
          <a:p>
            <a:pPr indent="0" lvl="0" marL="0" marR="0" rtl="0" algn="l">
              <a:lnSpc>
                <a:spcPct val="2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c) Proper resource allocation</a:t>
            </a:r>
            <a:endParaRPr/>
          </a:p>
          <a:p>
            <a:pPr indent="0" lvl="0" marL="0" marR="0" rtl="0" algn="l">
              <a:lnSpc>
                <a:spcPct val="200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d) Regular stakeholder meetings</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7"/>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p>
            <a:pPr indent="-228600" lvl="0" marL="457200" rtl="0" algn="ctr">
              <a:lnSpc>
                <a:spcPct val="90000"/>
              </a:lnSpc>
              <a:spcBef>
                <a:spcPts val="1000"/>
              </a:spcBef>
              <a:spcAft>
                <a:spcPts val="0"/>
              </a:spcAft>
              <a:buSzPts val="1800"/>
              <a:buNone/>
            </a:pPr>
            <a:r>
              <a:t/>
            </a:r>
            <a:endParaRPr sz="3200">
              <a:solidFill>
                <a:schemeClr val="dk1"/>
              </a:solidFill>
              <a:latin typeface="Times New Roman"/>
              <a:ea typeface="Times New Roman"/>
              <a:cs typeface="Times New Roman"/>
              <a:sym typeface="Times New Roman"/>
            </a:endParaRPr>
          </a:p>
          <a:p>
            <a:pPr indent="-228600" lvl="0" marL="457200" rtl="0" algn="ctr">
              <a:lnSpc>
                <a:spcPct val="90000"/>
              </a:lnSpc>
              <a:spcBef>
                <a:spcPts val="1000"/>
              </a:spcBef>
              <a:spcAft>
                <a:spcPts val="0"/>
              </a:spcAft>
              <a:buSzPts val="1800"/>
              <a:buNone/>
            </a:pPr>
            <a:r>
              <a:t/>
            </a:r>
            <a:endParaRPr sz="3200">
              <a:solidFill>
                <a:schemeClr val="dk1"/>
              </a:solidFill>
              <a:latin typeface="Times New Roman"/>
              <a:ea typeface="Times New Roman"/>
              <a:cs typeface="Times New Roman"/>
              <a:sym typeface="Times New Roman"/>
            </a:endParaRPr>
          </a:p>
          <a:p>
            <a:pPr indent="0" lvl="0" marL="0" rtl="0" algn="ctr">
              <a:lnSpc>
                <a:spcPct val="90000"/>
              </a:lnSpc>
              <a:spcBef>
                <a:spcPts val="1000"/>
              </a:spcBef>
              <a:spcAft>
                <a:spcPts val="0"/>
              </a:spcAft>
              <a:buSzPts val="1800"/>
              <a:buNone/>
            </a:pPr>
            <a:r>
              <a:rPr lang="en-US" sz="3200">
                <a:solidFill>
                  <a:schemeClr val="dk1"/>
                </a:solidFill>
                <a:latin typeface="Times New Roman"/>
                <a:ea typeface="Times New Roman"/>
                <a:cs typeface="Times New Roman"/>
                <a:sym typeface="Times New Roman"/>
              </a:rPr>
              <a:t>THANKS</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name="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1999-01-02T15:25:49Z</dcterms:created>
  <dc:creator>Rosalie Ocker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2</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rxo4@psu.edu</vt:lpwstr>
  </property>
  <property fmtid="{D5CDD505-2E9C-101B-9397-08002B2CF9AE}" pid="8" name="HomePage">
    <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C:\My Documents\540</vt:lpwstr>
  </property>
</Properties>
</file>
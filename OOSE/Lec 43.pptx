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856" r:id="rId2"/>
    <p:sldId id="257" r:id="rId3"/>
    <p:sldId id="767" r:id="rId4"/>
    <p:sldId id="768" r:id="rId5"/>
    <p:sldId id="769" r:id="rId6"/>
    <p:sldId id="770" r:id="rId7"/>
    <p:sldId id="771" r:id="rId8"/>
    <p:sldId id="772" r:id="rId9"/>
    <p:sldId id="773" r:id="rId10"/>
    <p:sldId id="780" r:id="rId11"/>
    <p:sldId id="857" r:id="rId12"/>
    <p:sldId id="313" r:id="rId13"/>
  </p:sldIdLst>
  <p:sldSz cx="9144000" cy="6858000" type="screen4x3"/>
  <p:notesSz cx="7559675" cy="10691813"/>
  <p:embeddedFontLst>
    <p:embeddedFont>
      <p:font typeface="Times" panose="02020603050405020304" pitchFamily="18" charset="0"/>
      <p:regular r:id="rId15"/>
      <p:bold r:id="rId16"/>
      <p:italic r:id="rId17"/>
      <p:boldItalic r:id="rId18"/>
    </p:embeddedFont>
    <p:embeddedFont>
      <p:font typeface="Times New Roman Bold" panose="02020803070505020304" pitchFamily="18" charset="0"/>
      <p:bold r:id="rId19"/>
    </p:embeddedFon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jBLrMujGmK0mcIUsVW4HHj27w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6D8C4D-A2DB-48BA-B2CD-EECFE764FD55}">
  <a:tblStyle styleId="{866D8C4D-A2DB-48BA-B2CD-EECFE764FD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72"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750137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223261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8303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3876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44885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42281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3676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1"/>
        <p:cNvGrpSpPr/>
        <p:nvPr/>
      </p:nvGrpSpPr>
      <p:grpSpPr>
        <a:xfrm>
          <a:off x="0" y="0"/>
          <a:ext cx="0" cy="0"/>
          <a:chOff x="0" y="0"/>
          <a:chExt cx="0" cy="0"/>
        </a:xfrm>
      </p:grpSpPr>
      <p:sp>
        <p:nvSpPr>
          <p:cNvPr id="42" name="Google Shape;42;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7" name="Google Shape;47;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51"/>
        <p:cNvGrpSpPr/>
        <p:nvPr/>
      </p:nvGrpSpPr>
      <p:grpSpPr>
        <a:xfrm>
          <a:off x="0" y="0"/>
          <a:ext cx="0" cy="0"/>
          <a:chOff x="0" y="0"/>
          <a:chExt cx="0" cy="0"/>
        </a:xfrm>
      </p:grpSpPr>
      <p:sp>
        <p:nvSpPr>
          <p:cNvPr id="52" name="Google Shape;52;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3" name="Google Shape;53;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60"/>
        <p:cNvGrpSpPr/>
        <p:nvPr/>
      </p:nvGrpSpPr>
      <p:grpSpPr>
        <a:xfrm>
          <a:off x="0" y="0"/>
          <a:ext cx="0" cy="0"/>
          <a:chOff x="0" y="0"/>
          <a:chExt cx="0" cy="0"/>
        </a:xfrm>
      </p:grpSpPr>
      <p:sp>
        <p:nvSpPr>
          <p:cNvPr id="61" name="Google Shape;61;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6"/>
        <p:cNvGrpSpPr/>
        <p:nvPr/>
      </p:nvGrpSpPr>
      <p:grpSpPr>
        <a:xfrm>
          <a:off x="0" y="0"/>
          <a:ext cx="0" cy="0"/>
          <a:chOff x="0" y="0"/>
          <a:chExt cx="0" cy="0"/>
        </a:xfrm>
      </p:grpSpPr>
      <p:sp>
        <p:nvSpPr>
          <p:cNvPr id="67" name="Google Shape;67;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7"/>
        <p:cNvGrpSpPr/>
        <p:nvPr/>
      </p:nvGrpSpPr>
      <p:grpSpPr>
        <a:xfrm>
          <a:off x="0" y="0"/>
          <a:ext cx="0" cy="0"/>
          <a:chOff x="0" y="0"/>
          <a:chExt cx="0" cy="0"/>
        </a:xfrm>
      </p:grpSpPr>
      <p:sp>
        <p:nvSpPr>
          <p:cNvPr id="78" name="Google Shape;78;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84"/>
        <p:cNvGrpSpPr/>
        <p:nvPr/>
      </p:nvGrpSpPr>
      <p:grpSpPr>
        <a:xfrm>
          <a:off x="0" y="0"/>
          <a:ext cx="0" cy="0"/>
          <a:chOff x="0" y="0"/>
          <a:chExt cx="0" cy="0"/>
        </a:xfrm>
      </p:grpSpPr>
      <p:sp>
        <p:nvSpPr>
          <p:cNvPr id="85" name="Google Shape;85;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E11729AC-FBB6-50BF-140F-6DFFE9DCD4C4}"/>
              </a:ext>
            </a:extLst>
          </p:cNvPr>
          <p:cNvSpPr>
            <a:spLocks noGrp="1"/>
          </p:cNvSpPr>
          <p:nvPr>
            <p:ph type="sldNum" sz="quarter" idx="10"/>
          </p:nvPr>
        </p:nvSpPr>
        <p:spPr/>
        <p:txBody>
          <a:bodyPr/>
          <a:lstStyle>
            <a:lvl1pPr>
              <a:defRPr/>
            </a:lvl1pPr>
          </a:lstStyle>
          <a:p>
            <a:r>
              <a:rPr lang="en-US" altLang="en-US"/>
              <a:t>12.</a:t>
            </a:r>
            <a:fld id="{79B5908F-1003-4FE2-9619-748025AA9679}" type="slidenum">
              <a:rPr lang="en-US" altLang="en-US"/>
              <a:pPr/>
              <a:t>‹#›</a:t>
            </a:fld>
            <a:endParaRPr lang="en-US" altLang="en-US"/>
          </a:p>
        </p:txBody>
      </p:sp>
    </p:spTree>
    <p:extLst>
      <p:ext uri="{BB962C8B-B14F-4D97-AF65-F5344CB8AC3E}">
        <p14:creationId xmlns:p14="http://schemas.microsoft.com/office/powerpoint/2010/main" val="2599178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p:nvPr/>
        </p:nvSpPr>
        <p:spPr>
          <a:xfrm>
            <a:off x="947786" y="293238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lvl="0" algn="ctr">
              <a:spcBef>
                <a:spcPts val="400"/>
              </a:spcBef>
              <a:buSzPts val="2000"/>
            </a:pPr>
            <a:r>
              <a:rPr lang="en-US" sz="2400" b="1" dirty="0" smtClean="0">
                <a:solidFill>
                  <a:srgbClr val="0070C0"/>
                </a:solidFill>
                <a:latin typeface="Times New Roman"/>
                <a:ea typeface="Times New Roman"/>
                <a:cs typeface="Times New Roman"/>
                <a:sym typeface="Times New Roman"/>
              </a:rPr>
              <a:t>Risk </a:t>
            </a:r>
            <a:r>
              <a:rPr lang="en-US" sz="2400" b="1" dirty="0">
                <a:solidFill>
                  <a:srgbClr val="0070C0"/>
                </a:solidFill>
                <a:latin typeface="Times New Roman"/>
                <a:ea typeface="Times New Roman"/>
                <a:cs typeface="Times New Roman"/>
                <a:sym typeface="Times New Roman"/>
              </a:rPr>
              <a:t>Mitigation, Monitoring </a:t>
            </a:r>
            <a:r>
              <a:rPr lang="en-US" sz="2400" b="1" dirty="0" smtClean="0">
                <a:solidFill>
                  <a:srgbClr val="0070C0"/>
                </a:solidFill>
                <a:latin typeface="Times New Roman"/>
                <a:ea typeface="Times New Roman"/>
                <a:cs typeface="Times New Roman"/>
                <a:sym typeface="Times New Roman"/>
              </a:rPr>
              <a:t>and Management </a:t>
            </a:r>
            <a:r>
              <a:rPr lang="en-US" sz="2400" b="1" dirty="0">
                <a:solidFill>
                  <a:srgbClr val="0070C0"/>
                </a:solidFill>
                <a:latin typeface="Times New Roman"/>
                <a:ea typeface="Times New Roman"/>
                <a:cs typeface="Times New Roman"/>
                <a:sym typeface="Times New Roman"/>
              </a:rPr>
              <a:t>(RMMM) </a:t>
            </a:r>
            <a:r>
              <a:rPr lang="en-US" sz="2400" b="1" dirty="0" smtClean="0">
                <a:solidFill>
                  <a:srgbClr val="0070C0"/>
                </a:solidFill>
                <a:latin typeface="Times New Roman"/>
                <a:ea typeface="Times New Roman"/>
                <a:cs typeface="Times New Roman"/>
                <a:sym typeface="Times New Roman"/>
              </a:rPr>
              <a:t>plan</a:t>
            </a:r>
            <a:endParaRPr lang="en-US" sz="2400" b="1"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3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xmlns="" id="{C9F80F3F-71B9-9667-D443-B755FD9B5632}"/>
              </a:ext>
            </a:extLst>
          </p:cNvPr>
          <p:cNvSpPr txBox="1"/>
          <p:nvPr/>
        </p:nvSpPr>
        <p:spPr>
          <a:xfrm>
            <a:off x="1398799" y="2102069"/>
            <a:ext cx="6346401" cy="1436291"/>
          </a:xfrm>
          <a:prstGeom prst="rect">
            <a:avLst/>
          </a:prstGeom>
          <a:noFill/>
        </p:spPr>
        <p:txBody>
          <a:bodyPr wrap="square">
            <a:spAutoFit/>
          </a:bodyPr>
          <a:lstStyle/>
          <a:p>
            <a:pPr marL="0" marR="0" lvl="0" indent="0" algn="ctr" rtl="0">
              <a:lnSpc>
                <a:spcPct val="100000"/>
              </a:lnSpc>
              <a:spcBef>
                <a:spcPts val="400"/>
              </a:spcBef>
              <a:spcAft>
                <a:spcPts val="0"/>
              </a:spcAft>
              <a:buClr>
                <a:srgbClr val="000000"/>
              </a:buClr>
              <a:buSzPts val="2000"/>
              <a:buFont typeface="Arial"/>
              <a:buNone/>
            </a:pPr>
            <a:r>
              <a:rPr lang="en-US" sz="2800" b="1" dirty="0">
                <a:solidFill>
                  <a:schemeClr val="dk1"/>
                </a:solidFill>
                <a:latin typeface="Times New Roman"/>
                <a:ea typeface="Times New Roman"/>
                <a:cs typeface="Times New Roman"/>
                <a:sym typeface="Times New Roman"/>
              </a:rPr>
              <a:t>Object Oriented Software Engineering (OOSE)</a:t>
            </a: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dirty="0">
                <a:solidFill>
                  <a:schemeClr val="dk1"/>
                </a:solidFill>
                <a:latin typeface="Times New Roman"/>
                <a:ea typeface="Times New Roman"/>
                <a:cs typeface="Times New Roman"/>
                <a:sym typeface="Times New Roman"/>
              </a:rPr>
              <a:t>22CS017</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Times New Roman"/>
                <a:ea typeface="Times New Roman"/>
                <a:cs typeface="Times New Roman"/>
                <a:sym typeface="Times New Roman"/>
              </a:rPr>
              <a:t>Index</a:t>
            </a:r>
          </a:p>
          <a:p>
            <a:pPr marL="0" marR="0" lvl="0" indent="0" rtl="0">
              <a:lnSpc>
                <a:spcPct val="100000"/>
              </a:lnSpc>
              <a:spcBef>
                <a:spcPts val="0"/>
              </a:spcBef>
              <a:spcAft>
                <a:spcPts val="0"/>
              </a:spcAft>
              <a:buClr>
                <a:srgbClr val="000000"/>
              </a:buClr>
              <a:buSzPts val="3000"/>
              <a:buFont typeface="Arial"/>
              <a:buNone/>
            </a:pPr>
            <a:endParaRPr sz="3200" b="0" i="0" u="none" strike="noStrike" cap="none" dirty="0">
              <a:solidFill>
                <a:srgbClr val="000000"/>
              </a:solidFill>
              <a:latin typeface="Arial"/>
              <a:ea typeface="Arial"/>
              <a:cs typeface="Arial"/>
              <a:sym typeface="Arial"/>
            </a:endParaRPr>
          </a:p>
        </p:txBody>
      </p:sp>
      <p:sp>
        <p:nvSpPr>
          <p:cNvPr id="104" name="Google Shape;104;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p:txBody>
      </p:sp>
      <p:sp>
        <p:nvSpPr>
          <p:cNvPr id="105" name="Google Shape;105;p2"/>
          <p:cNvSpPr txBox="1">
            <a:spLocks noGrp="1"/>
          </p:cNvSpPr>
          <p:nvPr>
            <p:ph type="body" idx="1"/>
          </p:nvPr>
        </p:nvSpPr>
        <p:spPr>
          <a:xfrm>
            <a:off x="675349" y="1529898"/>
            <a:ext cx="7826002" cy="4039737"/>
          </a:xfrm>
          <a:prstGeom prst="rect">
            <a:avLst/>
          </a:prstGeom>
          <a:noFill/>
          <a:ln>
            <a:noFill/>
          </a:ln>
        </p:spPr>
        <p:txBody>
          <a:bodyPr spcFirstLastPara="1" wrap="square" lIns="0" tIns="0" rIns="0" bIns="0" anchor="t" anchorCtr="0">
            <a:noAutofit/>
          </a:bodyPr>
          <a:lstStyle/>
          <a:p>
            <a:pPr marL="0" indent="0">
              <a:lnSpc>
                <a:spcPct val="150000"/>
              </a:lnSpc>
              <a:spcBef>
                <a:spcPts val="0"/>
              </a:spcBef>
              <a:buSzPts val="2800"/>
              <a:buNone/>
            </a:pPr>
            <a:endParaRPr lang="en-US" sz="2200" b="1" i="0" dirty="0">
              <a:solidFill>
                <a:srgbClr val="000000"/>
              </a:solidFill>
              <a:effectLst/>
              <a:latin typeface="Times" panose="02020603050405020304" pitchFamily="18" charset="0"/>
              <a:cs typeface="Times" panose="02020603050405020304" pitchFamily="18" charset="0"/>
            </a:endParaRPr>
          </a:p>
          <a:p>
            <a:pPr marL="342900">
              <a:lnSpc>
                <a:spcPct val="150000"/>
              </a:lnSpc>
              <a:spcBef>
                <a:spcPts val="0"/>
              </a:spcBef>
              <a:buSzPts val="2800"/>
            </a:pPr>
            <a:r>
              <a:rPr lang="en-US" sz="2200" b="1" i="0" dirty="0">
                <a:solidFill>
                  <a:srgbClr val="000000"/>
                </a:solidFill>
                <a:effectLst/>
                <a:latin typeface="Times" panose="02020603050405020304" pitchFamily="18" charset="0"/>
                <a:cs typeface="Times" panose="02020603050405020304" pitchFamily="18" charset="0"/>
              </a:rPr>
              <a:t>Risk </a:t>
            </a:r>
            <a:r>
              <a:rPr lang="en-US" sz="2200" b="1" i="0" dirty="0" smtClean="0">
                <a:solidFill>
                  <a:srgbClr val="000000"/>
                </a:solidFill>
                <a:effectLst/>
                <a:latin typeface="Times" panose="02020603050405020304" pitchFamily="18" charset="0"/>
                <a:cs typeface="Times" panose="02020603050405020304" pitchFamily="18" charset="0"/>
              </a:rPr>
              <a:t>Mitigation </a:t>
            </a:r>
          </a:p>
          <a:p>
            <a:pPr marL="342900">
              <a:lnSpc>
                <a:spcPct val="150000"/>
              </a:lnSpc>
              <a:spcBef>
                <a:spcPts val="0"/>
              </a:spcBef>
              <a:buSzPts val="2800"/>
            </a:pPr>
            <a:r>
              <a:rPr lang="en-US" sz="2200" b="1" dirty="0" smtClean="0">
                <a:solidFill>
                  <a:srgbClr val="000000"/>
                </a:solidFill>
                <a:latin typeface="Times" panose="02020603050405020304" pitchFamily="18" charset="0"/>
                <a:cs typeface="Times" panose="02020603050405020304" pitchFamily="18" charset="0"/>
              </a:rPr>
              <a:t>Risk Monitoring</a:t>
            </a:r>
          </a:p>
          <a:p>
            <a:pPr marL="342900">
              <a:lnSpc>
                <a:spcPct val="150000"/>
              </a:lnSpc>
              <a:spcBef>
                <a:spcPts val="0"/>
              </a:spcBef>
              <a:buSzPts val="2800"/>
            </a:pPr>
            <a:r>
              <a:rPr lang="en-US" sz="2200" b="1" i="0" dirty="0" smtClean="0">
                <a:solidFill>
                  <a:srgbClr val="000000"/>
                </a:solidFill>
                <a:effectLst/>
                <a:latin typeface="Times" panose="02020603050405020304" pitchFamily="18" charset="0"/>
                <a:cs typeface="Times" panose="02020603050405020304" pitchFamily="18" charset="0"/>
              </a:rPr>
              <a:t>Ris</a:t>
            </a:r>
            <a:r>
              <a:rPr lang="en-US" sz="2200" b="1" dirty="0" smtClean="0">
                <a:solidFill>
                  <a:srgbClr val="000000"/>
                </a:solidFill>
                <a:latin typeface="Times" panose="02020603050405020304" pitchFamily="18" charset="0"/>
                <a:cs typeface="Times" panose="02020603050405020304" pitchFamily="18" charset="0"/>
              </a:rPr>
              <a:t>k Management and Planning</a:t>
            </a:r>
            <a:endParaRPr lang="en-US" sz="2200" b="1" i="0" dirty="0">
              <a:solidFill>
                <a:srgbClr val="000000"/>
              </a:solidFill>
              <a:effectLst/>
              <a:latin typeface="Times" panose="02020603050405020304" pitchFamily="18" charset="0"/>
              <a:cs typeface="Times" panose="02020603050405020304" pitchFamily="18" charset="0"/>
            </a:endParaRPr>
          </a:p>
          <a:p>
            <a:pPr marL="342900">
              <a:lnSpc>
                <a:spcPct val="150000"/>
              </a:lnSpc>
              <a:spcBef>
                <a:spcPts val="0"/>
              </a:spcBef>
              <a:buSzPts val="2800"/>
            </a:pPr>
            <a:r>
              <a:rPr lang="en-US" sz="2200" b="1" i="0" dirty="0" smtClean="0">
                <a:solidFill>
                  <a:srgbClr val="000000"/>
                </a:solidFill>
                <a:effectLst/>
                <a:latin typeface="Times" panose="02020603050405020304" pitchFamily="18" charset="0"/>
                <a:cs typeface="Times" panose="02020603050405020304" pitchFamily="18" charset="0"/>
              </a:rPr>
              <a:t>RMMM plan</a:t>
            </a:r>
          </a:p>
          <a:p>
            <a:pPr marL="342900">
              <a:lnSpc>
                <a:spcPct val="150000"/>
              </a:lnSpc>
              <a:spcBef>
                <a:spcPts val="0"/>
              </a:spcBef>
              <a:buSzPts val="2800"/>
            </a:pPr>
            <a:r>
              <a:rPr lang="en-US" sz="2200" b="1" dirty="0">
                <a:solidFill>
                  <a:srgbClr val="000000"/>
                </a:solidFill>
                <a:latin typeface="Times" panose="02020603050405020304" pitchFamily="18" charset="0"/>
                <a:cs typeface="Times" panose="02020603050405020304" pitchFamily="18" charset="0"/>
              </a:rPr>
              <a:t>RMMM </a:t>
            </a:r>
            <a:r>
              <a:rPr lang="en-US" sz="2200" b="1" dirty="0" smtClean="0">
                <a:solidFill>
                  <a:srgbClr val="000000"/>
                </a:solidFill>
                <a:latin typeface="Times" panose="02020603050405020304" pitchFamily="18" charset="0"/>
                <a:cs typeface="Times" panose="02020603050405020304" pitchFamily="18" charset="0"/>
              </a:rPr>
              <a:t>plan- RIS example</a:t>
            </a:r>
            <a:endParaRPr lang="en-US" sz="2200" b="1" i="0" dirty="0">
              <a:solidFill>
                <a:srgbClr val="000000"/>
              </a:solidFill>
              <a:effectLst/>
              <a:latin typeface="Times" panose="02020603050405020304" pitchFamily="18" charset="0"/>
              <a:cs typeface="Times" panose="02020603050405020304" pitchFamily="18" charset="0"/>
            </a:endParaRPr>
          </a:p>
          <a:p>
            <a:pPr marL="342900">
              <a:lnSpc>
                <a:spcPct val="150000"/>
              </a:lnSpc>
              <a:spcBef>
                <a:spcPts val="0"/>
              </a:spcBef>
              <a:buSzPts val="2800"/>
            </a:pPr>
            <a:r>
              <a:rPr lang="en-IN" sz="2200" b="1" dirty="0">
                <a:solidFill>
                  <a:schemeClr val="tx1"/>
                </a:solidFill>
                <a:latin typeface="Times" panose="02020603050405020304" pitchFamily="18" charset="0"/>
                <a:cs typeface="Times" panose="02020603050405020304" pitchFamily="18" charset="0"/>
              </a:rPr>
              <a:t>Practice Questions</a:t>
            </a:r>
          </a:p>
          <a:p>
            <a:pPr marL="0" indent="0">
              <a:lnSpc>
                <a:spcPct val="150000"/>
              </a:lnSpc>
              <a:spcBef>
                <a:spcPts val="0"/>
              </a:spcBef>
              <a:buSzPts val="2800"/>
              <a:buNone/>
            </a:pPr>
            <a:r>
              <a:rPr lang="en-US" sz="2200" b="1" i="0" dirty="0">
                <a:solidFill>
                  <a:schemeClr val="tx1"/>
                </a:solidFill>
                <a:effectLst/>
                <a:latin typeface="Times" panose="02020603050405020304" pitchFamily="18" charset="0"/>
                <a:cs typeface="Times" panose="02020603050405020304" pitchFamily="18" charset="0"/>
              </a:rPr>
              <a:t> </a:t>
            </a:r>
            <a:endParaRPr lang="en-US" altLang="en-US" sz="2200" b="1" baseline="0" dirty="0">
              <a:solidFill>
                <a:schemeClr val="tx1"/>
              </a:solidFill>
              <a:latin typeface="Times" panose="02020603050405020304" pitchFamily="18" charset="0"/>
              <a:cs typeface="Times" panose="02020603050405020304" pitchFamily="18" charset="0"/>
            </a:endParaRPr>
          </a:p>
          <a:p>
            <a:pPr marL="342900" marR="0" lvl="0" algn="l" rtl="0">
              <a:lnSpc>
                <a:spcPct val="150000"/>
              </a:lnSpc>
              <a:spcBef>
                <a:spcPts val="0"/>
              </a:spcBef>
              <a:spcAft>
                <a:spcPts val="0"/>
              </a:spcAft>
              <a:buClr>
                <a:schemeClr val="dk1"/>
              </a:buClr>
              <a:buSzPts val="2800"/>
              <a:buAutoNum type="arabicPeriod"/>
            </a:pPr>
            <a:endParaRPr lang="en-IN" sz="2200" dirty="0">
              <a:latin typeface="Times" panose="02020603050405020304" pitchFamily="18" charset="0"/>
              <a:ea typeface="Times New Roman"/>
              <a:cs typeface="Times" panose="02020603050405020304" pitchFamily="18" charset="0"/>
              <a:sym typeface="Times New Roman"/>
            </a:endParaRPr>
          </a:p>
          <a:p>
            <a:pPr marL="342900" marR="0" lvl="0" algn="l" rtl="0">
              <a:lnSpc>
                <a:spcPct val="150000"/>
              </a:lnSpc>
              <a:spcBef>
                <a:spcPts val="0"/>
              </a:spcBef>
              <a:spcAft>
                <a:spcPts val="0"/>
              </a:spcAft>
              <a:buClr>
                <a:schemeClr val="dk1"/>
              </a:buClr>
              <a:buSzPts val="2800"/>
              <a:buAutoNum type="arabicPeriod"/>
            </a:pPr>
            <a:endParaRPr lang="en-IN" sz="2200" dirty="0">
              <a:latin typeface="Times" panose="02020603050405020304" pitchFamily="18" charset="0"/>
              <a:ea typeface="Times New Roman"/>
              <a:cs typeface="Times" panose="02020603050405020304" pitchFamily="18" charset="0"/>
              <a:sym typeface="Times New Roman"/>
            </a:endParaRPr>
          </a:p>
          <a:p>
            <a:pPr marL="342900" marR="0" lvl="0" algn="l" rtl="0">
              <a:lnSpc>
                <a:spcPct val="150000"/>
              </a:lnSpc>
              <a:spcBef>
                <a:spcPts val="0"/>
              </a:spcBef>
              <a:spcAft>
                <a:spcPts val="0"/>
              </a:spcAft>
              <a:buClr>
                <a:schemeClr val="dk1"/>
              </a:buClr>
              <a:buSzPts val="2800"/>
              <a:buAutoNum type="arabicPeriod"/>
            </a:pPr>
            <a:endParaRPr lang="en-US" sz="2200" dirty="0">
              <a:latin typeface="Times" panose="02020603050405020304" pitchFamily="18" charset="0"/>
              <a:ea typeface="Times New Roman"/>
              <a:cs typeface="Times" panose="02020603050405020304" pitchFamily="18" charset="0"/>
              <a:sym typeface="Times New Roman"/>
            </a:endParaRPr>
          </a:p>
          <a:p>
            <a:pPr marL="342900" marR="0" lvl="0" indent="-342900" algn="l" rtl="0">
              <a:lnSpc>
                <a:spcPct val="150000"/>
              </a:lnSpc>
              <a:spcBef>
                <a:spcPts val="0"/>
              </a:spcBef>
              <a:spcAft>
                <a:spcPts val="0"/>
              </a:spcAft>
              <a:buClr>
                <a:schemeClr val="dk1"/>
              </a:buClr>
              <a:buSzPts val="2800"/>
              <a:buFont typeface="Times New Roman"/>
              <a:buAutoNum type="arabicPeriod"/>
            </a:pPr>
            <a:endParaRPr sz="2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0639533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200" b="1" dirty="0">
                <a:latin typeface="Times New Roman Bold" panose="02020503050405090304" charset="0"/>
                <a:cs typeface="Times New Roman Bold" panose="02020503050405090304" charset="0"/>
              </a:rPr>
              <a:t>Risk Mitigation</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76200" y="887845"/>
            <a:ext cx="8810625" cy="5370080"/>
          </a:xfrm>
        </p:spPr>
        <p:txBody>
          <a:bodyPr>
            <a:noAutofit/>
          </a:bodyPr>
          <a:lstStyle/>
          <a:p>
            <a:pPr marL="342900" lvl="2" indent="-342900"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All of the risk analysis activities presented to this point have a single goal—to assist the project team in developing a strategy for dealing with risk. </a:t>
            </a:r>
          </a:p>
          <a:p>
            <a:pPr marL="342900" lvl="2" indent="-342900"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An effective strategy must consider three issues: </a:t>
            </a:r>
            <a:r>
              <a:rPr lang="en-US" sz="1800" i="1" dirty="0">
                <a:solidFill>
                  <a:srgbClr val="C00000"/>
                </a:solidFill>
                <a:latin typeface="Times New Roman" panose="02020603050405020304" pitchFamily="18" charset="0"/>
                <a:cs typeface="Times New Roman" panose="02020603050405020304" pitchFamily="18" charset="0"/>
              </a:rPr>
              <a:t>risk mitigation</a:t>
            </a:r>
            <a:r>
              <a:rPr lang="en-US" sz="1800" dirty="0">
                <a:solidFill>
                  <a:srgbClr val="242021"/>
                </a:solidFill>
                <a:latin typeface="Times New Roman" panose="02020603050405020304" pitchFamily="18" charset="0"/>
                <a:cs typeface="Times New Roman" panose="02020603050405020304" pitchFamily="18" charset="0"/>
              </a:rPr>
              <a:t>, </a:t>
            </a:r>
            <a:r>
              <a:rPr lang="en-US" sz="1800" i="1" dirty="0">
                <a:solidFill>
                  <a:srgbClr val="C00000"/>
                </a:solidFill>
                <a:latin typeface="Times New Roman" panose="02020603050405020304" pitchFamily="18" charset="0"/>
                <a:cs typeface="Times New Roman" panose="02020603050405020304" pitchFamily="18" charset="0"/>
              </a:rPr>
              <a:t>risk monitoring</a:t>
            </a:r>
            <a:r>
              <a:rPr lang="en-US" sz="1800" dirty="0">
                <a:solidFill>
                  <a:srgbClr val="242021"/>
                </a:solidFill>
                <a:latin typeface="Times New Roman" panose="02020603050405020304" pitchFamily="18" charset="0"/>
                <a:cs typeface="Times New Roman" panose="02020603050405020304" pitchFamily="18" charset="0"/>
              </a:rPr>
              <a:t>, and </a:t>
            </a:r>
            <a:r>
              <a:rPr lang="en-US" sz="1800" i="1" dirty="0">
                <a:solidFill>
                  <a:srgbClr val="C00000"/>
                </a:solidFill>
                <a:latin typeface="Times New Roman" panose="02020603050405020304" pitchFamily="18" charset="0"/>
                <a:cs typeface="Times New Roman" panose="02020603050405020304" pitchFamily="18" charset="0"/>
              </a:rPr>
              <a:t>risk management and contingency planning</a:t>
            </a:r>
            <a:r>
              <a:rPr lang="en-US" sz="1800" dirty="0">
                <a:solidFill>
                  <a:srgbClr val="242021"/>
                </a:solidFill>
                <a:latin typeface="Times New Roman" panose="02020603050405020304" pitchFamily="18" charset="0"/>
                <a:cs typeface="Times New Roman" panose="02020603050405020304" pitchFamily="18" charset="0"/>
              </a:rPr>
              <a:t>. </a:t>
            </a:r>
          </a:p>
          <a:p>
            <a:pPr marL="342900" lvl="2" indent="-342900"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If a software team adopts a proactive approach to risk, avoidance is always the best strategy. This is achieved by developing a plan for </a:t>
            </a:r>
            <a:r>
              <a:rPr lang="en-US" sz="1800" i="1" dirty="0">
                <a:solidFill>
                  <a:srgbClr val="C00000"/>
                </a:solidFill>
                <a:latin typeface="Times New Roman" panose="02020603050405020304" pitchFamily="18" charset="0"/>
                <a:cs typeface="Times New Roman" panose="02020603050405020304" pitchFamily="18" charset="0"/>
              </a:rPr>
              <a:t>risk mitigation</a:t>
            </a:r>
            <a:r>
              <a:rPr lang="en-US" sz="1800" dirty="0">
                <a:solidFill>
                  <a:srgbClr val="242021"/>
                </a:solidFill>
                <a:latin typeface="Times New Roman" panose="02020603050405020304" pitchFamily="18" charset="0"/>
                <a:cs typeface="Times New Roman" panose="02020603050405020304" pitchFamily="18" charset="0"/>
              </a:rPr>
              <a:t>.</a:t>
            </a:r>
          </a:p>
          <a:p>
            <a:pPr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To mitigate this risk, you would develop a strategy for reducing turnover. Among the </a:t>
            </a:r>
            <a:r>
              <a:rPr lang="en-US" sz="1800" b="0" i="0" dirty="0" smtClean="0">
                <a:solidFill>
                  <a:srgbClr val="242021"/>
                </a:solidFill>
                <a:effectLst/>
                <a:latin typeface="Times New Roman" panose="02020603050405020304" pitchFamily="18" charset="0"/>
                <a:cs typeface="Times New Roman" panose="02020603050405020304" pitchFamily="18" charset="0"/>
              </a:rPr>
              <a:t>possible steps </a:t>
            </a:r>
            <a:r>
              <a:rPr lang="en-US" sz="1800" b="0" i="0" dirty="0">
                <a:solidFill>
                  <a:srgbClr val="242021"/>
                </a:solidFill>
                <a:effectLst/>
                <a:latin typeface="Times New Roman" panose="02020603050405020304" pitchFamily="18" charset="0"/>
                <a:cs typeface="Times New Roman" panose="02020603050405020304" pitchFamily="18" charset="0"/>
              </a:rPr>
              <a:t>to be taken are:</a:t>
            </a:r>
          </a:p>
          <a:p>
            <a:pPr lvl="1"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Meet with current staff to determine causes for turnover (e.g., poor working conditions, low pay, competitive job market).</a:t>
            </a:r>
          </a:p>
          <a:p>
            <a:pPr lvl="1"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Mitigate those causes that are under your control before the project starts.</a:t>
            </a:r>
          </a:p>
          <a:p>
            <a:pPr marL="457200" lvl="1" indent="0" algn="just">
              <a:lnSpc>
                <a:spcPct val="150000"/>
              </a:lnSpc>
              <a:buNone/>
            </a:pP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30303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56345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Mitigation</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76200" y="1371599"/>
            <a:ext cx="8610600" cy="4926445"/>
          </a:xfrm>
        </p:spPr>
        <p:txBody>
          <a:bodyPr>
            <a:noAutofit/>
          </a:bodyPr>
          <a:lstStyle/>
          <a:p>
            <a:pPr lvl="1"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Once the project commences, assume turnover will occur and develop techniques to ensure continuity when people leave.</a:t>
            </a:r>
          </a:p>
          <a:p>
            <a:pPr lvl="1"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Organize project teams so that information about each development activity is widely dispersed. </a:t>
            </a:r>
          </a:p>
          <a:p>
            <a:pPr lvl="1"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Define work product standards and establish mechanisms to be sure that all models and documents are developed in a timely manner.</a:t>
            </a:r>
          </a:p>
          <a:p>
            <a:pPr lvl="1"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Conduct peer reviews of all work (so that more than one person is “up to speed”).</a:t>
            </a:r>
          </a:p>
          <a:p>
            <a:pPr lvl="1"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Assign a backup staff member for every critical technologist.</a:t>
            </a:r>
          </a:p>
          <a:p>
            <a:pPr marL="457200" lvl="1" indent="0" algn="just">
              <a:lnSpc>
                <a:spcPct val="150000"/>
              </a:lnSpc>
              <a:buNone/>
            </a:pPr>
            <a:r>
              <a:rPr lang="en-US" sz="1800" dirty="0">
                <a:solidFill>
                  <a:srgbClr val="242021"/>
                </a:solidFill>
                <a:latin typeface="Times New Roman" panose="02020603050405020304" pitchFamily="18" charset="0"/>
                <a:cs typeface="Times New Roman" panose="02020603050405020304" pitchFamily="18" charset="0"/>
              </a:rPr>
              <a:t> </a:t>
            </a:r>
            <a:br>
              <a:rPr lang="en-US" sz="1800" dirty="0">
                <a:solidFill>
                  <a:srgbClr val="242021"/>
                </a:solidFill>
                <a:latin typeface="Times New Roman" panose="02020603050405020304" pitchFamily="18" charset="0"/>
                <a:cs typeface="Times New Roman" panose="02020603050405020304" pitchFamily="18" charset="0"/>
              </a:rPr>
            </a:br>
            <a:r>
              <a:rPr lang="en-US" sz="1800" dirty="0">
                <a:solidFill>
                  <a:srgbClr val="24202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30303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5548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Monitoring</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428625" y="887845"/>
            <a:ext cx="8129588" cy="5410200"/>
          </a:xfrm>
        </p:spPr>
        <p:txBody>
          <a:bodyPr>
            <a:noAutofit/>
          </a:bodyPr>
          <a:lstStyle/>
          <a:p>
            <a:pPr marL="342900" lvl="2" indent="-342900"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As the project proceeds, </a:t>
            </a:r>
            <a:r>
              <a:rPr lang="en-US" sz="1800" b="0" i="1" dirty="0">
                <a:solidFill>
                  <a:srgbClr val="C00000"/>
                </a:solidFill>
                <a:effectLst/>
                <a:latin typeface="Times New Roman" panose="02020603050405020304" pitchFamily="18" charset="0"/>
                <a:cs typeface="Times New Roman" panose="02020603050405020304" pitchFamily="18" charset="0"/>
              </a:rPr>
              <a:t>risk-monitoring</a:t>
            </a:r>
            <a:r>
              <a:rPr lang="en-US" sz="1800" b="0" i="1" dirty="0">
                <a:solidFill>
                  <a:srgbClr val="242021"/>
                </a:solidFill>
                <a:effectLst/>
                <a:latin typeface="Times New Roman" panose="02020603050405020304" pitchFamily="18" charset="0"/>
                <a:cs typeface="Times New Roman" panose="02020603050405020304" pitchFamily="18" charset="0"/>
              </a:rPr>
              <a:t> </a:t>
            </a:r>
            <a:r>
              <a:rPr lang="en-US" sz="1800" b="0" i="0" dirty="0">
                <a:solidFill>
                  <a:srgbClr val="242021"/>
                </a:solidFill>
                <a:effectLst/>
                <a:latin typeface="Times New Roman" panose="02020603050405020304" pitchFamily="18" charset="0"/>
                <a:cs typeface="Times New Roman" panose="02020603050405020304" pitchFamily="18" charset="0"/>
              </a:rPr>
              <a:t>activities commence. </a:t>
            </a:r>
          </a:p>
          <a:p>
            <a:pPr marL="342900" lvl="2" indent="-342900"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The project manager monitors factors that may provide an indication of whether the risk is becoming more or less likely. </a:t>
            </a:r>
          </a:p>
          <a:p>
            <a:pPr marL="342900" lvl="2" indent="-342900" algn="just">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In the case of high staff turnover, the general attitude of team members based on project pressures, the degree to which the team has jelled, interpersonal relationships among team members, potential problems with compensation and benefits, and the availability of jobs within the company and outside it are all monitored.</a:t>
            </a:r>
          </a:p>
          <a:p>
            <a:pPr marL="342900" lvl="2" indent="-342900" algn="just">
              <a:lnSpc>
                <a:spcPct val="150000"/>
              </a:lnSpc>
            </a:pPr>
            <a:r>
              <a:rPr lang="en-US" sz="1800" dirty="0">
                <a:solidFill>
                  <a:srgbClr val="242021"/>
                </a:solidFill>
                <a:latin typeface="Times New Roman" panose="02020603050405020304" pitchFamily="18" charset="0"/>
                <a:cs typeface="Times New Roman" panose="02020603050405020304" pitchFamily="18" charset="0"/>
              </a:rPr>
              <a:t>In addition to monitoring these factors, a project manager should monitor the effectiveness of risk mitigation steps.</a:t>
            </a:r>
          </a:p>
          <a:p>
            <a:pPr marL="0" lvl="2" indent="0" algn="just">
              <a:lnSpc>
                <a:spcPct val="150000"/>
              </a:lnSpc>
              <a:buNone/>
            </a:pPr>
            <a:r>
              <a:rPr lang="en-US" sz="1800" dirty="0">
                <a:solidFill>
                  <a:srgbClr val="242021"/>
                </a:solidFill>
                <a:latin typeface="Times New Roman" panose="02020603050405020304" pitchFamily="18" charset="0"/>
                <a:cs typeface="Times New Roman" panose="02020603050405020304" pitchFamily="18" charset="0"/>
              </a:rPr>
              <a:t> </a:t>
            </a:r>
            <a:br>
              <a:rPr lang="en-US" sz="1800" dirty="0">
                <a:solidFill>
                  <a:srgbClr val="242021"/>
                </a:solidFill>
                <a:latin typeface="Times New Roman" panose="02020603050405020304" pitchFamily="18" charset="0"/>
                <a:cs typeface="Times New Roman" panose="02020603050405020304" pitchFamily="18" charset="0"/>
              </a:rPr>
            </a:br>
            <a:endParaRPr lang="en-US" sz="1800" dirty="0">
              <a:solidFill>
                <a:srgbClr val="242021"/>
              </a:solidFill>
              <a:latin typeface="Times New Roman" panose="02020603050405020304" pitchFamily="18" charset="0"/>
              <a:cs typeface="Times New Roman" panose="02020603050405020304" pitchFamily="18" charset="0"/>
            </a:endParaRPr>
          </a:p>
          <a:p>
            <a:pPr marL="0" lvl="2" indent="0" algn="just">
              <a:lnSpc>
                <a:spcPct val="150000"/>
              </a:lnSpc>
              <a:buNone/>
            </a:pP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30303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2219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Risk Management and Planning</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328612" y="1084819"/>
            <a:ext cx="8358188" cy="5015944"/>
          </a:xfrm>
        </p:spPr>
        <p:txBody>
          <a:bodyPr>
            <a:noAutofit/>
          </a:bodyPr>
          <a:lstStyle/>
          <a:p>
            <a:pPr marL="342900" lvl="2" indent="-342900" algn="just">
              <a:lnSpc>
                <a:spcPct val="150000"/>
              </a:lnSpc>
            </a:pPr>
            <a:r>
              <a:rPr lang="en-US" sz="1750" b="0" i="1" dirty="0">
                <a:solidFill>
                  <a:srgbClr val="C00000"/>
                </a:solidFill>
                <a:effectLst/>
                <a:latin typeface="Times New Roman" panose="02020603050405020304" pitchFamily="18" charset="0"/>
                <a:cs typeface="Times New Roman" panose="02020603050405020304" pitchFamily="18" charset="0"/>
              </a:rPr>
              <a:t>Risk management and contingency planning </a:t>
            </a:r>
            <a:r>
              <a:rPr lang="en-US" sz="1750" b="0" i="0" dirty="0">
                <a:solidFill>
                  <a:srgbClr val="242021"/>
                </a:solidFill>
                <a:effectLst/>
                <a:latin typeface="Times New Roman" panose="02020603050405020304" pitchFamily="18" charset="0"/>
                <a:cs typeface="Times New Roman" panose="02020603050405020304" pitchFamily="18" charset="0"/>
              </a:rPr>
              <a:t>assumes that mitigation efforts have failed and that the risk has become a reality. </a:t>
            </a:r>
          </a:p>
          <a:p>
            <a:pPr marL="342900" lvl="2" indent="-342900" algn="just">
              <a:lnSpc>
                <a:spcPct val="150000"/>
              </a:lnSpc>
            </a:pPr>
            <a:r>
              <a:rPr lang="en-US" sz="1750" b="0" i="0" dirty="0">
                <a:solidFill>
                  <a:srgbClr val="242021"/>
                </a:solidFill>
                <a:effectLst/>
                <a:latin typeface="Times New Roman" panose="02020603050405020304" pitchFamily="18" charset="0"/>
                <a:cs typeface="Times New Roman" panose="02020603050405020304" pitchFamily="18" charset="0"/>
              </a:rPr>
              <a:t>Continuing the example, the project is well under way and a number of people announce that they will be leaving. If the mitigation strategy has been followed, backup is available, information is documented, and knowledge has been dispersed across the team. </a:t>
            </a:r>
          </a:p>
          <a:p>
            <a:pPr marL="342900" lvl="2" indent="-342900" algn="just">
              <a:lnSpc>
                <a:spcPct val="150000"/>
              </a:lnSpc>
            </a:pPr>
            <a:r>
              <a:rPr lang="en-US" sz="1750" b="0" i="0" dirty="0">
                <a:solidFill>
                  <a:srgbClr val="242021"/>
                </a:solidFill>
                <a:effectLst/>
                <a:latin typeface="Times New Roman" panose="02020603050405020304" pitchFamily="18" charset="0"/>
                <a:cs typeface="Times New Roman" panose="02020603050405020304" pitchFamily="18" charset="0"/>
              </a:rPr>
              <a:t>In addition, you can temporarily refocus resources (and readjust the project schedule) to those functions that are fully staffed, enabling newcomers who must be added to the team to “get up to speed.” </a:t>
            </a:r>
          </a:p>
          <a:p>
            <a:pPr marL="342900" lvl="2" indent="-342900" algn="just">
              <a:lnSpc>
                <a:spcPct val="150000"/>
              </a:lnSpc>
            </a:pPr>
            <a:r>
              <a:rPr lang="en-US" sz="1750" b="0" i="0" dirty="0">
                <a:solidFill>
                  <a:srgbClr val="242021"/>
                </a:solidFill>
                <a:effectLst/>
                <a:latin typeface="Times New Roman" panose="02020603050405020304" pitchFamily="18" charset="0"/>
                <a:cs typeface="Times New Roman" panose="02020603050405020304" pitchFamily="18" charset="0"/>
              </a:rPr>
              <a:t>Those individuals who are leaving are asked to stop all work and spend their last weeks in “knowledge transfer mode.” </a:t>
            </a:r>
          </a:p>
          <a:p>
            <a:pPr marL="342900" lvl="2" indent="-342900" algn="just">
              <a:lnSpc>
                <a:spcPct val="150000"/>
              </a:lnSpc>
            </a:pPr>
            <a:r>
              <a:rPr lang="en-US" sz="1750" b="0" i="0" dirty="0">
                <a:solidFill>
                  <a:srgbClr val="242021"/>
                </a:solidFill>
                <a:effectLst/>
                <a:latin typeface="Times New Roman" panose="02020603050405020304" pitchFamily="18" charset="0"/>
                <a:cs typeface="Times New Roman" panose="02020603050405020304" pitchFamily="18" charset="0"/>
              </a:rPr>
              <a:t>This might include video-based knowledge capture, the development of “commentary documents or Wikis,” and/or meeting with other team members who will remain on the project.</a:t>
            </a:r>
            <a:r>
              <a:rPr lang="en-US" sz="1750" dirty="0">
                <a:latin typeface="Times New Roman" panose="02020603050405020304" pitchFamily="18" charset="0"/>
                <a:cs typeface="Times New Roman" panose="02020603050405020304" pitchFamily="18" charset="0"/>
              </a:rPr>
              <a:t> </a:t>
            </a:r>
          </a:p>
          <a:p>
            <a:pPr marL="0" lvl="2" indent="0" algn="just">
              <a:lnSpc>
                <a:spcPct val="150000"/>
              </a:lnSpc>
              <a:buNone/>
            </a:pPr>
            <a:r>
              <a:rPr lang="en-US" sz="1750" dirty="0">
                <a:latin typeface="Times New Roman" panose="02020603050405020304" pitchFamily="18" charset="0"/>
                <a:cs typeface="Times New Roman" panose="02020603050405020304" pitchFamily="18" charset="0"/>
              </a:rPr>
              <a:t/>
            </a:r>
            <a:br>
              <a:rPr lang="en-US" sz="1750" dirty="0">
                <a:latin typeface="Times New Roman" panose="02020603050405020304" pitchFamily="18" charset="0"/>
                <a:cs typeface="Times New Roman" panose="02020603050405020304" pitchFamily="18" charset="0"/>
              </a:rPr>
            </a:br>
            <a:r>
              <a:rPr lang="en-US" sz="1750" dirty="0">
                <a:solidFill>
                  <a:srgbClr val="242021"/>
                </a:solidFill>
                <a:latin typeface="Times New Roman" panose="02020603050405020304" pitchFamily="18" charset="0"/>
                <a:cs typeface="Times New Roman" panose="02020603050405020304" pitchFamily="18" charset="0"/>
              </a:rPr>
              <a:t> </a:t>
            </a:r>
            <a:br>
              <a:rPr lang="en-US" sz="1750" dirty="0">
                <a:solidFill>
                  <a:srgbClr val="242021"/>
                </a:solidFill>
                <a:latin typeface="Times New Roman" panose="02020603050405020304" pitchFamily="18" charset="0"/>
                <a:cs typeface="Times New Roman" panose="02020603050405020304" pitchFamily="18" charset="0"/>
              </a:rPr>
            </a:br>
            <a:endParaRPr lang="en-US" sz="1750" dirty="0">
              <a:solidFill>
                <a:srgbClr val="242021"/>
              </a:solidFill>
              <a:latin typeface="Times New Roman" panose="02020603050405020304" pitchFamily="18" charset="0"/>
              <a:cs typeface="Times New Roman" panose="02020603050405020304" pitchFamily="18" charset="0"/>
            </a:endParaRPr>
          </a:p>
          <a:p>
            <a:pPr marL="0" lvl="2" indent="0" algn="just">
              <a:lnSpc>
                <a:spcPct val="150000"/>
              </a:lnSpc>
              <a:buNone/>
            </a:pPr>
            <a:r>
              <a:rPr lang="en-US" sz="1750" dirty="0">
                <a:latin typeface="Times New Roman" panose="02020603050405020304" pitchFamily="18" charset="0"/>
                <a:cs typeface="Times New Roman" panose="02020603050405020304" pitchFamily="18" charset="0"/>
              </a:rPr>
              <a:t> </a:t>
            </a:r>
            <a:br>
              <a:rPr lang="en-US" sz="1750" dirty="0">
                <a:latin typeface="Times New Roman" panose="02020603050405020304" pitchFamily="18" charset="0"/>
                <a:cs typeface="Times New Roman" panose="02020603050405020304" pitchFamily="18" charset="0"/>
              </a:rPr>
            </a:br>
            <a:r>
              <a:rPr lang="en-US" sz="1750" dirty="0">
                <a:latin typeface="Times New Roman" panose="02020603050405020304" pitchFamily="18" charset="0"/>
                <a:cs typeface="Times New Roman" panose="02020603050405020304" pitchFamily="18" charset="0"/>
              </a:rPr>
              <a:t> </a:t>
            </a:r>
            <a:br>
              <a:rPr lang="en-US" sz="1750" dirty="0">
                <a:latin typeface="Times New Roman" panose="02020603050405020304" pitchFamily="18" charset="0"/>
                <a:cs typeface="Times New Roman" panose="02020603050405020304" pitchFamily="18" charset="0"/>
              </a:rPr>
            </a:br>
            <a:r>
              <a:rPr lang="en-US" sz="1750" dirty="0">
                <a:latin typeface="Times New Roman" panose="02020603050405020304" pitchFamily="18" charset="0"/>
                <a:cs typeface="Times New Roman" panose="02020603050405020304" pitchFamily="18" charset="0"/>
              </a:rPr>
              <a:t> </a:t>
            </a:r>
            <a:br>
              <a:rPr lang="en-US" sz="1750" dirty="0">
                <a:latin typeface="Times New Roman" panose="02020603050405020304" pitchFamily="18" charset="0"/>
                <a:cs typeface="Times New Roman" panose="02020603050405020304" pitchFamily="18" charset="0"/>
              </a:rPr>
            </a:br>
            <a:r>
              <a:rPr lang="en-US" sz="1750" dirty="0">
                <a:latin typeface="Times New Roman" panose="02020603050405020304" pitchFamily="18" charset="0"/>
                <a:cs typeface="Times New Roman" panose="02020603050405020304" pitchFamily="18" charset="0"/>
              </a:rPr>
              <a:t/>
            </a:r>
            <a:br>
              <a:rPr lang="en-US" sz="1750" dirty="0">
                <a:latin typeface="Times New Roman" panose="02020603050405020304" pitchFamily="18" charset="0"/>
                <a:cs typeface="Times New Roman" panose="02020603050405020304" pitchFamily="18" charset="0"/>
              </a:rPr>
            </a:br>
            <a:r>
              <a:rPr lang="en-US" sz="1750" dirty="0">
                <a:latin typeface="Times New Roman" panose="02020603050405020304" pitchFamily="18" charset="0"/>
                <a:cs typeface="Times New Roman" panose="02020603050405020304" pitchFamily="18" charset="0"/>
              </a:rPr>
              <a:t/>
            </a:r>
            <a:br>
              <a:rPr lang="en-US" sz="1750" dirty="0">
                <a:latin typeface="Times New Roman" panose="02020603050405020304" pitchFamily="18" charset="0"/>
                <a:cs typeface="Times New Roman" panose="02020603050405020304" pitchFamily="18" charset="0"/>
              </a:rPr>
            </a:br>
            <a:r>
              <a:rPr lang="en-US" sz="1750" dirty="0">
                <a:latin typeface="Times New Roman" panose="02020603050405020304" pitchFamily="18" charset="0"/>
                <a:cs typeface="Times New Roman" panose="02020603050405020304" pitchFamily="18" charset="0"/>
              </a:rPr>
              <a:t/>
            </a:r>
            <a:br>
              <a:rPr lang="en-US" sz="1750" dirty="0">
                <a:latin typeface="Times New Roman" panose="02020603050405020304" pitchFamily="18" charset="0"/>
                <a:cs typeface="Times New Roman" panose="02020603050405020304" pitchFamily="18" charset="0"/>
              </a:rPr>
            </a:br>
            <a:r>
              <a:rPr lang="en-US" sz="1750" dirty="0">
                <a:latin typeface="Times New Roman" panose="02020603050405020304" pitchFamily="18" charset="0"/>
                <a:cs typeface="Times New Roman" panose="02020603050405020304" pitchFamily="18" charset="0"/>
              </a:rPr>
              <a:t/>
            </a:r>
            <a:br>
              <a:rPr lang="en-US" sz="1750" dirty="0">
                <a:latin typeface="Times New Roman" panose="02020603050405020304" pitchFamily="18" charset="0"/>
                <a:cs typeface="Times New Roman" panose="02020603050405020304" pitchFamily="18" charset="0"/>
              </a:rPr>
            </a:br>
            <a:r>
              <a:rPr lang="en-US" sz="1750" dirty="0">
                <a:solidFill>
                  <a:srgbClr val="303030"/>
                </a:solidFill>
                <a:latin typeface="Times New Roman" panose="02020603050405020304" pitchFamily="18" charset="0"/>
                <a:cs typeface="Times New Roman" panose="02020603050405020304" pitchFamily="18" charset="0"/>
              </a:rPr>
              <a:t> </a:t>
            </a:r>
            <a:r>
              <a:rPr lang="en-US" sz="1750" dirty="0">
                <a:latin typeface="Times New Roman" panose="02020603050405020304" pitchFamily="18" charset="0"/>
                <a:cs typeface="Times New Roman" panose="02020603050405020304" pitchFamily="18" charset="0"/>
              </a:rPr>
              <a:t/>
            </a:r>
            <a:br>
              <a:rPr lang="en-US" sz="1750" dirty="0">
                <a:latin typeface="Times New Roman" panose="02020603050405020304" pitchFamily="18" charset="0"/>
                <a:cs typeface="Times New Roman" panose="02020603050405020304" pitchFamily="18" charset="0"/>
              </a:rPr>
            </a:br>
            <a:endParaRPr lang="en-US" sz="175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7934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RMMM Plan</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76200" y="887845"/>
            <a:ext cx="8991600" cy="5410200"/>
          </a:xfrm>
        </p:spPr>
        <p:txBody>
          <a:bodyPr>
            <a:noAutofit/>
          </a:bodyPr>
          <a:lstStyle/>
          <a:p>
            <a:pPr algn="just" eaLnBrk="1" hangingPunct="1">
              <a:lnSpc>
                <a:spcPct val="150000"/>
              </a:lnSpc>
            </a:pPr>
            <a:r>
              <a:rPr lang="en-US" altLang="tr-TR" sz="1800" dirty="0">
                <a:latin typeface="Times New Roman" panose="02020603050405020304" pitchFamily="18" charset="0"/>
                <a:cs typeface="Times New Roman" panose="02020603050405020304" pitchFamily="18" charset="0"/>
              </a:rPr>
              <a:t>The </a:t>
            </a:r>
            <a:r>
              <a:rPr lang="en-US" sz="1800" b="0" i="1" dirty="0">
                <a:solidFill>
                  <a:srgbClr val="C00000"/>
                </a:solidFill>
                <a:effectLst/>
                <a:latin typeface="Times New Roman" panose="02020603050405020304" pitchFamily="18" charset="0"/>
                <a:cs typeface="Times New Roman" panose="02020603050405020304" pitchFamily="18" charset="0"/>
              </a:rPr>
              <a:t>risk mitigation, monitoring, and management </a:t>
            </a:r>
            <a:r>
              <a:rPr lang="en-US" sz="1800" b="0" i="0" dirty="0">
                <a:solidFill>
                  <a:srgbClr val="C00000"/>
                </a:solidFill>
                <a:effectLst/>
                <a:latin typeface="Times New Roman" panose="02020603050405020304" pitchFamily="18" charset="0"/>
                <a:cs typeface="Times New Roman" panose="02020603050405020304" pitchFamily="18" charset="0"/>
              </a:rPr>
              <a:t>(RMMM) </a:t>
            </a:r>
            <a:r>
              <a:rPr lang="en-US" sz="1800" b="0" i="0" dirty="0">
                <a:solidFill>
                  <a:srgbClr val="242021"/>
                </a:solidFill>
                <a:effectLst/>
                <a:latin typeface="Times New Roman" panose="02020603050405020304" pitchFamily="18" charset="0"/>
                <a:cs typeface="Times New Roman" panose="02020603050405020304" pitchFamily="18" charset="0"/>
              </a:rPr>
              <a:t>plan </a:t>
            </a:r>
            <a:r>
              <a:rPr lang="en-US" altLang="tr-TR" sz="1800" dirty="0">
                <a:latin typeface="Times New Roman" panose="02020603050405020304" pitchFamily="18" charset="0"/>
                <a:cs typeface="Times New Roman" panose="02020603050405020304" pitchFamily="18" charset="0"/>
              </a:rPr>
              <a:t>may be a part of the software development plan or may be a separate document</a:t>
            </a:r>
          </a:p>
          <a:p>
            <a:pPr algn="just" eaLnBrk="1" hangingPunct="1">
              <a:lnSpc>
                <a:spcPct val="150000"/>
              </a:lnSpc>
            </a:pPr>
            <a:r>
              <a:rPr lang="en-US" altLang="tr-TR" sz="1800" dirty="0">
                <a:latin typeface="Times New Roman" panose="02020603050405020304" pitchFamily="18" charset="0"/>
                <a:cs typeface="Times New Roman" panose="02020603050405020304" pitchFamily="18" charset="0"/>
              </a:rPr>
              <a:t>Once RMMM has been documented and the project has begun, the risk mitigation, and monitoring steps begin</a:t>
            </a:r>
          </a:p>
          <a:p>
            <a:pPr lvl="1" algn="just" eaLnBrk="1" hangingPunct="1">
              <a:lnSpc>
                <a:spcPct val="150000"/>
              </a:lnSpc>
            </a:pPr>
            <a:r>
              <a:rPr lang="en-US" altLang="tr-TR" sz="1800" dirty="0">
                <a:latin typeface="Times New Roman" panose="02020603050405020304" pitchFamily="18" charset="0"/>
                <a:cs typeface="Times New Roman" panose="02020603050405020304" pitchFamily="18" charset="0"/>
              </a:rPr>
              <a:t>Risk mitigation is a problem avoidance activity</a:t>
            </a:r>
          </a:p>
          <a:p>
            <a:pPr lvl="1" algn="just" eaLnBrk="1" hangingPunct="1">
              <a:lnSpc>
                <a:spcPct val="150000"/>
              </a:lnSpc>
            </a:pPr>
            <a:r>
              <a:rPr lang="en-US" altLang="tr-TR" sz="1800" dirty="0">
                <a:latin typeface="Times New Roman" panose="02020603050405020304" pitchFamily="18" charset="0"/>
                <a:cs typeface="Times New Roman" panose="02020603050405020304" pitchFamily="18" charset="0"/>
              </a:rPr>
              <a:t>Risk monitoring is a project tracking activity</a:t>
            </a:r>
          </a:p>
          <a:p>
            <a:pPr algn="just" eaLnBrk="1" hangingPunct="1">
              <a:lnSpc>
                <a:spcPct val="150000"/>
              </a:lnSpc>
            </a:pPr>
            <a:r>
              <a:rPr lang="en-US" altLang="tr-TR" sz="1800" dirty="0">
                <a:latin typeface="Times New Roman" panose="02020603050405020304" pitchFamily="18" charset="0"/>
                <a:cs typeface="Times New Roman" panose="02020603050405020304" pitchFamily="18" charset="0"/>
              </a:rPr>
              <a:t>Risk monitoring has three objectives</a:t>
            </a:r>
          </a:p>
          <a:p>
            <a:pPr lvl="1" algn="just" eaLnBrk="1" hangingPunct="1">
              <a:lnSpc>
                <a:spcPct val="150000"/>
              </a:lnSpc>
            </a:pPr>
            <a:r>
              <a:rPr lang="en-US" altLang="tr-TR" sz="1800" dirty="0">
                <a:latin typeface="Times New Roman" panose="02020603050405020304" pitchFamily="18" charset="0"/>
                <a:cs typeface="Times New Roman" panose="02020603050405020304" pitchFamily="18" charset="0"/>
              </a:rPr>
              <a:t>To assess whether predicted risks do, in fact, occur</a:t>
            </a:r>
          </a:p>
          <a:p>
            <a:pPr lvl="1" algn="just" eaLnBrk="1" hangingPunct="1">
              <a:lnSpc>
                <a:spcPct val="150000"/>
              </a:lnSpc>
            </a:pPr>
            <a:r>
              <a:rPr lang="en-US" altLang="tr-TR" sz="1800" dirty="0">
                <a:latin typeface="Times New Roman" panose="02020603050405020304" pitchFamily="18" charset="0"/>
                <a:cs typeface="Times New Roman" panose="02020603050405020304" pitchFamily="18" charset="0"/>
              </a:rPr>
              <a:t>To ensure that risk aversion steps defined for the risk are being properly applied</a:t>
            </a:r>
          </a:p>
          <a:p>
            <a:pPr lvl="1" algn="just" eaLnBrk="1" hangingPunct="1">
              <a:lnSpc>
                <a:spcPct val="150000"/>
              </a:lnSpc>
            </a:pPr>
            <a:r>
              <a:rPr lang="en-US" altLang="tr-TR" sz="1800" dirty="0">
                <a:latin typeface="Times New Roman" panose="02020603050405020304" pitchFamily="18" charset="0"/>
                <a:cs typeface="Times New Roman" panose="02020603050405020304" pitchFamily="18" charset="0"/>
              </a:rPr>
              <a:t>To collect information that can be used for future risk analysis</a:t>
            </a:r>
          </a:p>
          <a:p>
            <a:pPr marL="0" lvl="2" indent="0" algn="just">
              <a:lnSpc>
                <a:spcPct val="150000"/>
              </a:lnSpc>
              <a:buNone/>
            </a:pP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242021"/>
                </a:solidFill>
                <a:latin typeface="Times New Roman" panose="02020603050405020304" pitchFamily="18" charset="0"/>
                <a:cs typeface="Times New Roman" panose="02020603050405020304" pitchFamily="18" charset="0"/>
              </a:rPr>
              <a:t> </a:t>
            </a:r>
            <a:br>
              <a:rPr lang="en-US" sz="1800" dirty="0">
                <a:solidFill>
                  <a:srgbClr val="242021"/>
                </a:solidFill>
                <a:latin typeface="Times New Roman" panose="02020603050405020304" pitchFamily="18" charset="0"/>
                <a:cs typeface="Times New Roman" panose="02020603050405020304" pitchFamily="18" charset="0"/>
              </a:rPr>
            </a:br>
            <a:endParaRPr lang="en-US" sz="1800" dirty="0">
              <a:solidFill>
                <a:srgbClr val="242021"/>
              </a:solidFill>
              <a:latin typeface="Times New Roman" panose="02020603050405020304" pitchFamily="18" charset="0"/>
              <a:cs typeface="Times New Roman" panose="02020603050405020304" pitchFamily="18" charset="0"/>
            </a:endParaRPr>
          </a:p>
          <a:p>
            <a:pPr marL="0" lvl="2" indent="0" algn="just">
              <a:lnSpc>
                <a:spcPct val="150000"/>
              </a:lnSpc>
              <a:buNone/>
            </a:pP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30303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81547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atin typeface="Times New Roman Bold" panose="02020503050405090304" charset="0"/>
                <a:cs typeface="Times New Roman Bold" panose="02020503050405090304" charset="0"/>
              </a:rPr>
              <a:t>RMMM Plan</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414338" y="887845"/>
            <a:ext cx="8272462" cy="5410200"/>
          </a:xfrm>
        </p:spPr>
        <p:txBody>
          <a:bodyPr>
            <a:noAutofit/>
          </a:bodyPr>
          <a:lstStyle/>
          <a:p>
            <a:pPr algn="just" eaLnBrk="1" hangingPunct="1">
              <a:lnSpc>
                <a:spcPct val="150000"/>
              </a:lnSpc>
            </a:pPr>
            <a:r>
              <a:rPr lang="en-US" altLang="tr-TR" sz="1800" dirty="0">
                <a:latin typeface="Times New Roman" panose="02020603050405020304" pitchFamily="18" charset="0"/>
                <a:cs typeface="Times New Roman" panose="02020603050405020304" pitchFamily="18" charset="0"/>
              </a:rPr>
              <a:t>The findings from risk monitoring may allow the project manager to ascertain what risks caused which problems throughout the project</a:t>
            </a:r>
          </a:p>
          <a:p>
            <a:pPr algn="just" eaLnBrk="1" hangingPunct="1">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Some software teams do not develop a formal RMMM document. Rather, each risk is documented individually using a </a:t>
            </a:r>
            <a:r>
              <a:rPr lang="en-US" sz="1800" b="0" i="1" dirty="0">
                <a:solidFill>
                  <a:srgbClr val="C00000"/>
                </a:solidFill>
                <a:effectLst/>
                <a:latin typeface="Times New Roman" panose="02020603050405020304" pitchFamily="18" charset="0"/>
                <a:cs typeface="Times New Roman" panose="02020603050405020304" pitchFamily="18" charset="0"/>
              </a:rPr>
              <a:t>risk information sheet </a:t>
            </a:r>
            <a:r>
              <a:rPr lang="en-US" sz="1800" b="0" i="0" dirty="0">
                <a:solidFill>
                  <a:srgbClr val="C00000"/>
                </a:solidFill>
                <a:effectLst/>
                <a:latin typeface="Times New Roman" panose="02020603050405020304" pitchFamily="18" charset="0"/>
                <a:cs typeface="Times New Roman" panose="02020603050405020304" pitchFamily="18" charset="0"/>
              </a:rPr>
              <a:t>(RIS)</a:t>
            </a:r>
            <a:r>
              <a:rPr lang="en-US" sz="1800" b="0" i="0" dirty="0">
                <a:solidFill>
                  <a:srgbClr val="242021"/>
                </a:solidFill>
                <a:effectLst/>
                <a:latin typeface="Times New Roman" panose="02020603050405020304" pitchFamily="18" charset="0"/>
                <a:cs typeface="Times New Roman" panose="02020603050405020304" pitchFamily="18" charset="0"/>
              </a:rPr>
              <a:t>. </a:t>
            </a:r>
          </a:p>
          <a:p>
            <a:pPr algn="just" eaLnBrk="1" hangingPunct="1">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In most cases, the RIS is maintained using a database system so that creation and information entry, priority ordering, searches, and other analysis may be accomplished easily. </a:t>
            </a:r>
          </a:p>
          <a:p>
            <a:pPr algn="just" eaLnBrk="1" hangingPunct="1">
              <a:lnSpc>
                <a:spcPct val="150000"/>
              </a:lnSpc>
            </a:pPr>
            <a:r>
              <a:rPr lang="en-US" sz="1800" b="0" i="0" dirty="0">
                <a:solidFill>
                  <a:srgbClr val="242021"/>
                </a:solidFill>
                <a:effectLst/>
                <a:latin typeface="Times New Roman" panose="02020603050405020304" pitchFamily="18" charset="0"/>
                <a:cs typeface="Times New Roman" panose="02020603050405020304" pitchFamily="18" charset="0"/>
              </a:rPr>
              <a:t>Once RMMM has been documented and the project has begun, risk mitigation and monitoring steps commence.</a:t>
            </a:r>
          </a:p>
          <a:p>
            <a:pPr marL="0" indent="0" algn="just" eaLnBrk="1" hangingPunct="1">
              <a:lnSpc>
                <a:spcPct val="150000"/>
              </a:lnSpc>
              <a:buNone/>
            </a:pPr>
            <a:r>
              <a:rPr lang="en-US" sz="1800" b="0" i="0" dirty="0">
                <a:solidFill>
                  <a:srgbClr val="242021"/>
                </a:solidFill>
                <a:effectLst/>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242021"/>
                </a:solidFill>
                <a:latin typeface="Times New Roman" panose="02020603050405020304" pitchFamily="18" charset="0"/>
                <a:cs typeface="Times New Roman" panose="02020603050405020304" pitchFamily="18" charset="0"/>
              </a:rPr>
              <a:t> </a:t>
            </a:r>
            <a:br>
              <a:rPr lang="en-US" sz="1800" dirty="0">
                <a:solidFill>
                  <a:srgbClr val="242021"/>
                </a:solidFill>
                <a:latin typeface="Times New Roman" panose="02020603050405020304" pitchFamily="18" charset="0"/>
                <a:cs typeface="Times New Roman" panose="02020603050405020304" pitchFamily="18" charset="0"/>
              </a:rPr>
            </a:br>
            <a:endParaRPr lang="en-US" sz="1800" dirty="0">
              <a:solidFill>
                <a:srgbClr val="242021"/>
              </a:solidFill>
              <a:latin typeface="Times New Roman" panose="02020603050405020304" pitchFamily="18" charset="0"/>
              <a:cs typeface="Times New Roman" panose="02020603050405020304" pitchFamily="18" charset="0"/>
            </a:endParaRPr>
          </a:p>
          <a:p>
            <a:pPr marL="0" lvl="2" indent="0" algn="just">
              <a:lnSpc>
                <a:spcPct val="150000"/>
              </a:lnSpc>
              <a:buNone/>
            </a:pP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30303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solidFill>
                <a:srgbClr val="30303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65721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RMMM Plan – RIS Example</a:t>
            </a:r>
          </a:p>
        </p:txBody>
      </p:sp>
      <p:sp>
        <p:nvSpPr>
          <p:cNvPr id="10" name="Content Placeholder 2">
            <a:extLst>
              <a:ext uri="{FF2B5EF4-FFF2-40B4-BE49-F238E27FC236}">
                <a16:creationId xmlns:a16="http://schemas.microsoft.com/office/drawing/2014/main" xmlns="" id="{9CD65C24-61BB-2F3E-29AA-8E064219DBAC}"/>
              </a:ext>
            </a:extLst>
          </p:cNvPr>
          <p:cNvSpPr>
            <a:spLocks noGrp="1"/>
          </p:cNvSpPr>
          <p:nvPr>
            <p:ph idx="1"/>
          </p:nvPr>
        </p:nvSpPr>
        <p:spPr>
          <a:xfrm>
            <a:off x="76200" y="887845"/>
            <a:ext cx="8991600" cy="5410200"/>
          </a:xfrm>
        </p:spPr>
        <p:txBody>
          <a:bodyPr/>
          <a:lstStyle/>
          <a:p>
            <a:pPr algn="just" eaLnBrk="1" hangingPunct="1">
              <a:lnSpc>
                <a:spcPct val="150000"/>
              </a:lnSpc>
            </a:pPr>
            <a:r>
              <a:rPr lang="en-US" sz="1100" dirty="0"/>
              <a:t/>
            </a:r>
            <a:br>
              <a:rPr lang="en-US" sz="1100" dirty="0"/>
            </a:br>
            <a:r>
              <a:rPr lang="en-US" sz="1400" dirty="0"/>
              <a:t/>
            </a:r>
            <a:br>
              <a:rPr lang="en-US" sz="1400" dirty="0"/>
            </a:br>
            <a:r>
              <a:rPr lang="en-US" sz="1800" dirty="0">
                <a:solidFill>
                  <a:srgbClr val="242021"/>
                </a:solidFill>
              </a:rPr>
              <a:t> </a:t>
            </a:r>
            <a:br>
              <a:rPr lang="en-US" sz="1800" dirty="0">
                <a:solidFill>
                  <a:srgbClr val="242021"/>
                </a:solidFill>
              </a:rPr>
            </a:br>
            <a:endParaRPr lang="en-US" sz="1800" dirty="0">
              <a:solidFill>
                <a:srgbClr val="242021"/>
              </a:solidFill>
            </a:endParaRPr>
          </a:p>
          <a:p>
            <a:pPr marL="0" lvl="2" indent="0" algn="just">
              <a:lnSpc>
                <a:spcPct val="150000"/>
              </a:lnSpc>
              <a:buNone/>
            </a:pPr>
            <a:r>
              <a:rPr lang="en-US" sz="1400" dirty="0"/>
              <a:t> </a:t>
            </a:r>
            <a:br>
              <a:rPr lang="en-US" sz="1400" dirty="0"/>
            </a:br>
            <a:r>
              <a:rPr lang="en-US" sz="1800" dirty="0"/>
              <a:t> </a:t>
            </a:r>
            <a:r>
              <a:rPr lang="en-US" sz="800" dirty="0"/>
              <a:t/>
            </a:r>
            <a:br>
              <a:rPr lang="en-US" sz="800" dirty="0"/>
            </a:br>
            <a:r>
              <a:rPr lang="en-US" sz="1000" dirty="0"/>
              <a:t> </a:t>
            </a:r>
            <a:br>
              <a:rPr lang="en-US" sz="1000" dirty="0"/>
            </a:br>
            <a:r>
              <a:rPr lang="en-US" sz="1100" dirty="0"/>
              <a:t/>
            </a:r>
            <a:br>
              <a:rPr lang="en-US" sz="1100" dirty="0"/>
            </a:br>
            <a:r>
              <a:rPr lang="en-US" sz="1400" dirty="0"/>
              <a:t/>
            </a:r>
            <a:br>
              <a:rPr lang="en-US" sz="1400" dirty="0"/>
            </a:br>
            <a:r>
              <a:rPr lang="en-US" sz="1800" dirty="0"/>
              <a:t/>
            </a:r>
            <a:br>
              <a:rPr lang="en-US" sz="1800" dirty="0"/>
            </a:br>
            <a:r>
              <a:rPr lang="en-US" sz="1800" dirty="0"/>
              <a:t/>
            </a:r>
            <a:br>
              <a:rPr lang="en-US" sz="1800" dirty="0"/>
            </a:br>
            <a:r>
              <a:rPr lang="en-US" sz="1800" dirty="0">
                <a:solidFill>
                  <a:srgbClr val="303030"/>
                </a:solidFill>
              </a:rPr>
              <a:t> </a:t>
            </a:r>
            <a:r>
              <a:rPr lang="en-US" sz="1800" dirty="0"/>
              <a:t/>
            </a:r>
            <a:br>
              <a:rPr lang="en-US" sz="1800" dirty="0"/>
            </a:br>
            <a:endParaRPr lang="en-US" sz="1800" dirty="0">
              <a:solidFill>
                <a:srgbClr val="303030"/>
              </a:solidFill>
            </a:endParaRPr>
          </a:p>
        </p:txBody>
      </p:sp>
      <p:pic>
        <p:nvPicPr>
          <p:cNvPr id="4" name="Picture 3">
            <a:extLst>
              <a:ext uri="{FF2B5EF4-FFF2-40B4-BE49-F238E27FC236}">
                <a16:creationId xmlns:a16="http://schemas.microsoft.com/office/drawing/2014/main" xmlns="" id="{4D0308FF-CB90-D4A4-4A2F-52908248E3F6}"/>
              </a:ext>
            </a:extLst>
          </p:cNvPr>
          <p:cNvPicPr>
            <a:picLocks noChangeAspect="1"/>
          </p:cNvPicPr>
          <p:nvPr/>
        </p:nvPicPr>
        <p:blipFill>
          <a:blip r:embed="rId2"/>
          <a:stretch>
            <a:fillRect/>
          </a:stretch>
        </p:blipFill>
        <p:spPr>
          <a:xfrm>
            <a:off x="2098761" y="838200"/>
            <a:ext cx="5403677" cy="5715000"/>
          </a:xfrm>
          <a:prstGeom prst="rect">
            <a:avLst/>
          </a:prstGeom>
        </p:spPr>
      </p:pic>
    </p:spTree>
    <p:extLst>
      <p:ext uri="{BB962C8B-B14F-4D97-AF65-F5344CB8AC3E}">
        <p14:creationId xmlns:p14="http://schemas.microsoft.com/office/powerpoint/2010/main" val="3876752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DDC6A74-6C13-2D2F-C608-B1486FFA7C1B}"/>
              </a:ext>
            </a:extLst>
          </p:cNvPr>
          <p:cNvSpPr txBox="1"/>
          <p:nvPr/>
        </p:nvSpPr>
        <p:spPr>
          <a:xfrm>
            <a:off x="147145" y="145656"/>
            <a:ext cx="6547944" cy="646331"/>
          </a:xfrm>
          <a:prstGeom prst="rect">
            <a:avLst/>
          </a:prstGeom>
          <a:noFill/>
        </p:spPr>
        <p:txBody>
          <a:bodyPr wrap="square">
            <a:spAutoFit/>
          </a:bodyPr>
          <a:lstStyle/>
          <a:p>
            <a:r>
              <a:rPr lang="en-IN" sz="3600" b="1" i="0" dirty="0">
                <a:solidFill>
                  <a:schemeClr val="tx1"/>
                </a:solidFill>
                <a:effectLst/>
                <a:latin typeface="Times" panose="02020603050405020304" pitchFamily="18" charset="0"/>
                <a:cs typeface="Times" panose="02020603050405020304" pitchFamily="18" charset="0"/>
              </a:rPr>
              <a:t>Practice Questions</a:t>
            </a:r>
            <a:endParaRPr lang="en-IN" sz="3600" dirty="0">
              <a:solidFill>
                <a:schemeClr val="tx1"/>
              </a:solidFill>
              <a:latin typeface="Times" panose="02020603050405020304" pitchFamily="18" charset="0"/>
              <a:cs typeface="Times" panose="02020603050405020304" pitchFamily="18" charset="0"/>
            </a:endParaRPr>
          </a:p>
        </p:txBody>
      </p:sp>
      <p:sp>
        <p:nvSpPr>
          <p:cNvPr id="4" name="TextBox 3">
            <a:extLst>
              <a:ext uri="{FF2B5EF4-FFF2-40B4-BE49-F238E27FC236}">
                <a16:creationId xmlns:a16="http://schemas.microsoft.com/office/drawing/2014/main" xmlns="" id="{BB83B3E5-FBEE-1670-0A62-2CE34F0DCB96}"/>
              </a:ext>
            </a:extLst>
          </p:cNvPr>
          <p:cNvSpPr txBox="1"/>
          <p:nvPr/>
        </p:nvSpPr>
        <p:spPr>
          <a:xfrm>
            <a:off x="574710" y="1206992"/>
            <a:ext cx="7556938" cy="830997"/>
          </a:xfrm>
          <a:prstGeom prst="rect">
            <a:avLst/>
          </a:prstGeom>
          <a:noFill/>
        </p:spPr>
        <p:txBody>
          <a:bodyPr wrap="square">
            <a:spAutoFit/>
          </a:bodyPr>
          <a:lstStyle/>
          <a:p>
            <a:pPr marL="285750" indent="-285750"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a:p>
            <a:pPr marL="285750" indent="-285750" algn="l"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p:txBody>
      </p:sp>
      <p:sp>
        <p:nvSpPr>
          <p:cNvPr id="7" name="TextBox 6">
            <a:extLst>
              <a:ext uri="{FF2B5EF4-FFF2-40B4-BE49-F238E27FC236}">
                <a16:creationId xmlns:a16="http://schemas.microsoft.com/office/drawing/2014/main" xmlns="" id="{BCBDD79C-6B67-F8B8-BBC4-C6413142AF10}"/>
              </a:ext>
            </a:extLst>
          </p:cNvPr>
          <p:cNvSpPr txBox="1"/>
          <p:nvPr/>
        </p:nvSpPr>
        <p:spPr>
          <a:xfrm>
            <a:off x="913073" y="895922"/>
            <a:ext cx="7218575" cy="6186309"/>
          </a:xfrm>
          <a:prstGeom prst="rect">
            <a:avLst/>
          </a:prstGeom>
          <a:noFill/>
        </p:spPr>
        <p:txBody>
          <a:bodyPr wrap="square">
            <a:spAutoFit/>
          </a:bodyPr>
          <a:lstStyle/>
          <a:p>
            <a:pPr marL="342900" lvl="0" indent="-342900" eaLnBrk="0" fontAlgn="base" hangingPunct="0">
              <a:spcBef>
                <a:spcPct val="0"/>
              </a:spcBef>
              <a:spcAft>
                <a:spcPct val="0"/>
              </a:spcAft>
              <a:buClrTx/>
              <a:buAutoNum type="arabicPeriod"/>
            </a:pPr>
            <a:r>
              <a:rPr lang="en-US" sz="1800" b="1" dirty="0" smtClean="0">
                <a:solidFill>
                  <a:schemeClr val="tx1"/>
                </a:solidFill>
                <a:latin typeface="Times New Roman" panose="02020603050405020304" pitchFamily="18" charset="0"/>
                <a:cs typeface="Times New Roman" panose="02020603050405020304" pitchFamily="18" charset="0"/>
              </a:rPr>
              <a:t>What </a:t>
            </a:r>
            <a:r>
              <a:rPr lang="en-US" sz="1800" b="1" dirty="0">
                <a:solidFill>
                  <a:schemeClr val="tx1"/>
                </a:solidFill>
                <a:latin typeface="Times New Roman" panose="02020603050405020304" pitchFamily="18" charset="0"/>
                <a:cs typeface="Times New Roman" panose="02020603050405020304" pitchFamily="18" charset="0"/>
              </a:rPr>
              <a:t>is the primary purpose of a Risk Mitigation, Monitoring, and Management (RMMM) plan?</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a) To eliminate all project risks</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b) To identify, assess, and address potential risks in a project</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 To guarantee project success</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 To assign blame for project </a:t>
            </a:r>
            <a:r>
              <a:rPr lang="en-US" sz="1800" dirty="0" smtClean="0">
                <a:solidFill>
                  <a:schemeClr val="tx1"/>
                </a:solidFill>
                <a:latin typeface="Times New Roman" panose="02020603050405020304" pitchFamily="18" charset="0"/>
                <a:cs typeface="Times New Roman" panose="02020603050405020304" pitchFamily="18" charset="0"/>
              </a:rPr>
              <a:t>failures</a:t>
            </a:r>
          </a:p>
          <a:p>
            <a:pPr eaLnBrk="0" fontAlgn="base" hangingPunct="0">
              <a:spcBef>
                <a:spcPct val="0"/>
              </a:spcBef>
              <a:spcAft>
                <a:spcPct val="0"/>
              </a:spcAft>
              <a:buClrTx/>
            </a:pPr>
            <a:r>
              <a:rPr lang="en-US" sz="1800" b="1" dirty="0">
                <a:solidFill>
                  <a:schemeClr val="tx1"/>
                </a:solidFill>
                <a:latin typeface="Times New Roman" panose="02020603050405020304" pitchFamily="18" charset="0"/>
                <a:cs typeface="Times New Roman" panose="02020603050405020304" pitchFamily="18" charset="0"/>
              </a:rPr>
              <a:t>Answer:</a:t>
            </a:r>
            <a:r>
              <a:rPr lang="en-US" sz="1800" dirty="0">
                <a:solidFill>
                  <a:schemeClr val="tx1"/>
                </a:solidFill>
                <a:latin typeface="Times New Roman" panose="02020603050405020304" pitchFamily="18" charset="0"/>
                <a:cs typeface="Times New Roman" panose="02020603050405020304" pitchFamily="18" charset="0"/>
              </a:rPr>
              <a:t> b) To identify, assess, and address potential risks in a </a:t>
            </a:r>
            <a:r>
              <a:rPr lang="en-US" sz="1800" dirty="0" smtClean="0">
                <a:solidFill>
                  <a:schemeClr val="tx1"/>
                </a:solidFill>
                <a:latin typeface="Times New Roman" panose="02020603050405020304" pitchFamily="18" charset="0"/>
                <a:cs typeface="Times New Roman" panose="02020603050405020304" pitchFamily="18" charset="0"/>
              </a:rPr>
              <a:t>project</a:t>
            </a:r>
            <a:endParaRPr lang="en-US" sz="18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sz="1800" dirty="0">
              <a:solidFill>
                <a:schemeClr val="tx1"/>
              </a:solidFill>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Font typeface="+mj-lt"/>
              <a:buAutoNum type="arabicPeriod" startAt="2"/>
            </a:pPr>
            <a:r>
              <a:rPr lang="en-US" sz="1800" b="1" dirty="0" smtClean="0">
                <a:solidFill>
                  <a:schemeClr val="tx1"/>
                </a:solidFill>
                <a:latin typeface="Times New Roman" panose="02020603050405020304" pitchFamily="18" charset="0"/>
                <a:cs typeface="Times New Roman" panose="02020603050405020304" pitchFamily="18" charset="0"/>
              </a:rPr>
              <a:t>Which </a:t>
            </a:r>
            <a:r>
              <a:rPr lang="en-US" sz="1800" b="1" dirty="0">
                <a:solidFill>
                  <a:schemeClr val="tx1"/>
                </a:solidFill>
                <a:latin typeface="Times New Roman" panose="02020603050405020304" pitchFamily="18" charset="0"/>
                <a:cs typeface="Times New Roman" panose="02020603050405020304" pitchFamily="18" charset="0"/>
              </a:rPr>
              <a:t>of the following is NOT a key component of an RMMM plan?</a:t>
            </a:r>
            <a:br>
              <a:rPr lang="en-US" sz="1800" b="1"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a) Risk Identification</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b) Risk Elimination</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 Risk Monitoring</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 Risk Mitigation</a:t>
            </a:r>
          </a:p>
          <a:p>
            <a:pPr lvl="0" eaLnBrk="0" fontAlgn="base" hangingPunct="0">
              <a:spcBef>
                <a:spcPct val="0"/>
              </a:spcBef>
              <a:spcAft>
                <a:spcPct val="0"/>
              </a:spcAft>
              <a:buClrTx/>
            </a:pPr>
            <a:r>
              <a:rPr lang="en-US" sz="1800" b="1" dirty="0">
                <a:solidFill>
                  <a:schemeClr val="tx1"/>
                </a:solidFill>
                <a:latin typeface="Times New Roman" panose="02020603050405020304" pitchFamily="18" charset="0"/>
                <a:cs typeface="Times New Roman" panose="02020603050405020304" pitchFamily="18" charset="0"/>
              </a:rPr>
              <a:t>Answer:</a:t>
            </a:r>
            <a:r>
              <a:rPr lang="en-US" sz="1800" dirty="0">
                <a:solidFill>
                  <a:schemeClr val="tx1"/>
                </a:solidFill>
                <a:latin typeface="Times New Roman" panose="02020603050405020304" pitchFamily="18" charset="0"/>
                <a:cs typeface="Times New Roman" panose="02020603050405020304" pitchFamily="18" charset="0"/>
              </a:rPr>
              <a:t> b) Risk </a:t>
            </a:r>
            <a:r>
              <a:rPr lang="en-US" sz="1800" dirty="0" smtClean="0">
                <a:solidFill>
                  <a:schemeClr val="tx1"/>
                </a:solidFill>
                <a:latin typeface="Times New Roman" panose="02020603050405020304" pitchFamily="18" charset="0"/>
                <a:cs typeface="Times New Roman" panose="02020603050405020304" pitchFamily="18" charset="0"/>
              </a:rPr>
              <a:t>Elimination</a:t>
            </a:r>
          </a:p>
          <a:p>
            <a:pPr marL="342900" lvl="0" indent="-342900" eaLnBrk="0" fontAlgn="base" hangingPunct="0">
              <a:spcBef>
                <a:spcPct val="0"/>
              </a:spcBef>
              <a:spcAft>
                <a:spcPct val="0"/>
              </a:spcAft>
              <a:buClrTx/>
              <a:buFont typeface="+mj-lt"/>
              <a:buAutoNum type="arabicPeriod" startAt="3"/>
            </a:pPr>
            <a:r>
              <a:rPr lang="en-US" sz="1800" b="1" dirty="0" smtClean="0">
                <a:solidFill>
                  <a:schemeClr val="tx1"/>
                </a:solidFill>
                <a:latin typeface="Times New Roman" panose="02020603050405020304" pitchFamily="18" charset="0"/>
                <a:cs typeface="Times New Roman" panose="02020603050405020304" pitchFamily="18" charset="0"/>
              </a:rPr>
              <a:t>Risk mitigation involves which of the following actions?</a:t>
            </a:r>
            <a:br>
              <a:rPr lang="en-US" sz="1800" b="1" dirty="0" smtClean="0">
                <a:solidFill>
                  <a:schemeClr val="tx1"/>
                </a:solidFill>
                <a:latin typeface="Times New Roman" panose="02020603050405020304" pitchFamily="18" charset="0"/>
                <a:cs typeface="Times New Roman" panose="02020603050405020304" pitchFamily="18" charset="0"/>
              </a:rPr>
            </a:br>
            <a:r>
              <a:rPr lang="en-US" sz="1800" dirty="0" smtClean="0">
                <a:solidFill>
                  <a:schemeClr val="tx1"/>
                </a:solidFill>
                <a:latin typeface="Times New Roman" panose="02020603050405020304" pitchFamily="18" charset="0"/>
                <a:cs typeface="Times New Roman" panose="02020603050405020304" pitchFamily="18" charset="0"/>
              </a:rPr>
              <a:t>a) Avoiding all risks</a:t>
            </a:r>
            <a:br>
              <a:rPr lang="en-US" sz="1800" dirty="0" smtClean="0">
                <a:solidFill>
                  <a:schemeClr val="tx1"/>
                </a:solidFill>
                <a:latin typeface="Times New Roman" panose="02020603050405020304" pitchFamily="18" charset="0"/>
                <a:cs typeface="Times New Roman" panose="02020603050405020304" pitchFamily="18" charset="0"/>
              </a:rPr>
            </a:br>
            <a:r>
              <a:rPr lang="en-US" sz="1800" dirty="0" smtClean="0">
                <a:solidFill>
                  <a:schemeClr val="tx1"/>
                </a:solidFill>
                <a:latin typeface="Times New Roman" panose="02020603050405020304" pitchFamily="18" charset="0"/>
                <a:cs typeface="Times New Roman" panose="02020603050405020304" pitchFamily="18" charset="0"/>
              </a:rPr>
              <a:t>b) Developing strategies to reduce the impact or likelihood of risks</a:t>
            </a:r>
            <a:br>
              <a:rPr lang="en-US" sz="1800" dirty="0" smtClean="0">
                <a:solidFill>
                  <a:schemeClr val="tx1"/>
                </a:solidFill>
                <a:latin typeface="Times New Roman" panose="02020603050405020304" pitchFamily="18" charset="0"/>
                <a:cs typeface="Times New Roman" panose="02020603050405020304" pitchFamily="18" charset="0"/>
              </a:rPr>
            </a:br>
            <a:r>
              <a:rPr lang="en-US" sz="1800" dirty="0" smtClean="0">
                <a:solidFill>
                  <a:schemeClr val="tx1"/>
                </a:solidFill>
                <a:latin typeface="Times New Roman" panose="02020603050405020304" pitchFamily="18" charset="0"/>
                <a:cs typeface="Times New Roman" panose="02020603050405020304" pitchFamily="18" charset="0"/>
              </a:rPr>
              <a:t>c) Ignoring minor risks to focus on major ones</a:t>
            </a:r>
            <a:br>
              <a:rPr lang="en-US" sz="1800" dirty="0" smtClean="0">
                <a:solidFill>
                  <a:schemeClr val="tx1"/>
                </a:solidFill>
                <a:latin typeface="Times New Roman" panose="02020603050405020304" pitchFamily="18" charset="0"/>
                <a:cs typeface="Times New Roman" panose="02020603050405020304" pitchFamily="18" charset="0"/>
              </a:rPr>
            </a:br>
            <a:r>
              <a:rPr lang="en-US" sz="1800" dirty="0" smtClean="0">
                <a:solidFill>
                  <a:schemeClr val="tx1"/>
                </a:solidFill>
                <a:latin typeface="Times New Roman" panose="02020603050405020304" pitchFamily="18" charset="0"/>
                <a:cs typeface="Times New Roman" panose="02020603050405020304" pitchFamily="18" charset="0"/>
              </a:rPr>
              <a:t>d) Reporting risks without taking action</a:t>
            </a:r>
          </a:p>
          <a:p>
            <a:r>
              <a:rPr lang="en-US" sz="1800" b="1" dirty="0" smtClean="0">
                <a:latin typeface="Times New Roman" panose="02020603050405020304" pitchFamily="18" charset="0"/>
                <a:cs typeface="Times New Roman" panose="02020603050405020304" pitchFamily="18" charset="0"/>
              </a:rPr>
              <a:t>Answer</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b) Developing strategies to reduce the impact or likelihood of risks</a:t>
            </a:r>
          </a:p>
          <a:p>
            <a:pPr marL="342900" lvl="0" indent="-342900" eaLnBrk="0" fontAlgn="base" hangingPunct="0">
              <a:spcBef>
                <a:spcPct val="0"/>
              </a:spcBef>
              <a:spcAft>
                <a:spcPct val="0"/>
              </a:spcAft>
              <a:buClrTx/>
              <a:buAutoNum type="arabicPeriod"/>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01412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DDC6A74-6C13-2D2F-C608-B1486FFA7C1B}"/>
              </a:ext>
            </a:extLst>
          </p:cNvPr>
          <p:cNvSpPr txBox="1"/>
          <p:nvPr/>
        </p:nvSpPr>
        <p:spPr>
          <a:xfrm>
            <a:off x="147145" y="145656"/>
            <a:ext cx="6547944" cy="646331"/>
          </a:xfrm>
          <a:prstGeom prst="rect">
            <a:avLst/>
          </a:prstGeom>
          <a:noFill/>
        </p:spPr>
        <p:txBody>
          <a:bodyPr wrap="square">
            <a:spAutoFit/>
          </a:bodyPr>
          <a:lstStyle/>
          <a:p>
            <a:r>
              <a:rPr lang="en-IN" sz="3600" b="1" i="0" dirty="0">
                <a:solidFill>
                  <a:schemeClr val="tx1"/>
                </a:solidFill>
                <a:effectLst/>
                <a:latin typeface="Times" panose="02020603050405020304" pitchFamily="18" charset="0"/>
                <a:cs typeface="Times" panose="02020603050405020304" pitchFamily="18" charset="0"/>
              </a:rPr>
              <a:t>Practice Questions</a:t>
            </a:r>
            <a:endParaRPr lang="en-IN" sz="3600" dirty="0">
              <a:solidFill>
                <a:schemeClr val="tx1"/>
              </a:solidFill>
              <a:latin typeface="Times" panose="02020603050405020304" pitchFamily="18" charset="0"/>
              <a:cs typeface="Times" panose="02020603050405020304" pitchFamily="18" charset="0"/>
            </a:endParaRPr>
          </a:p>
        </p:txBody>
      </p:sp>
      <p:sp>
        <p:nvSpPr>
          <p:cNvPr id="4" name="TextBox 3">
            <a:extLst>
              <a:ext uri="{FF2B5EF4-FFF2-40B4-BE49-F238E27FC236}">
                <a16:creationId xmlns:a16="http://schemas.microsoft.com/office/drawing/2014/main" xmlns="" id="{BB83B3E5-FBEE-1670-0A62-2CE34F0DCB96}"/>
              </a:ext>
            </a:extLst>
          </p:cNvPr>
          <p:cNvSpPr txBox="1"/>
          <p:nvPr/>
        </p:nvSpPr>
        <p:spPr>
          <a:xfrm>
            <a:off x="574710" y="1206992"/>
            <a:ext cx="7556938" cy="830997"/>
          </a:xfrm>
          <a:prstGeom prst="rect">
            <a:avLst/>
          </a:prstGeom>
          <a:noFill/>
        </p:spPr>
        <p:txBody>
          <a:bodyPr wrap="square">
            <a:spAutoFit/>
          </a:bodyPr>
          <a:lstStyle/>
          <a:p>
            <a:pPr marL="285750" indent="-285750"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a:p>
            <a:pPr marL="285750" indent="-285750" algn="l" fontAlgn="base">
              <a:buFont typeface="Arial" panose="020B0604020202020204" pitchFamily="34" charset="0"/>
              <a:buChar char="•"/>
            </a:pPr>
            <a:endParaRPr lang="en-US" sz="2400" i="0" dirty="0">
              <a:solidFill>
                <a:schemeClr val="tx1"/>
              </a:solidFill>
              <a:effectLst/>
              <a:latin typeface="Times" panose="02020603050405020304" pitchFamily="18" charset="0"/>
              <a:cs typeface="Times" panose="02020603050405020304" pitchFamily="18" charset="0"/>
            </a:endParaRPr>
          </a:p>
        </p:txBody>
      </p:sp>
      <p:sp>
        <p:nvSpPr>
          <p:cNvPr id="7" name="TextBox 6">
            <a:extLst>
              <a:ext uri="{FF2B5EF4-FFF2-40B4-BE49-F238E27FC236}">
                <a16:creationId xmlns:a16="http://schemas.microsoft.com/office/drawing/2014/main" xmlns="" id="{BCBDD79C-6B67-F8B8-BBC4-C6413142AF10}"/>
              </a:ext>
            </a:extLst>
          </p:cNvPr>
          <p:cNvSpPr txBox="1"/>
          <p:nvPr/>
        </p:nvSpPr>
        <p:spPr>
          <a:xfrm>
            <a:off x="913073" y="1622490"/>
            <a:ext cx="7218575" cy="3693319"/>
          </a:xfrm>
          <a:prstGeom prst="rect">
            <a:avLst/>
          </a:prstGeom>
          <a:noFill/>
        </p:spPr>
        <p:txBody>
          <a:bodyPr wrap="square">
            <a:spAutoFit/>
          </a:bodyPr>
          <a:lstStyle/>
          <a:p>
            <a:pPr marL="342900" lvl="0" indent="-342900" eaLnBrk="0" fontAlgn="base" hangingPunct="0">
              <a:spcBef>
                <a:spcPct val="0"/>
              </a:spcBef>
              <a:spcAft>
                <a:spcPct val="0"/>
              </a:spcAft>
              <a:buClrTx/>
              <a:buFont typeface="+mj-lt"/>
              <a:buAutoNum type="arabicPeriod" startAt="4"/>
            </a:pPr>
            <a:r>
              <a:rPr lang="en-US" sz="1800" b="1" dirty="0" smtClean="0">
                <a:solidFill>
                  <a:schemeClr val="tx1"/>
                </a:solidFill>
                <a:latin typeface="Times New Roman" panose="02020603050405020304" pitchFamily="18" charset="0"/>
                <a:cs typeface="Times New Roman" panose="02020603050405020304" pitchFamily="18" charset="0"/>
              </a:rPr>
              <a:t>What </a:t>
            </a:r>
            <a:r>
              <a:rPr lang="en-US" sz="1800" b="1" dirty="0">
                <a:solidFill>
                  <a:schemeClr val="tx1"/>
                </a:solidFill>
                <a:latin typeface="Times New Roman" panose="02020603050405020304" pitchFamily="18" charset="0"/>
                <a:cs typeface="Times New Roman" panose="02020603050405020304" pitchFamily="18" charset="0"/>
              </a:rPr>
              <a:t>is the role of risk monitoring in an RMMM plan?</a:t>
            </a:r>
            <a:br>
              <a:rPr lang="en-US" sz="1800" b="1"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a) To track identified risks and evaluate their status over time</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b) To remove all project uncertainties</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 To assign responsibility for project delays</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 To increase project costs</a:t>
            </a:r>
          </a:p>
          <a:p>
            <a:pPr lvl="0" eaLnBrk="0" fontAlgn="base" hangingPunct="0">
              <a:spcBef>
                <a:spcPct val="0"/>
              </a:spcBef>
              <a:spcAft>
                <a:spcPct val="0"/>
              </a:spcAft>
              <a:buClrTx/>
            </a:pPr>
            <a:r>
              <a:rPr lang="en-US" sz="1800" b="1" dirty="0">
                <a:solidFill>
                  <a:schemeClr val="tx1"/>
                </a:solidFill>
                <a:latin typeface="Times New Roman" panose="02020603050405020304" pitchFamily="18" charset="0"/>
                <a:cs typeface="Times New Roman" panose="02020603050405020304" pitchFamily="18" charset="0"/>
              </a:rPr>
              <a:t>Answer:</a:t>
            </a:r>
            <a:r>
              <a:rPr lang="en-US" sz="1800" dirty="0">
                <a:solidFill>
                  <a:schemeClr val="tx1"/>
                </a:solidFill>
                <a:latin typeface="Times New Roman" panose="02020603050405020304" pitchFamily="18" charset="0"/>
                <a:cs typeface="Times New Roman" panose="02020603050405020304" pitchFamily="18" charset="0"/>
              </a:rPr>
              <a:t> a) To track identified risks and evaluate their status over time</a:t>
            </a:r>
          </a:p>
          <a:p>
            <a:pPr marL="342900" indent="-342900" eaLnBrk="0" fontAlgn="base" hangingPunct="0">
              <a:spcBef>
                <a:spcPct val="0"/>
              </a:spcBef>
              <a:spcAft>
                <a:spcPct val="0"/>
              </a:spcAft>
              <a:buClrTx/>
              <a:buFont typeface="+mj-lt"/>
              <a:buAutoNum type="arabicPeriod" startAt="5"/>
            </a:pPr>
            <a:r>
              <a:rPr lang="en-US" sz="1800" b="1" dirty="0" smtClean="0">
                <a:solidFill>
                  <a:schemeClr val="tx1"/>
                </a:solidFill>
                <a:latin typeface="Times New Roman" panose="02020603050405020304" pitchFamily="18" charset="0"/>
                <a:cs typeface="Times New Roman" panose="02020603050405020304" pitchFamily="18" charset="0"/>
              </a:rPr>
              <a:t>Which </a:t>
            </a:r>
            <a:r>
              <a:rPr lang="en-US" sz="1800" b="1" dirty="0">
                <a:solidFill>
                  <a:schemeClr val="tx1"/>
                </a:solidFill>
                <a:latin typeface="Times New Roman" panose="02020603050405020304" pitchFamily="18" charset="0"/>
                <a:cs typeface="Times New Roman" panose="02020603050405020304" pitchFamily="18" charset="0"/>
              </a:rPr>
              <a:t>of the following is a key strategy in risk mitigation?</a:t>
            </a:r>
            <a:br>
              <a:rPr lang="en-US" sz="1800" b="1"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a) Avoidance</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b) Transfer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 Acceptance</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 All of the above</a:t>
            </a:r>
          </a:p>
          <a:p>
            <a:r>
              <a:rPr lang="en-US" sz="1800" b="1" dirty="0">
                <a:latin typeface="Times New Roman" panose="02020603050405020304" pitchFamily="18" charset="0"/>
                <a:cs typeface="Times New Roman" panose="02020603050405020304" pitchFamily="18" charset="0"/>
              </a:rPr>
              <a:t>Answer:</a:t>
            </a:r>
            <a:r>
              <a:rPr lang="en-US" sz="1800" dirty="0">
                <a:latin typeface="Times New Roman" panose="02020603050405020304" pitchFamily="18" charset="0"/>
                <a:cs typeface="Times New Roman" panose="02020603050405020304" pitchFamily="18" charset="0"/>
              </a:rPr>
              <a:t> d) All of the above</a:t>
            </a:r>
          </a:p>
          <a:p>
            <a:pPr marL="342900" lvl="0" indent="-342900" eaLnBrk="0" fontAlgn="base" hangingPunct="0">
              <a:spcBef>
                <a:spcPct val="0"/>
              </a:spcBef>
              <a:spcAft>
                <a:spcPct val="0"/>
              </a:spcAft>
              <a:buClrTx/>
              <a:buAutoNum type="arabicPeriod"/>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1594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pic>
        <p:nvPicPr>
          <p:cNvPr id="504" name="Google Shape;504;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775</Words>
  <Application>Microsoft Office PowerPoint</Application>
  <PresentationFormat>On-screen Show (4:3)</PresentationFormat>
  <Paragraphs>97</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Times</vt:lpstr>
      <vt:lpstr>Times New Roman Bold</vt:lpstr>
      <vt:lpstr>Calibri</vt:lpstr>
      <vt:lpstr>Times New Roman</vt:lpstr>
      <vt:lpstr>Office Theme</vt:lpstr>
      <vt:lpstr>PowerPoint Presentation</vt:lpstr>
      <vt:lpstr>PowerPoint Presentation</vt:lpstr>
      <vt:lpstr>Risk Mitigation</vt:lpstr>
      <vt:lpstr>Risk Mitigation</vt:lpstr>
      <vt:lpstr>Risk Monitoring</vt:lpstr>
      <vt:lpstr>Risk Management and Planning</vt:lpstr>
      <vt:lpstr>RMMM Plan</vt:lpstr>
      <vt:lpstr>RMMM Plan</vt:lpstr>
      <vt:lpstr>RMMM Plan – RIS Example</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dell</cp:lastModifiedBy>
  <cp:revision>25</cp:revision>
  <dcterms:created xsi:type="dcterms:W3CDTF">2010-04-09T07:36:15Z</dcterms:created>
  <dcterms:modified xsi:type="dcterms:W3CDTF">2025-03-26T06:52:33Z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
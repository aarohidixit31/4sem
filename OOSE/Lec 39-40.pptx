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856" r:id="rId2"/>
    <p:sldId id="257" r:id="rId3"/>
    <p:sldId id="734" r:id="rId4"/>
    <p:sldId id="735" r:id="rId5"/>
    <p:sldId id="859" r:id="rId6"/>
    <p:sldId id="857" r:id="rId7"/>
    <p:sldId id="736" r:id="rId8"/>
    <p:sldId id="737" r:id="rId9"/>
    <p:sldId id="738" r:id="rId10"/>
    <p:sldId id="739" r:id="rId11"/>
    <p:sldId id="740" r:id="rId12"/>
    <p:sldId id="741" r:id="rId13"/>
    <p:sldId id="742" r:id="rId14"/>
    <p:sldId id="743" r:id="rId15"/>
    <p:sldId id="744" r:id="rId16"/>
    <p:sldId id="745" r:id="rId17"/>
    <p:sldId id="860" r:id="rId18"/>
    <p:sldId id="751" r:id="rId19"/>
    <p:sldId id="753" r:id="rId20"/>
    <p:sldId id="861" r:id="rId21"/>
    <p:sldId id="862" r:id="rId22"/>
    <p:sldId id="755" r:id="rId23"/>
    <p:sldId id="779" r:id="rId24"/>
    <p:sldId id="858" r:id="rId25"/>
    <p:sldId id="313" r:id="rId26"/>
  </p:sldIdLst>
  <p:sldSz cx="9144000" cy="6858000" type="screen4x3"/>
  <p:notesSz cx="7559675" cy="10691813"/>
  <p:embeddedFontLst>
    <p:embeddedFont>
      <p:font typeface="Calibri" panose="020F0502020204030204" pitchFamily="34" charset="0"/>
      <p:regular r:id="rId28"/>
      <p:bold r:id="rId29"/>
      <p:italic r:id="rId30"/>
      <p:boldItalic r:id="rId31"/>
    </p:embeddedFont>
    <p:embeddedFont>
      <p:font typeface="Times New Roman Bold" panose="02020803070505020304" pitchFamily="18" charset="0"/>
      <p:bold r:id="rId32"/>
    </p:embeddedFont>
    <p:embeddedFont>
      <p:font typeface="Arial Unicode MS" panose="020B0604020202020204" pitchFamily="34" charset="-128"/>
      <p:regular r:id="rId33"/>
    </p:embeddedFont>
    <p:embeddedFont>
      <p:font typeface="Times" panose="02020603050405020304" pitchFamily="18" charset="0"/>
      <p:regular r:id="rId34"/>
      <p:bold r:id="rId35"/>
      <p:italic r:id="rId36"/>
      <p:boldItalic r:id="rId37"/>
    </p:embeddedFont>
    <p:embeddedFont>
      <p:font typeface="MS PGothic" panose="020B0600070205080204" pitchFamily="34" charset="-128"/>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jBLrMujGmK0mcIUsVW4HHj27w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6D8C4D-A2DB-48BA-B2CD-EECFE764FD55}">
  <a:tblStyle styleId="{866D8C4D-A2DB-48BA-B2CD-EECFE764FD5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139889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2218947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783039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112868-65FD-4572-A383-97DC0EC9B913}" type="slidenum">
              <a:rPr lang="en-US" smtClean="0"/>
              <a:pPr/>
              <a:t>3</a:t>
            </a:fld>
            <a:endParaRPr lang="en-US"/>
          </a:p>
        </p:txBody>
      </p:sp>
    </p:spTree>
    <p:extLst>
      <p:ext uri="{BB962C8B-B14F-4D97-AF65-F5344CB8AC3E}">
        <p14:creationId xmlns:p14="http://schemas.microsoft.com/office/powerpoint/2010/main" val="464124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112868-65FD-4572-A383-97DC0EC9B913}" type="slidenum">
              <a:rPr lang="en-US" smtClean="0"/>
              <a:pPr/>
              <a:t>18</a:t>
            </a:fld>
            <a:endParaRPr lang="en-US"/>
          </a:p>
        </p:txBody>
      </p:sp>
    </p:spTree>
    <p:extLst>
      <p:ext uri="{BB962C8B-B14F-4D97-AF65-F5344CB8AC3E}">
        <p14:creationId xmlns:p14="http://schemas.microsoft.com/office/powerpoint/2010/main" val="701287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112868-65FD-4572-A383-97DC0EC9B913}" type="slidenum">
              <a:rPr lang="en-US" smtClean="0"/>
              <a:pPr/>
              <a:t>19</a:t>
            </a:fld>
            <a:endParaRPr lang="en-US"/>
          </a:p>
        </p:txBody>
      </p:sp>
    </p:spTree>
    <p:extLst>
      <p:ext uri="{BB962C8B-B14F-4D97-AF65-F5344CB8AC3E}">
        <p14:creationId xmlns:p14="http://schemas.microsoft.com/office/powerpoint/2010/main" val="1396671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112868-65FD-4572-A383-97DC0EC9B913}" type="slidenum">
              <a:rPr lang="en-US" smtClean="0"/>
              <a:pPr/>
              <a:t>22</a:t>
            </a:fld>
            <a:endParaRPr lang="en-US"/>
          </a:p>
        </p:txBody>
      </p:sp>
    </p:spTree>
    <p:extLst>
      <p:ext uri="{BB962C8B-B14F-4D97-AF65-F5344CB8AC3E}">
        <p14:creationId xmlns:p14="http://schemas.microsoft.com/office/powerpoint/2010/main" val="1646704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7803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1"/>
        <p:cNvGrpSpPr/>
        <p:nvPr/>
      </p:nvGrpSpPr>
      <p:grpSpPr>
        <a:xfrm>
          <a:off x="0" y="0"/>
          <a:ext cx="0" cy="0"/>
          <a:chOff x="0" y="0"/>
          <a:chExt cx="0" cy="0"/>
        </a:xfrm>
      </p:grpSpPr>
      <p:sp>
        <p:nvSpPr>
          <p:cNvPr id="42" name="Google Shape;42;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7" name="Google Shape;47;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51"/>
        <p:cNvGrpSpPr/>
        <p:nvPr/>
      </p:nvGrpSpPr>
      <p:grpSpPr>
        <a:xfrm>
          <a:off x="0" y="0"/>
          <a:ext cx="0" cy="0"/>
          <a:chOff x="0" y="0"/>
          <a:chExt cx="0" cy="0"/>
        </a:xfrm>
      </p:grpSpPr>
      <p:sp>
        <p:nvSpPr>
          <p:cNvPr id="52" name="Google Shape;52;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53" name="Google Shape;53;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60"/>
        <p:cNvGrpSpPr/>
        <p:nvPr/>
      </p:nvGrpSpPr>
      <p:grpSpPr>
        <a:xfrm>
          <a:off x="0" y="0"/>
          <a:ext cx="0" cy="0"/>
          <a:chOff x="0" y="0"/>
          <a:chExt cx="0" cy="0"/>
        </a:xfrm>
      </p:grpSpPr>
      <p:sp>
        <p:nvSpPr>
          <p:cNvPr id="61" name="Google Shape;61;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6"/>
        <p:cNvGrpSpPr/>
        <p:nvPr/>
      </p:nvGrpSpPr>
      <p:grpSpPr>
        <a:xfrm>
          <a:off x="0" y="0"/>
          <a:ext cx="0" cy="0"/>
          <a:chOff x="0" y="0"/>
          <a:chExt cx="0" cy="0"/>
        </a:xfrm>
      </p:grpSpPr>
      <p:sp>
        <p:nvSpPr>
          <p:cNvPr id="67" name="Google Shape;67;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7"/>
        <p:cNvGrpSpPr/>
        <p:nvPr/>
      </p:nvGrpSpPr>
      <p:grpSpPr>
        <a:xfrm>
          <a:off x="0" y="0"/>
          <a:ext cx="0" cy="0"/>
          <a:chOff x="0" y="0"/>
          <a:chExt cx="0" cy="0"/>
        </a:xfrm>
      </p:grpSpPr>
      <p:sp>
        <p:nvSpPr>
          <p:cNvPr id="78" name="Google Shape;78;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84"/>
        <p:cNvGrpSpPr/>
        <p:nvPr/>
      </p:nvGrpSpPr>
      <p:grpSpPr>
        <a:xfrm>
          <a:off x="0" y="0"/>
          <a:ext cx="0" cy="0"/>
          <a:chOff x="0" y="0"/>
          <a:chExt cx="0" cy="0"/>
        </a:xfrm>
      </p:grpSpPr>
      <p:sp>
        <p:nvSpPr>
          <p:cNvPr id="85" name="Google Shape;85;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E11729AC-FBB6-50BF-140F-6DFFE9DCD4C4}"/>
              </a:ext>
            </a:extLst>
          </p:cNvPr>
          <p:cNvSpPr>
            <a:spLocks noGrp="1"/>
          </p:cNvSpPr>
          <p:nvPr>
            <p:ph type="sldNum" sz="quarter" idx="10"/>
          </p:nvPr>
        </p:nvSpPr>
        <p:spPr/>
        <p:txBody>
          <a:bodyPr/>
          <a:lstStyle>
            <a:lvl1pPr>
              <a:defRPr/>
            </a:lvl1pPr>
          </a:lstStyle>
          <a:p>
            <a:r>
              <a:rPr lang="en-US" altLang="en-US"/>
              <a:t>12.</a:t>
            </a:r>
            <a:fld id="{79B5908F-1003-4FE2-9619-748025AA9679}" type="slidenum">
              <a:rPr lang="en-US" altLang="en-US"/>
              <a:pPr/>
              <a:t>‹#›</a:t>
            </a:fld>
            <a:endParaRPr lang="en-US" altLang="en-US"/>
          </a:p>
        </p:txBody>
      </p:sp>
    </p:spTree>
    <p:extLst>
      <p:ext uri="{BB962C8B-B14F-4D97-AF65-F5344CB8AC3E}">
        <p14:creationId xmlns:p14="http://schemas.microsoft.com/office/powerpoint/2010/main" val="2599178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IN"/>
              <a:t>Computer Networks               </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institutedata.com/us/blog/important-software-engineer-skill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boomandbucket.com/blog/project-schedule-optimization-and-time-management-strategi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microsoft.com/office/2007/relationships/hdphoto" Target="../media/hdphoto3.wdp"/><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5.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p:nvPr/>
        </p:nvSpPr>
        <p:spPr>
          <a:xfrm>
            <a:off x="590598" y="2803799"/>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dirty="0">
                <a:solidFill>
                  <a:srgbClr val="0070C0"/>
                </a:solidFill>
                <a:latin typeface="Times New Roman"/>
                <a:ea typeface="Times New Roman"/>
                <a:cs typeface="Times New Roman"/>
                <a:sym typeface="Times New Roman"/>
              </a:rPr>
              <a:t>Project </a:t>
            </a:r>
            <a:r>
              <a:rPr lang="en-US" sz="2400" b="1" dirty="0" smtClean="0">
                <a:solidFill>
                  <a:srgbClr val="0070C0"/>
                </a:solidFill>
                <a:latin typeface="Times New Roman"/>
                <a:ea typeface="Times New Roman"/>
                <a:cs typeface="Times New Roman"/>
                <a:sym typeface="Times New Roman"/>
              </a:rPr>
              <a:t>Scheduling</a:t>
            </a:r>
          </a:p>
          <a:p>
            <a:pPr marL="0" marR="0" lvl="0" indent="0" algn="ctr" rtl="0">
              <a:lnSpc>
                <a:spcPct val="100000"/>
              </a:lnSpc>
              <a:spcBef>
                <a:spcPts val="400"/>
              </a:spcBef>
              <a:spcAft>
                <a:spcPts val="0"/>
              </a:spcAft>
              <a:buClr>
                <a:srgbClr val="000000"/>
              </a:buClr>
              <a:buSzPts val="2000"/>
              <a:buFont typeface="Arial"/>
              <a:buNone/>
            </a:pPr>
            <a:r>
              <a:rPr lang="en-US" sz="2400" b="1" dirty="0" smtClean="0">
                <a:solidFill>
                  <a:srgbClr val="0070C0"/>
                </a:solidFill>
                <a:latin typeface="Times New Roman"/>
                <a:ea typeface="Times New Roman"/>
                <a:cs typeface="Times New Roman"/>
                <a:sym typeface="Times New Roman"/>
              </a:rPr>
              <a:t>By </a:t>
            </a:r>
          </a:p>
          <a:p>
            <a:pPr marL="0" marR="0" lvl="0" indent="0" algn="ctr" rtl="0">
              <a:lnSpc>
                <a:spcPct val="100000"/>
              </a:lnSpc>
              <a:spcBef>
                <a:spcPts val="400"/>
              </a:spcBef>
              <a:spcAft>
                <a:spcPts val="0"/>
              </a:spcAft>
              <a:buClr>
                <a:srgbClr val="000000"/>
              </a:buClr>
              <a:buSzPts val="2000"/>
              <a:buFont typeface="Arial"/>
              <a:buNone/>
            </a:pPr>
            <a:r>
              <a:rPr lang="en-US" sz="2400" b="1" dirty="0" smtClean="0">
                <a:solidFill>
                  <a:srgbClr val="0070C0"/>
                </a:solidFill>
                <a:latin typeface="Times New Roman"/>
                <a:ea typeface="Times New Roman"/>
                <a:cs typeface="Times New Roman"/>
                <a:sym typeface="Times New Roman"/>
              </a:rPr>
              <a:t>Dr. </a:t>
            </a:r>
            <a:r>
              <a:rPr lang="en-US" sz="2400" b="1" dirty="0" err="1" smtClean="0">
                <a:solidFill>
                  <a:srgbClr val="0070C0"/>
                </a:solidFill>
                <a:latin typeface="Times New Roman"/>
                <a:ea typeface="Times New Roman"/>
                <a:cs typeface="Times New Roman"/>
                <a:sym typeface="Times New Roman"/>
              </a:rPr>
              <a:t>Annu</a:t>
            </a:r>
            <a:r>
              <a:rPr lang="en-US" sz="2400" b="1" dirty="0" smtClean="0">
                <a:solidFill>
                  <a:srgbClr val="0070C0"/>
                </a:solidFill>
                <a:latin typeface="Times New Roman"/>
                <a:ea typeface="Times New Roman"/>
                <a:cs typeface="Times New Roman"/>
                <a:sym typeface="Times New Roman"/>
              </a:rPr>
              <a:t> </a:t>
            </a:r>
            <a:r>
              <a:rPr lang="en-US" sz="2400" b="1" dirty="0" err="1" smtClean="0">
                <a:solidFill>
                  <a:srgbClr val="0070C0"/>
                </a:solidFill>
                <a:latin typeface="Times New Roman"/>
                <a:ea typeface="Times New Roman"/>
                <a:cs typeface="Times New Roman"/>
                <a:sym typeface="Times New Roman"/>
              </a:rPr>
              <a:t>Priya</a:t>
            </a:r>
            <a:endParaRPr lang="en-US" sz="2400" b="1"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36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3" name="TextBox 2">
            <a:extLst>
              <a:ext uri="{FF2B5EF4-FFF2-40B4-BE49-F238E27FC236}">
                <a16:creationId xmlns="" xmlns:a16="http://schemas.microsoft.com/office/drawing/2014/main" id="{C9F80F3F-71B9-9667-D443-B755FD9B5632}"/>
              </a:ext>
            </a:extLst>
          </p:cNvPr>
          <p:cNvSpPr txBox="1"/>
          <p:nvPr/>
        </p:nvSpPr>
        <p:spPr>
          <a:xfrm>
            <a:off x="1398799" y="2102069"/>
            <a:ext cx="6346401" cy="1436291"/>
          </a:xfrm>
          <a:prstGeom prst="rect">
            <a:avLst/>
          </a:prstGeom>
          <a:noFill/>
        </p:spPr>
        <p:txBody>
          <a:bodyPr wrap="square">
            <a:spAutoFit/>
          </a:bodyPr>
          <a:lstStyle/>
          <a:p>
            <a:pPr marL="0" marR="0" lvl="0" indent="0" algn="ctr" rtl="0">
              <a:lnSpc>
                <a:spcPct val="100000"/>
              </a:lnSpc>
              <a:spcBef>
                <a:spcPts val="400"/>
              </a:spcBef>
              <a:spcAft>
                <a:spcPts val="0"/>
              </a:spcAft>
              <a:buClr>
                <a:srgbClr val="000000"/>
              </a:buClr>
              <a:buSzPts val="2000"/>
              <a:buFont typeface="Arial"/>
              <a:buNone/>
            </a:pPr>
            <a:r>
              <a:rPr lang="en-US" sz="2800" b="1" dirty="0">
                <a:solidFill>
                  <a:schemeClr val="dk1"/>
                </a:solidFill>
                <a:latin typeface="Times New Roman"/>
                <a:ea typeface="Times New Roman"/>
                <a:cs typeface="Times New Roman"/>
                <a:sym typeface="Times New Roman"/>
              </a:rPr>
              <a:t>Object Oriented Software Engineering (OOSE)</a:t>
            </a: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dirty="0">
                <a:solidFill>
                  <a:schemeClr val="dk1"/>
                </a:solidFill>
                <a:latin typeface="Times New Roman"/>
                <a:ea typeface="Times New Roman"/>
                <a:cs typeface="Times New Roman"/>
                <a:sym typeface="Times New Roman"/>
              </a:rPr>
              <a:t>22CS017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000"/>
              <a:buFont typeface="Arial"/>
              <a:buNone/>
            </a:pPr>
            <a:r>
              <a:rPr lang="en-US" sz="3200" b="1" i="0" u="none" strike="noStrike" cap="none" dirty="0">
                <a:solidFill>
                  <a:srgbClr val="000000"/>
                </a:solidFill>
                <a:latin typeface="Times New Roman"/>
                <a:ea typeface="Times New Roman"/>
                <a:cs typeface="Times New Roman"/>
                <a:sym typeface="Times New Roman"/>
              </a:rPr>
              <a:t>Index</a:t>
            </a:r>
          </a:p>
          <a:p>
            <a:pPr marL="0" marR="0" lvl="0" indent="0" rtl="0">
              <a:lnSpc>
                <a:spcPct val="100000"/>
              </a:lnSpc>
              <a:spcBef>
                <a:spcPts val="0"/>
              </a:spcBef>
              <a:spcAft>
                <a:spcPts val="0"/>
              </a:spcAft>
              <a:buClr>
                <a:srgbClr val="000000"/>
              </a:buClr>
              <a:buSzPts val="3000"/>
              <a:buFont typeface="Arial"/>
              <a:buNone/>
            </a:pPr>
            <a:endParaRPr sz="3200" b="0" i="0" u="none" strike="noStrike" cap="none" dirty="0">
              <a:solidFill>
                <a:srgbClr val="000000"/>
              </a:solidFill>
              <a:latin typeface="Arial"/>
              <a:ea typeface="Arial"/>
              <a:cs typeface="Arial"/>
              <a:sym typeface="Arial"/>
            </a:endParaRPr>
          </a:p>
        </p:txBody>
      </p:sp>
      <p:sp>
        <p:nvSpPr>
          <p:cNvPr id="104" name="Google Shape;104;p2"/>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p:txBody>
      </p:sp>
      <p:sp>
        <p:nvSpPr>
          <p:cNvPr id="105" name="Google Shape;105;p2"/>
          <p:cNvSpPr txBox="1">
            <a:spLocks noGrp="1"/>
          </p:cNvSpPr>
          <p:nvPr>
            <p:ph type="body" idx="1"/>
          </p:nvPr>
        </p:nvSpPr>
        <p:spPr>
          <a:xfrm>
            <a:off x="901592" y="1854747"/>
            <a:ext cx="7826002" cy="4039737"/>
          </a:xfrm>
          <a:prstGeom prst="rect">
            <a:avLst/>
          </a:prstGeom>
          <a:noFill/>
          <a:ln>
            <a:noFill/>
          </a:ln>
        </p:spPr>
        <p:txBody>
          <a:bodyPr spcFirstLastPara="1" wrap="square" lIns="0" tIns="0" rIns="0" bIns="0" anchor="t" anchorCtr="0">
            <a:noAutofit/>
          </a:bodyPr>
          <a:lstStyle/>
          <a:p>
            <a:pPr marL="342900">
              <a:lnSpc>
                <a:spcPct val="150000"/>
              </a:lnSpc>
              <a:spcBef>
                <a:spcPts val="0"/>
              </a:spcBef>
              <a:buSzPts val="2800"/>
            </a:pPr>
            <a:r>
              <a:rPr lang="en-IN" sz="2000" b="1" i="0" u="none" strike="noStrike" cap="none" dirty="0">
                <a:solidFill>
                  <a:schemeClr val="dk1"/>
                </a:solidFill>
                <a:latin typeface="Times" panose="02020603050405020304" pitchFamily="18" charset="0"/>
                <a:ea typeface="Times New Roman"/>
                <a:cs typeface="Times" panose="02020603050405020304" pitchFamily="18" charset="0"/>
                <a:sym typeface="Times New Roman"/>
              </a:rPr>
              <a:t>What is Project Scheduling</a:t>
            </a:r>
          </a:p>
          <a:p>
            <a:pPr marL="342900">
              <a:lnSpc>
                <a:spcPct val="150000"/>
              </a:lnSpc>
              <a:spcBef>
                <a:spcPts val="0"/>
              </a:spcBef>
              <a:buSzPts val="2800"/>
            </a:pPr>
            <a:r>
              <a:rPr lang="en-IN" sz="2000" b="1" i="0" u="none" strike="noStrike" cap="none" dirty="0">
                <a:solidFill>
                  <a:schemeClr val="dk1"/>
                </a:solidFill>
                <a:latin typeface="Times" panose="02020603050405020304" pitchFamily="18" charset="0"/>
                <a:ea typeface="Times New Roman"/>
                <a:cs typeface="Times" panose="02020603050405020304" pitchFamily="18" charset="0"/>
                <a:sym typeface="Times New Roman"/>
              </a:rPr>
              <a:t>Basic Principle of Project Scheduling</a:t>
            </a:r>
            <a:endParaRPr lang="en-IN" sz="2000" b="1" dirty="0">
              <a:latin typeface="Times" panose="02020603050405020304" pitchFamily="18" charset="0"/>
              <a:ea typeface="Times New Roman"/>
              <a:cs typeface="Times" panose="02020603050405020304" pitchFamily="18" charset="0"/>
              <a:sym typeface="Times New Roman"/>
            </a:endParaRPr>
          </a:p>
          <a:p>
            <a:pPr marL="342900">
              <a:lnSpc>
                <a:spcPct val="150000"/>
              </a:lnSpc>
              <a:spcBef>
                <a:spcPts val="0"/>
              </a:spcBef>
              <a:buSzPts val="2800"/>
            </a:pPr>
            <a:r>
              <a:rPr lang="en-IN" sz="2000" b="1" i="0" u="none" strike="noStrike" cap="none" dirty="0">
                <a:solidFill>
                  <a:schemeClr val="dk1"/>
                </a:solidFill>
                <a:latin typeface="Times" panose="02020603050405020304" pitchFamily="18" charset="0"/>
                <a:ea typeface="Times New Roman"/>
                <a:cs typeface="Times" panose="02020603050405020304" pitchFamily="18" charset="0"/>
                <a:sym typeface="Times New Roman"/>
              </a:rPr>
              <a:t>Project Scheduling  Techniques</a:t>
            </a:r>
          </a:p>
          <a:p>
            <a:pPr marL="342900">
              <a:lnSpc>
                <a:spcPct val="150000"/>
              </a:lnSpc>
              <a:spcBef>
                <a:spcPts val="0"/>
              </a:spcBef>
              <a:buSzPts val="2800"/>
            </a:pPr>
            <a:r>
              <a:rPr lang="en-IN" sz="2000" b="1" dirty="0">
                <a:latin typeface="Times" panose="02020603050405020304" pitchFamily="18" charset="0"/>
                <a:ea typeface="Times New Roman"/>
                <a:cs typeface="Times" panose="02020603050405020304" pitchFamily="18" charset="0"/>
                <a:sym typeface="Times New Roman"/>
              </a:rPr>
              <a:t>Earned Value Analysis</a:t>
            </a:r>
          </a:p>
          <a:p>
            <a:pPr marL="342900">
              <a:lnSpc>
                <a:spcPct val="150000"/>
              </a:lnSpc>
              <a:spcBef>
                <a:spcPts val="0"/>
              </a:spcBef>
              <a:buSzPts val="2800"/>
            </a:pPr>
            <a:r>
              <a:rPr lang="en-IN" sz="2000" b="1" dirty="0">
                <a:solidFill>
                  <a:schemeClr val="tx1"/>
                </a:solidFill>
                <a:latin typeface="Times" panose="02020603050405020304" pitchFamily="18" charset="0"/>
                <a:cs typeface="Times" panose="02020603050405020304" pitchFamily="18" charset="0"/>
              </a:rPr>
              <a:t>Practice Questions</a:t>
            </a:r>
          </a:p>
          <a:p>
            <a:pPr marL="0" indent="0">
              <a:lnSpc>
                <a:spcPct val="150000"/>
              </a:lnSpc>
              <a:spcBef>
                <a:spcPts val="0"/>
              </a:spcBef>
              <a:buSzPts val="2800"/>
              <a:buNone/>
            </a:pPr>
            <a:r>
              <a:rPr lang="en-US" sz="2000" b="1" i="0" dirty="0">
                <a:solidFill>
                  <a:schemeClr val="tx1"/>
                </a:solidFill>
                <a:effectLst/>
                <a:latin typeface="Times" panose="02020603050405020304" pitchFamily="18" charset="0"/>
                <a:cs typeface="Times" panose="02020603050405020304" pitchFamily="18" charset="0"/>
              </a:rPr>
              <a:t> </a:t>
            </a:r>
            <a:endParaRPr lang="en-US" altLang="en-US" sz="2000" b="1" baseline="0" dirty="0">
              <a:solidFill>
                <a:schemeClr val="tx1"/>
              </a:solidFill>
              <a:latin typeface="Times" panose="02020603050405020304" pitchFamily="18" charset="0"/>
              <a:cs typeface="Times" panose="02020603050405020304" pitchFamily="18" charset="0"/>
            </a:endParaRPr>
          </a:p>
          <a:p>
            <a:pPr marL="342900" marR="0" lvl="0" algn="l" rtl="0">
              <a:lnSpc>
                <a:spcPct val="150000"/>
              </a:lnSpc>
              <a:spcBef>
                <a:spcPts val="0"/>
              </a:spcBef>
              <a:spcAft>
                <a:spcPts val="0"/>
              </a:spcAft>
              <a:buClr>
                <a:schemeClr val="dk1"/>
              </a:buClr>
              <a:buSzPts val="2800"/>
              <a:buAutoNum type="arabicPeriod"/>
            </a:pPr>
            <a:endParaRPr lang="en-IN" sz="1800" dirty="0">
              <a:latin typeface="Times New Roman"/>
              <a:ea typeface="Times New Roman"/>
              <a:cs typeface="Times New Roman"/>
              <a:sym typeface="Times New Roman"/>
            </a:endParaRPr>
          </a:p>
          <a:p>
            <a:pPr marL="342900" marR="0" lvl="0" algn="l" rtl="0">
              <a:lnSpc>
                <a:spcPct val="150000"/>
              </a:lnSpc>
              <a:spcBef>
                <a:spcPts val="0"/>
              </a:spcBef>
              <a:spcAft>
                <a:spcPts val="0"/>
              </a:spcAft>
              <a:buClr>
                <a:schemeClr val="dk1"/>
              </a:buClr>
              <a:buSzPts val="2800"/>
              <a:buAutoNum type="arabicPeriod"/>
            </a:pPr>
            <a:endParaRPr lang="en-IN" sz="1800" dirty="0">
              <a:latin typeface="Times New Roman"/>
              <a:ea typeface="Times New Roman"/>
              <a:cs typeface="Times New Roman"/>
              <a:sym typeface="Times New Roman"/>
            </a:endParaRPr>
          </a:p>
          <a:p>
            <a:pPr marL="342900" marR="0" lvl="0" algn="l" rtl="0">
              <a:lnSpc>
                <a:spcPct val="150000"/>
              </a:lnSpc>
              <a:spcBef>
                <a:spcPts val="0"/>
              </a:spcBef>
              <a:spcAft>
                <a:spcPts val="0"/>
              </a:spcAft>
              <a:buClr>
                <a:schemeClr val="dk1"/>
              </a:buClr>
              <a:buSzPts val="2800"/>
              <a:buAutoNum type="arabicPeriod"/>
            </a:pPr>
            <a:endParaRPr lang="en-US" sz="1600" dirty="0">
              <a:latin typeface="Times" panose="02020603050405020304" pitchFamily="18" charset="0"/>
              <a:ea typeface="Times New Roman"/>
              <a:cs typeface="Times" panose="02020603050405020304" pitchFamily="18" charset="0"/>
              <a:sym typeface="Times New Roman"/>
            </a:endParaRPr>
          </a:p>
          <a:p>
            <a:pPr marL="342900" marR="0" lvl="0" indent="-342900" algn="l" rtl="0">
              <a:lnSpc>
                <a:spcPct val="150000"/>
              </a:lnSpc>
              <a:spcBef>
                <a:spcPts val="0"/>
              </a:spcBef>
              <a:spcAft>
                <a:spcPts val="0"/>
              </a:spcAft>
              <a:buClr>
                <a:schemeClr val="dk1"/>
              </a:buClr>
              <a:buSzPts val="2800"/>
              <a:buFont typeface="Times New Roman"/>
              <a:buAutoNum type="arabicPeriod"/>
            </a:pPr>
            <a:endParaRPr sz="1800" dirty="0"/>
          </a:p>
        </p:txBody>
      </p:sp>
    </p:spTree>
    <p:extLst>
      <p:ext uri="{BB962C8B-B14F-4D97-AF65-F5344CB8AC3E}">
        <p14:creationId xmlns:p14="http://schemas.microsoft.com/office/powerpoint/2010/main" val="4063953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Introduction to Project Scheduling</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3</a:t>
            </a:fld>
            <a:endParaRPr lang="en-US"/>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304800" y="887845"/>
            <a:ext cx="8534400" cy="5410200"/>
          </a:xfrm>
        </p:spPr>
        <p:txBody>
          <a:bodyPr>
            <a:noAutofit/>
          </a:bodyPr>
          <a:lstStyle/>
          <a:p>
            <a:pPr algn="just"/>
            <a:r>
              <a:rPr lang="en-IN" sz="1800" dirty="0">
                <a:latin typeface="Times" panose="02020603050405020304" pitchFamily="18" charset="0"/>
                <a:cs typeface="Times" panose="02020603050405020304" pitchFamily="18" charset="0"/>
              </a:rPr>
              <a:t>Scheduling in project management is the listing of activities, deliverables, and milestones within a project. </a:t>
            </a:r>
          </a:p>
          <a:p>
            <a:pPr algn="just"/>
            <a:r>
              <a:rPr lang="en-IN" sz="1800" dirty="0">
                <a:latin typeface="Times" panose="02020603050405020304" pitchFamily="18" charset="0"/>
                <a:cs typeface="Times" panose="02020603050405020304" pitchFamily="18" charset="0"/>
              </a:rPr>
              <a:t>A schedule also usually includes a planned start and finish date, duration, and resources assigned to each activity. </a:t>
            </a:r>
          </a:p>
          <a:p>
            <a:pPr algn="just"/>
            <a:r>
              <a:rPr lang="en-IN" sz="1800" dirty="0">
                <a:latin typeface="Times" panose="02020603050405020304" pitchFamily="18" charset="0"/>
                <a:cs typeface="Times" panose="02020603050405020304" pitchFamily="18" charset="0"/>
              </a:rPr>
              <a:t>Effective project scheduling is a critical component of successful time management.</a:t>
            </a:r>
          </a:p>
          <a:p>
            <a:pPr algn="just"/>
            <a:r>
              <a:rPr lang="en-IN" sz="1800" dirty="0">
                <a:latin typeface="Times" panose="02020603050405020304" pitchFamily="18" charset="0"/>
                <a:cs typeface="Times" panose="02020603050405020304" pitchFamily="18" charset="0"/>
              </a:rPr>
              <a:t>When people discuss the processes for building a schedule, they are usually referring to the first six processes of time management:</a:t>
            </a:r>
          </a:p>
          <a:p>
            <a:pPr algn="just"/>
            <a:endParaRPr lang="en-IN" sz="1800" dirty="0">
              <a:latin typeface="Times" panose="02020603050405020304" pitchFamily="18" charset="0"/>
              <a:cs typeface="Times" panose="02020603050405020304" pitchFamily="18" charset="0"/>
            </a:endParaRPr>
          </a:p>
          <a:p>
            <a:pPr lvl="1" algn="just"/>
            <a:r>
              <a:rPr lang="en-IN" sz="1800" dirty="0">
                <a:latin typeface="Times" panose="02020603050405020304" pitchFamily="18" charset="0"/>
                <a:cs typeface="Times" panose="02020603050405020304" pitchFamily="18" charset="0"/>
              </a:rPr>
              <a:t>Plan schedule management</a:t>
            </a:r>
          </a:p>
          <a:p>
            <a:pPr lvl="1" algn="just"/>
            <a:r>
              <a:rPr lang="en-IN" sz="1800" dirty="0">
                <a:latin typeface="Times" panose="02020603050405020304" pitchFamily="18" charset="0"/>
                <a:cs typeface="Times" panose="02020603050405020304" pitchFamily="18" charset="0"/>
              </a:rPr>
              <a:t>Define project activities</a:t>
            </a:r>
          </a:p>
          <a:p>
            <a:pPr lvl="1" algn="just"/>
            <a:r>
              <a:rPr lang="en-IN" sz="1800" dirty="0">
                <a:latin typeface="Times" panose="02020603050405020304" pitchFamily="18" charset="0"/>
                <a:cs typeface="Times" panose="02020603050405020304" pitchFamily="18" charset="0"/>
              </a:rPr>
              <a:t>Sequence activities</a:t>
            </a:r>
          </a:p>
          <a:p>
            <a:pPr lvl="1" algn="just"/>
            <a:r>
              <a:rPr lang="en-IN" sz="1800" dirty="0">
                <a:latin typeface="Times" panose="02020603050405020304" pitchFamily="18" charset="0"/>
                <a:cs typeface="Times" panose="02020603050405020304" pitchFamily="18" charset="0"/>
              </a:rPr>
              <a:t>Estimate resources</a:t>
            </a:r>
          </a:p>
          <a:p>
            <a:pPr lvl="1" algn="just"/>
            <a:r>
              <a:rPr lang="en-IN" sz="1800" dirty="0">
                <a:latin typeface="Times" panose="02020603050405020304" pitchFamily="18" charset="0"/>
                <a:cs typeface="Times" panose="02020603050405020304" pitchFamily="18" charset="0"/>
              </a:rPr>
              <a:t>Estimate durations</a:t>
            </a:r>
          </a:p>
          <a:p>
            <a:pPr lvl="1" algn="just"/>
            <a:r>
              <a:rPr lang="en-IN" sz="1800" dirty="0">
                <a:latin typeface="Times" panose="02020603050405020304" pitchFamily="18" charset="0"/>
                <a:cs typeface="Times" panose="02020603050405020304" pitchFamily="18" charset="0"/>
              </a:rPr>
              <a:t>Develop the project schedule</a:t>
            </a:r>
          </a:p>
          <a:p>
            <a:pPr marL="0" indent="0" algn="just">
              <a:lnSpc>
                <a:spcPct val="150000"/>
              </a:lnSpc>
              <a:buNone/>
            </a:pPr>
            <a:r>
              <a:rPr lang="en-US" dirty="0">
                <a:latin typeface="Times" panose="02020603050405020304" pitchFamily="18" charset="0"/>
                <a:cs typeface="Times" panose="02020603050405020304" pitchFamily="18" charset="0"/>
              </a:rPr>
              <a:t/>
            </a:r>
            <a:br>
              <a:rPr lang="en-US" dirty="0">
                <a:latin typeface="Times" panose="02020603050405020304" pitchFamily="18" charset="0"/>
                <a:cs typeface="Times" panose="02020603050405020304" pitchFamily="18" charset="0"/>
              </a:rPr>
            </a:br>
            <a:r>
              <a:rPr lang="en-US" dirty="0">
                <a:solidFill>
                  <a:srgbClr val="303030"/>
                </a:solidFill>
                <a:latin typeface="Times" panose="02020603050405020304" pitchFamily="18" charset="0"/>
                <a:cs typeface="Times" panose="02020603050405020304" pitchFamily="18" charset="0"/>
              </a:rPr>
              <a:t> </a:t>
            </a:r>
            <a:r>
              <a:rPr lang="en-US" dirty="0">
                <a:latin typeface="Times" panose="02020603050405020304" pitchFamily="18" charset="0"/>
                <a:cs typeface="Times" panose="02020603050405020304" pitchFamily="18" charset="0"/>
              </a:rPr>
              <a:t/>
            </a:r>
            <a:br>
              <a:rPr lang="en-US" dirty="0">
                <a:latin typeface="Times" panose="02020603050405020304" pitchFamily="18" charset="0"/>
                <a:cs typeface="Times" panose="02020603050405020304" pitchFamily="18" charset="0"/>
              </a:rPr>
            </a:br>
            <a:endParaRPr lang="en-US" dirty="0">
              <a:solidFill>
                <a:srgbClr val="303030"/>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995604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Project Scheduling</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4</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76200" y="887845"/>
            <a:ext cx="8763000" cy="5410200"/>
          </a:xfrm>
        </p:spPr>
        <p:txBody>
          <a:bodyPr>
            <a:noAutofit/>
          </a:bodyPr>
          <a:lstStyle/>
          <a:p>
            <a:pPr algn="just">
              <a:lnSpc>
                <a:spcPct val="150000"/>
              </a:lnSpc>
            </a:pPr>
            <a:r>
              <a:rPr lang="en-IN" sz="1800" dirty="0">
                <a:latin typeface="Times" panose="02020603050405020304" pitchFamily="18" charset="0"/>
                <a:cs typeface="Times" panose="02020603050405020304" pitchFamily="18" charset="0"/>
              </a:rPr>
              <a:t>Project-task scheduling is a significant project planning activity. It comprises deciding which functions would be taken up when. </a:t>
            </a:r>
          </a:p>
          <a:p>
            <a:pPr algn="just">
              <a:lnSpc>
                <a:spcPct val="150000"/>
              </a:lnSpc>
            </a:pPr>
            <a:r>
              <a:rPr lang="en-IN" sz="1800" b="1" dirty="0">
                <a:latin typeface="Times" panose="02020603050405020304" pitchFamily="18" charset="0"/>
                <a:cs typeface="Times" panose="02020603050405020304" pitchFamily="18" charset="0"/>
              </a:rPr>
              <a:t>To schedule the project plan, a software project manager wants to do the following:</a:t>
            </a:r>
            <a:endParaRPr lang="en-IN" sz="1800" dirty="0">
              <a:latin typeface="Times" panose="02020603050405020304" pitchFamily="18" charset="0"/>
              <a:cs typeface="Times" panose="02020603050405020304" pitchFamily="18" charset="0"/>
            </a:endParaRPr>
          </a:p>
          <a:p>
            <a:pPr lvl="1" algn="just">
              <a:lnSpc>
                <a:spcPct val="150000"/>
              </a:lnSpc>
            </a:pPr>
            <a:r>
              <a:rPr lang="en-IN" sz="1800" dirty="0">
                <a:latin typeface="Times" panose="02020603050405020304" pitchFamily="18" charset="0"/>
                <a:cs typeface="Times" panose="02020603050405020304" pitchFamily="18" charset="0"/>
              </a:rPr>
              <a:t>Identify all the functions required to complete the project.</a:t>
            </a:r>
          </a:p>
          <a:p>
            <a:pPr lvl="1" algn="just">
              <a:lnSpc>
                <a:spcPct val="150000"/>
              </a:lnSpc>
            </a:pPr>
            <a:r>
              <a:rPr lang="en-IN" sz="1800" dirty="0">
                <a:latin typeface="Times" panose="02020603050405020304" pitchFamily="18" charset="0"/>
                <a:cs typeface="Times" panose="02020603050405020304" pitchFamily="18" charset="0"/>
              </a:rPr>
              <a:t>Break down large functions into small activities.</a:t>
            </a:r>
          </a:p>
          <a:p>
            <a:pPr lvl="1" algn="just">
              <a:lnSpc>
                <a:spcPct val="150000"/>
              </a:lnSpc>
            </a:pPr>
            <a:r>
              <a:rPr lang="en-IN" sz="1800" dirty="0">
                <a:latin typeface="Times" panose="02020603050405020304" pitchFamily="18" charset="0"/>
                <a:cs typeface="Times" panose="02020603050405020304" pitchFamily="18" charset="0"/>
              </a:rPr>
              <a:t>Determine the dependency among various activities.</a:t>
            </a:r>
          </a:p>
          <a:p>
            <a:pPr lvl="1" algn="just">
              <a:lnSpc>
                <a:spcPct val="150000"/>
              </a:lnSpc>
            </a:pPr>
            <a:r>
              <a:rPr lang="en-IN" sz="1800" dirty="0">
                <a:latin typeface="Times" panose="02020603050405020304" pitchFamily="18" charset="0"/>
                <a:cs typeface="Times" panose="02020603050405020304" pitchFamily="18" charset="0"/>
              </a:rPr>
              <a:t>Establish the most likely size for the time duration required to complete the activities.</a:t>
            </a:r>
          </a:p>
          <a:p>
            <a:pPr lvl="1" algn="just">
              <a:lnSpc>
                <a:spcPct val="150000"/>
              </a:lnSpc>
            </a:pPr>
            <a:r>
              <a:rPr lang="en-IN" sz="1800" dirty="0">
                <a:latin typeface="Times" panose="02020603050405020304" pitchFamily="18" charset="0"/>
                <a:cs typeface="Times" panose="02020603050405020304" pitchFamily="18" charset="0"/>
              </a:rPr>
              <a:t>Allocate resources to activities.</a:t>
            </a:r>
          </a:p>
          <a:p>
            <a:pPr lvl="1" algn="just">
              <a:lnSpc>
                <a:spcPct val="150000"/>
              </a:lnSpc>
            </a:pPr>
            <a:r>
              <a:rPr lang="en-IN" sz="1800" dirty="0">
                <a:latin typeface="Times" panose="02020603050405020304" pitchFamily="18" charset="0"/>
                <a:cs typeface="Times" panose="02020603050405020304" pitchFamily="18" charset="0"/>
              </a:rPr>
              <a:t>Plan the beginning and ending dates for different activities.</a:t>
            </a:r>
          </a:p>
          <a:p>
            <a:pPr lvl="1" algn="just">
              <a:lnSpc>
                <a:spcPct val="150000"/>
              </a:lnSpc>
            </a:pPr>
            <a:r>
              <a:rPr lang="en-IN" sz="1800" dirty="0">
                <a:latin typeface="Times" panose="02020603050405020304" pitchFamily="18" charset="0"/>
                <a:cs typeface="Times" panose="02020603050405020304" pitchFamily="18" charset="0"/>
              </a:rPr>
              <a:t>Determine the critical path. A critical way is the group of activities that decide the duration of the project.</a:t>
            </a:r>
          </a:p>
          <a:p>
            <a:pPr marL="0" indent="0" algn="just">
              <a:lnSpc>
                <a:spcPct val="150000"/>
              </a:lnSpc>
              <a:buNone/>
            </a:pPr>
            <a:r>
              <a:rPr lang="en-US" dirty="0">
                <a:latin typeface="Times" panose="02020603050405020304" pitchFamily="18" charset="0"/>
                <a:cs typeface="Times" panose="02020603050405020304" pitchFamily="18" charset="0"/>
              </a:rPr>
              <a:t/>
            </a:r>
            <a:br>
              <a:rPr lang="en-US" dirty="0">
                <a:latin typeface="Times" panose="02020603050405020304" pitchFamily="18" charset="0"/>
                <a:cs typeface="Times" panose="02020603050405020304" pitchFamily="18" charset="0"/>
              </a:rPr>
            </a:br>
            <a:r>
              <a:rPr lang="en-US" dirty="0">
                <a:solidFill>
                  <a:srgbClr val="303030"/>
                </a:solidFill>
                <a:latin typeface="Times" panose="02020603050405020304" pitchFamily="18" charset="0"/>
                <a:cs typeface="Times" panose="02020603050405020304" pitchFamily="18" charset="0"/>
              </a:rPr>
              <a:t> </a:t>
            </a:r>
            <a:r>
              <a:rPr lang="en-US" dirty="0">
                <a:latin typeface="Times" panose="02020603050405020304" pitchFamily="18" charset="0"/>
                <a:cs typeface="Times" panose="02020603050405020304" pitchFamily="18" charset="0"/>
              </a:rPr>
              <a:t/>
            </a:r>
            <a:br>
              <a:rPr lang="en-US" dirty="0">
                <a:latin typeface="Times" panose="02020603050405020304" pitchFamily="18" charset="0"/>
                <a:cs typeface="Times" panose="02020603050405020304" pitchFamily="18" charset="0"/>
              </a:rPr>
            </a:br>
            <a:endParaRPr lang="en-US" dirty="0">
              <a:solidFill>
                <a:srgbClr val="303030"/>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1309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540" y="128588"/>
            <a:ext cx="6129338" cy="914040"/>
          </a:xfrm>
        </p:spPr>
        <p:txBody>
          <a:bodyPr/>
          <a:lstStyle/>
          <a:p>
            <a:r>
              <a:rPr lang="en-US" b="1" dirty="0"/>
              <a:t>The role of project scheduling in software engineering</a:t>
            </a:r>
            <a:br>
              <a:rPr lang="en-US" b="1" dirty="0"/>
            </a:br>
            <a:endParaRPr lang="en-IN" dirty="0"/>
          </a:p>
        </p:txBody>
      </p:sp>
      <p:sp>
        <p:nvSpPr>
          <p:cNvPr id="3" name="Text Placeholder 2"/>
          <p:cNvSpPr>
            <a:spLocks noGrp="1"/>
          </p:cNvSpPr>
          <p:nvPr>
            <p:ph type="body" idx="1"/>
          </p:nvPr>
        </p:nvSpPr>
        <p:spPr>
          <a:xfrm>
            <a:off x="352540" y="1042627"/>
            <a:ext cx="8333900" cy="5115285"/>
          </a:xfrm>
        </p:spPr>
        <p:txBody>
          <a:bodyPr>
            <a:normAutofit lnSpcReduction="10000"/>
          </a:bodyPr>
          <a:lstStyle/>
          <a:p>
            <a:pPr>
              <a:lnSpc>
                <a:spcPct val="150000"/>
              </a:lnSpc>
            </a:pPr>
            <a:r>
              <a:rPr lang="en-US" sz="1800" dirty="0">
                <a:latin typeface="Times New Roman" panose="02020603050405020304" pitchFamily="18" charset="0"/>
                <a:cs typeface="Times New Roman" panose="02020603050405020304" pitchFamily="18" charset="0"/>
              </a:rPr>
              <a:t>Project scheduling plays a vital role in software engineering. It helps in managing resources effectively, ensuring that they are allocated optimally to achieve project goals.</a:t>
            </a:r>
          </a:p>
          <a:p>
            <a:pPr>
              <a:lnSpc>
                <a:spcPct val="150000"/>
              </a:lnSpc>
            </a:pPr>
            <a:r>
              <a:rPr lang="en-US" sz="1800" dirty="0">
                <a:latin typeface="Times New Roman" panose="02020603050405020304" pitchFamily="18" charset="0"/>
                <a:cs typeface="Times New Roman" panose="02020603050405020304" pitchFamily="18" charset="0"/>
              </a:rPr>
              <a:t>By breaking down the project into smaller tasks and assigning time frames to each, project scheduling allows for better control and monitoring of progress.</a:t>
            </a:r>
          </a:p>
          <a:p>
            <a:pPr>
              <a:lnSpc>
                <a:spcPct val="150000"/>
              </a:lnSpc>
            </a:pPr>
            <a:r>
              <a:rPr lang="en-US" sz="1800" dirty="0">
                <a:latin typeface="Times New Roman" panose="02020603050405020304" pitchFamily="18" charset="0"/>
                <a:cs typeface="Times New Roman" panose="02020603050405020304" pitchFamily="18" charset="0"/>
              </a:rPr>
              <a:t>Furthermore, project scheduling in software engineering </a:t>
            </a:r>
            <a:r>
              <a:rPr lang="en-US" sz="1800" dirty="0">
                <a:latin typeface="Times New Roman" panose="02020603050405020304" pitchFamily="18" charset="0"/>
                <a:cs typeface="Times New Roman" panose="02020603050405020304" pitchFamily="18" charset="0"/>
                <a:hlinkClick r:id="rId2"/>
              </a:rPr>
              <a:t>enables developers to identify critical paths and milestones within a project</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It helps prioritize tasks and activities, ensuring that the most critical elements are addressed first.</a:t>
            </a:r>
          </a:p>
          <a:p>
            <a:pPr>
              <a:lnSpc>
                <a:spcPct val="150000"/>
              </a:lnSpc>
            </a:pPr>
            <a:r>
              <a:rPr lang="en-US" sz="1800" dirty="0">
                <a:latin typeface="Times New Roman" panose="02020603050405020304" pitchFamily="18" charset="0"/>
                <a:cs typeface="Times New Roman" panose="02020603050405020304" pitchFamily="18" charset="0"/>
              </a:rPr>
              <a:t>This not only enhances project efficiency but also reduces the risk of delays and cost overruns.</a:t>
            </a:r>
          </a:p>
          <a:p>
            <a:pPr>
              <a:lnSpc>
                <a:spcPct val="150000"/>
              </a:lnSpc>
            </a:pPr>
            <a:endParaRPr lang="en-IN" dirty="0"/>
          </a:p>
        </p:txBody>
      </p:sp>
    </p:spTree>
    <p:extLst>
      <p:ext uri="{BB962C8B-B14F-4D97-AF65-F5344CB8AC3E}">
        <p14:creationId xmlns:p14="http://schemas.microsoft.com/office/powerpoint/2010/main" val="3005612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Needs of </a:t>
            </a:r>
            <a:r>
              <a:rPr lang="en-US" b="1" dirty="0">
                <a:latin typeface="Times New Roman Bold" panose="02020503050405090304" charset="0"/>
                <a:cs typeface="Times New Roman Bold" panose="02020503050405090304" charset="0"/>
              </a:rPr>
              <a:t>Project Scheduling</a:t>
            </a:r>
            <a:endParaRPr lang="en-IN" b="1" dirty="0"/>
          </a:p>
        </p:txBody>
      </p:sp>
      <p:sp>
        <p:nvSpPr>
          <p:cNvPr id="3" name="Text Placeholder 2"/>
          <p:cNvSpPr>
            <a:spLocks noGrp="1"/>
          </p:cNvSpPr>
          <p:nvPr>
            <p:ph type="body" idx="1"/>
          </p:nvPr>
        </p:nvSpPr>
        <p:spPr>
          <a:xfrm>
            <a:off x="457200" y="1604519"/>
            <a:ext cx="8358188" cy="4653405"/>
          </a:xfrm>
        </p:spPr>
        <p:txBody>
          <a:bodyPr/>
          <a:lstStyle/>
          <a:p>
            <a:pPr algn="just">
              <a:lnSpc>
                <a:spcPct val="150000"/>
              </a:lnSpc>
            </a:pPr>
            <a:r>
              <a:rPr lang="en-US" sz="1800" dirty="0" smtClean="0">
                <a:latin typeface="Times" panose="02020603050405020304" pitchFamily="18" charset="0"/>
                <a:cs typeface="Times" panose="02020603050405020304" pitchFamily="18" charset="0"/>
              </a:rPr>
              <a:t>Today’s software systems are large , sophisticated and complex</a:t>
            </a:r>
          </a:p>
          <a:p>
            <a:pPr algn="just">
              <a:lnSpc>
                <a:spcPct val="150000"/>
              </a:lnSpc>
              <a:buFontTx/>
              <a:buChar char="-"/>
            </a:pPr>
            <a:r>
              <a:rPr lang="en-US" sz="1800" dirty="0" smtClean="0">
                <a:latin typeface="Times" panose="02020603050405020304" pitchFamily="18" charset="0"/>
                <a:cs typeface="Times" panose="02020603050405020304" pitchFamily="18" charset="0"/>
              </a:rPr>
              <a:t>Many software engineering tasks occur in parallel</a:t>
            </a:r>
          </a:p>
          <a:p>
            <a:pPr algn="just">
              <a:lnSpc>
                <a:spcPct val="150000"/>
              </a:lnSpc>
              <a:buFontTx/>
              <a:buChar char="-"/>
            </a:pPr>
            <a:r>
              <a:rPr lang="en-US" sz="1800" dirty="0" smtClean="0">
                <a:latin typeface="Times" panose="02020603050405020304" pitchFamily="18" charset="0"/>
                <a:cs typeface="Times" panose="02020603050405020304" pitchFamily="18" charset="0"/>
              </a:rPr>
              <a:t>Result of work performed during one task may have a profound effect on work conducted in another task.</a:t>
            </a:r>
          </a:p>
          <a:p>
            <a:pPr algn="just">
              <a:lnSpc>
                <a:spcPct val="150000"/>
              </a:lnSpc>
              <a:buFontTx/>
              <a:buChar char="-"/>
            </a:pPr>
            <a:r>
              <a:rPr lang="en-US" sz="1800" dirty="0" smtClean="0">
                <a:latin typeface="Times" panose="02020603050405020304" pitchFamily="18" charset="0"/>
                <a:cs typeface="Times" panose="02020603050405020304" pitchFamily="18" charset="0"/>
              </a:rPr>
              <a:t>Task interdependencies are very difficult to understand without a schedule</a:t>
            </a:r>
          </a:p>
          <a:p>
            <a:pPr algn="just">
              <a:lnSpc>
                <a:spcPct val="150000"/>
              </a:lnSpc>
              <a:buFontTx/>
              <a:buChar char="-"/>
            </a:pPr>
            <a:r>
              <a:rPr lang="en-US" sz="1800" dirty="0" smtClean="0">
                <a:latin typeface="Times" panose="02020603050405020304" pitchFamily="18" charset="0"/>
                <a:cs typeface="Times" panose="02020603050405020304" pitchFamily="18" charset="0"/>
              </a:rPr>
              <a:t>It is virtually impossible to access progress on a large software project without a detailed schedule.</a:t>
            </a:r>
          </a:p>
          <a:p>
            <a:pPr>
              <a:buFontTx/>
              <a:buChar char="-"/>
            </a:pPr>
            <a:endParaRPr lang="en-IN" dirty="0"/>
          </a:p>
        </p:txBody>
      </p:sp>
    </p:spTree>
    <p:extLst>
      <p:ext uri="{BB962C8B-B14F-4D97-AF65-F5344CB8AC3E}">
        <p14:creationId xmlns:p14="http://schemas.microsoft.com/office/powerpoint/2010/main" val="1778628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Project Scheduling Basic Principles</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7</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76200" y="887845"/>
            <a:ext cx="8763000" cy="5410200"/>
          </a:xfrm>
        </p:spPr>
        <p:txBody>
          <a:bodyPr>
            <a:noAutofit/>
          </a:bodyPr>
          <a:lstStyle/>
          <a:p>
            <a:pPr algn="just">
              <a:lnSpc>
                <a:spcPct val="150000"/>
              </a:lnSpc>
              <a:buFont typeface="+mj-lt"/>
              <a:buAutoNum type="arabicPeriod"/>
            </a:pPr>
            <a:r>
              <a:rPr lang="en-US" sz="1800" b="1" i="1" dirty="0">
                <a:solidFill>
                  <a:srgbClr val="C00000"/>
                </a:solidFill>
                <a:effectLst/>
                <a:latin typeface="Times New Roman" panose="02020603050405020304" pitchFamily="18" charset="0"/>
                <a:cs typeface="Times New Roman" panose="02020603050405020304" pitchFamily="18" charset="0"/>
              </a:rPr>
              <a:t>Compartmentalization</a:t>
            </a:r>
            <a:r>
              <a:rPr lang="en-US" sz="1800" b="0" i="1" dirty="0">
                <a:solidFill>
                  <a:srgbClr val="242021"/>
                </a:solidFill>
                <a:effectLst/>
                <a:latin typeface="Times New Roman" panose="02020603050405020304" pitchFamily="18" charset="0"/>
                <a:cs typeface="Times New Roman" panose="02020603050405020304" pitchFamily="18" charset="0"/>
              </a:rPr>
              <a:t>. </a:t>
            </a:r>
            <a:r>
              <a:rPr lang="en-US" sz="1800" b="0" i="0" dirty="0">
                <a:solidFill>
                  <a:srgbClr val="242021"/>
                </a:solidFill>
                <a:effectLst/>
                <a:latin typeface="Times New Roman" panose="02020603050405020304" pitchFamily="18" charset="0"/>
                <a:cs typeface="Times New Roman" panose="02020603050405020304" pitchFamily="18" charset="0"/>
              </a:rPr>
              <a:t>The project must be compartmentalized into a number of manageable activities and tasks. To accomplish compartmentalization, both the product and the process are </a:t>
            </a:r>
            <a:r>
              <a:rPr lang="en-US" sz="1800" b="0" i="0" dirty="0" smtClean="0">
                <a:solidFill>
                  <a:srgbClr val="242021"/>
                </a:solidFill>
                <a:effectLst/>
                <a:latin typeface="Times New Roman" panose="02020603050405020304" pitchFamily="18" charset="0"/>
                <a:cs typeface="Times New Roman" panose="02020603050405020304" pitchFamily="18" charset="0"/>
              </a:rPr>
              <a:t>refined.</a:t>
            </a:r>
          </a:p>
          <a:p>
            <a:pPr algn="just">
              <a:lnSpc>
                <a:spcPct val="150000"/>
              </a:lnSpc>
              <a:buFont typeface="+mj-lt"/>
              <a:buAutoNum type="arabicPeriod"/>
            </a:pPr>
            <a:r>
              <a:rPr lang="en-US" sz="1800" b="1" i="1" dirty="0" smtClean="0">
                <a:solidFill>
                  <a:srgbClr val="C00000"/>
                </a:solidFill>
                <a:effectLst/>
                <a:latin typeface="Times New Roman" panose="02020603050405020304" pitchFamily="18" charset="0"/>
                <a:cs typeface="Times New Roman" panose="02020603050405020304" pitchFamily="18" charset="0"/>
              </a:rPr>
              <a:t>Interdependency</a:t>
            </a:r>
            <a:r>
              <a:rPr lang="en-US" sz="1800" b="1" i="1" dirty="0">
                <a:solidFill>
                  <a:srgbClr val="C00000"/>
                </a:solidFill>
                <a:effectLst/>
                <a:latin typeface="Times New Roman" panose="02020603050405020304" pitchFamily="18" charset="0"/>
                <a:cs typeface="Times New Roman" panose="02020603050405020304" pitchFamily="18" charset="0"/>
              </a:rPr>
              <a:t>.</a:t>
            </a:r>
            <a:r>
              <a:rPr lang="en-US" sz="1800" b="0" i="1" dirty="0">
                <a:solidFill>
                  <a:srgbClr val="242021"/>
                </a:solidFill>
                <a:effectLst/>
                <a:latin typeface="Times New Roman" panose="02020603050405020304" pitchFamily="18" charset="0"/>
                <a:cs typeface="Times New Roman" panose="02020603050405020304" pitchFamily="18" charset="0"/>
              </a:rPr>
              <a:t> </a:t>
            </a:r>
            <a:r>
              <a:rPr lang="en-US" sz="1800" b="0" i="0" dirty="0">
                <a:solidFill>
                  <a:srgbClr val="242021"/>
                </a:solidFill>
                <a:effectLst/>
                <a:latin typeface="Times New Roman" panose="02020603050405020304" pitchFamily="18" charset="0"/>
                <a:cs typeface="Times New Roman" panose="02020603050405020304" pitchFamily="18" charset="0"/>
              </a:rPr>
              <a:t>The interdependency of each compartmentalized activity or task must be determined. Some tasks must occur in sequence, while others can occur in parallel. Some activities cannot commence until the work product produced by another is available. Other activities can occur </a:t>
            </a:r>
            <a:r>
              <a:rPr lang="en-US" sz="1800" b="0" i="0" dirty="0" smtClean="0">
                <a:solidFill>
                  <a:srgbClr val="242021"/>
                </a:solidFill>
                <a:effectLst/>
                <a:latin typeface="Times New Roman" panose="02020603050405020304" pitchFamily="18" charset="0"/>
                <a:cs typeface="Times New Roman" panose="02020603050405020304" pitchFamily="18" charset="0"/>
              </a:rPr>
              <a:t>independently.</a:t>
            </a:r>
          </a:p>
          <a:p>
            <a:pPr algn="just">
              <a:lnSpc>
                <a:spcPct val="150000"/>
              </a:lnSpc>
              <a:buFont typeface="+mj-lt"/>
              <a:buAutoNum type="arabicPeriod"/>
            </a:pPr>
            <a:r>
              <a:rPr lang="en-US" sz="1800" b="1" i="1" dirty="0" smtClean="0">
                <a:solidFill>
                  <a:srgbClr val="C00000"/>
                </a:solidFill>
                <a:effectLst/>
                <a:latin typeface="Times New Roman" panose="02020603050405020304" pitchFamily="18" charset="0"/>
                <a:cs typeface="Times New Roman" panose="02020603050405020304" pitchFamily="18" charset="0"/>
              </a:rPr>
              <a:t>Time </a:t>
            </a:r>
            <a:r>
              <a:rPr lang="en-US" sz="1800" b="1" i="1" dirty="0">
                <a:solidFill>
                  <a:srgbClr val="C00000"/>
                </a:solidFill>
                <a:effectLst/>
                <a:latin typeface="Times New Roman" panose="02020603050405020304" pitchFamily="18" charset="0"/>
                <a:cs typeface="Times New Roman" panose="02020603050405020304" pitchFamily="18" charset="0"/>
              </a:rPr>
              <a:t>allocation. </a:t>
            </a:r>
            <a:r>
              <a:rPr lang="en-US" sz="1800" b="0" i="0" dirty="0">
                <a:solidFill>
                  <a:srgbClr val="242021"/>
                </a:solidFill>
                <a:effectLst/>
                <a:latin typeface="Times New Roman" panose="02020603050405020304" pitchFamily="18" charset="0"/>
                <a:cs typeface="Times New Roman" panose="02020603050405020304" pitchFamily="18" charset="0"/>
              </a:rPr>
              <a:t>Each task to be scheduled must be allocated some number of work units (e.g., person-days of effort). In addition, each task must be assigned a start date and a completion date that are a function of the interdependencies and whether work will be conducted on a full-time or part-time basis.</a:t>
            </a:r>
          </a:p>
          <a:p>
            <a:pPr marL="0" indent="0" algn="just">
              <a:lnSpc>
                <a:spcPct val="150000"/>
              </a:lnSpc>
              <a:buNone/>
            </a:pPr>
            <a:r>
              <a:rPr lang="en-US" dirty="0"/>
              <a:t/>
            </a:r>
            <a:br>
              <a:rPr lang="en-US" dirty="0"/>
            </a:br>
            <a:r>
              <a:rPr lang="en-US" dirty="0">
                <a:solidFill>
                  <a:srgbClr val="303030"/>
                </a:solidFill>
              </a:rPr>
              <a:t> </a:t>
            </a:r>
            <a:r>
              <a:rPr lang="en-US" dirty="0"/>
              <a:t/>
            </a:r>
            <a:br>
              <a:rPr lang="en-US" dirty="0"/>
            </a:br>
            <a:endParaRPr lang="en-US" dirty="0">
              <a:solidFill>
                <a:srgbClr val="303030"/>
              </a:solidFill>
            </a:endParaRPr>
          </a:p>
        </p:txBody>
      </p:sp>
    </p:spTree>
    <p:extLst>
      <p:ext uri="{BB962C8B-B14F-4D97-AF65-F5344CB8AC3E}">
        <p14:creationId xmlns:p14="http://schemas.microsoft.com/office/powerpoint/2010/main" val="835411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Basic </a:t>
            </a:r>
            <a:r>
              <a:rPr lang="en-US" b="1" dirty="0" smtClean="0">
                <a:latin typeface="Times New Roman Bold" panose="02020503050405090304" charset="0"/>
                <a:cs typeface="Times New Roman Bold" panose="02020503050405090304" charset="0"/>
              </a:rPr>
              <a:t>Principles (Conti.)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8</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3" name="Text Placeholder 2"/>
          <p:cNvSpPr>
            <a:spLocks noGrp="1"/>
          </p:cNvSpPr>
          <p:nvPr>
            <p:ph type="body" idx="1"/>
          </p:nvPr>
        </p:nvSpPr>
        <p:spPr>
          <a:xfrm>
            <a:off x="371475" y="914040"/>
            <a:ext cx="8086725" cy="5715360"/>
          </a:xfrm>
        </p:spPr>
        <p:txBody>
          <a:bodyPr>
            <a:normAutofit/>
          </a:bodyPr>
          <a:lstStyle/>
          <a:p>
            <a:pPr algn="just">
              <a:lnSpc>
                <a:spcPct val="150000"/>
              </a:lnSpc>
              <a:buFont typeface="+mj-lt"/>
              <a:buAutoNum type="arabicPeriod" startAt="4"/>
            </a:pPr>
            <a:r>
              <a:rPr lang="en-US" sz="1800" b="1" i="1" dirty="0">
                <a:solidFill>
                  <a:srgbClr val="C00000"/>
                </a:solidFill>
                <a:latin typeface="Times New Roman" panose="02020603050405020304" pitchFamily="18" charset="0"/>
                <a:cs typeface="Times New Roman" panose="02020603050405020304" pitchFamily="18" charset="0"/>
              </a:rPr>
              <a:t>Effort validation. </a:t>
            </a:r>
            <a:r>
              <a:rPr lang="en-US" sz="1800" dirty="0">
                <a:solidFill>
                  <a:srgbClr val="242021"/>
                </a:solidFill>
                <a:latin typeface="Times New Roman" panose="02020603050405020304" pitchFamily="18" charset="0"/>
                <a:cs typeface="Times New Roman" panose="02020603050405020304" pitchFamily="18" charset="0"/>
              </a:rPr>
              <a:t>Every project has a defined number of people on the software team. As time allocation occurs, you must ensure that no more than the allocated number of people have been scheduled at any given time. </a:t>
            </a:r>
          </a:p>
          <a:p>
            <a:pPr algn="just">
              <a:lnSpc>
                <a:spcPct val="150000"/>
              </a:lnSpc>
              <a:buFont typeface="+mj-lt"/>
              <a:buAutoNum type="arabicPeriod" startAt="4"/>
            </a:pPr>
            <a:r>
              <a:rPr lang="en-US" sz="1800" b="1" i="1" dirty="0">
                <a:solidFill>
                  <a:srgbClr val="C00000"/>
                </a:solidFill>
                <a:latin typeface="Times New Roman" panose="02020603050405020304" pitchFamily="18" charset="0"/>
                <a:cs typeface="Times New Roman" panose="02020603050405020304" pitchFamily="18" charset="0"/>
              </a:rPr>
              <a:t>Defined responsibilities. </a:t>
            </a:r>
            <a:r>
              <a:rPr lang="en-US" sz="1800" dirty="0">
                <a:solidFill>
                  <a:srgbClr val="242021"/>
                </a:solidFill>
                <a:latin typeface="Times New Roman" panose="02020603050405020304" pitchFamily="18" charset="0"/>
                <a:cs typeface="Times New Roman" panose="02020603050405020304" pitchFamily="18" charset="0"/>
              </a:rPr>
              <a:t>Every task that is scheduled should be assigned to a specific team member.</a:t>
            </a:r>
          </a:p>
          <a:p>
            <a:pPr algn="just">
              <a:lnSpc>
                <a:spcPct val="150000"/>
              </a:lnSpc>
              <a:buFont typeface="+mj-lt"/>
              <a:buAutoNum type="arabicPeriod" startAt="4"/>
            </a:pPr>
            <a:r>
              <a:rPr lang="en-US" sz="1800" b="1" i="1" dirty="0">
                <a:solidFill>
                  <a:srgbClr val="C00000"/>
                </a:solidFill>
                <a:latin typeface="Times New Roman" panose="02020603050405020304" pitchFamily="18" charset="0"/>
                <a:cs typeface="Times New Roman" panose="02020603050405020304" pitchFamily="18" charset="0"/>
              </a:rPr>
              <a:t>Defined outcomes</a:t>
            </a:r>
            <a:r>
              <a:rPr lang="en-US" sz="1800" i="1" dirty="0">
                <a:solidFill>
                  <a:srgbClr val="242021"/>
                </a:solidFill>
                <a:latin typeface="Times New Roman" panose="02020603050405020304" pitchFamily="18" charset="0"/>
                <a:cs typeface="Times New Roman" panose="02020603050405020304" pitchFamily="18" charset="0"/>
              </a:rPr>
              <a:t>. </a:t>
            </a:r>
            <a:r>
              <a:rPr lang="en-US" sz="1800" dirty="0">
                <a:solidFill>
                  <a:srgbClr val="242021"/>
                </a:solidFill>
                <a:latin typeface="Times New Roman" panose="02020603050405020304" pitchFamily="18" charset="0"/>
                <a:cs typeface="Times New Roman" panose="02020603050405020304" pitchFamily="18" charset="0"/>
              </a:rPr>
              <a:t>Every task that is scheduled should have a defined outcome. For software projects, the outcome is normally a work product (e.g., the design of a component) or a part of a work product. Work products are often combined in deliverables.</a:t>
            </a:r>
          </a:p>
          <a:p>
            <a:pPr algn="just">
              <a:lnSpc>
                <a:spcPct val="150000"/>
              </a:lnSpc>
              <a:buFont typeface="+mj-lt"/>
              <a:buAutoNum type="arabicPeriod" startAt="4"/>
            </a:pPr>
            <a:r>
              <a:rPr lang="en-US" sz="1800" b="1" i="1" dirty="0">
                <a:solidFill>
                  <a:srgbClr val="C00000"/>
                </a:solidFill>
                <a:latin typeface="Times New Roman" panose="02020603050405020304" pitchFamily="18" charset="0"/>
                <a:cs typeface="Times New Roman" panose="02020603050405020304" pitchFamily="18" charset="0"/>
              </a:rPr>
              <a:t>Defined milestones. </a:t>
            </a:r>
            <a:r>
              <a:rPr lang="en-US" sz="1800" dirty="0">
                <a:solidFill>
                  <a:srgbClr val="242021"/>
                </a:solidFill>
                <a:latin typeface="Times New Roman" panose="02020603050405020304" pitchFamily="18" charset="0"/>
                <a:cs typeface="Times New Roman" panose="02020603050405020304" pitchFamily="18" charset="0"/>
              </a:rPr>
              <a:t>Every task or group of tasks should be associated with a project milestone. A milestone is accomplished when one or more work products has been reviewed for quality and has been approved.</a:t>
            </a:r>
          </a:p>
          <a:p>
            <a:endParaRPr lang="en-IN" dirty="0"/>
          </a:p>
        </p:txBody>
      </p:sp>
    </p:spTree>
    <p:extLst>
      <p:ext uri="{BB962C8B-B14F-4D97-AF65-F5344CB8AC3E}">
        <p14:creationId xmlns:p14="http://schemas.microsoft.com/office/powerpoint/2010/main" val="246503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Project Scheduling Techniques</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9</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3" name="Rectangle 2"/>
          <p:cNvSpPr/>
          <p:nvPr/>
        </p:nvSpPr>
        <p:spPr>
          <a:xfrm>
            <a:off x="371475" y="914040"/>
            <a:ext cx="8315325" cy="5078313"/>
          </a:xfrm>
          <a:prstGeom prst="rect">
            <a:avLst/>
          </a:prstGeom>
        </p:spPr>
        <p:txBody>
          <a:bodyPr wrap="square">
            <a:spAutoFit/>
          </a:bodyPr>
          <a:lstStyle/>
          <a:p>
            <a:pPr marL="0" indent="0" algn="just">
              <a:lnSpc>
                <a:spcPct val="150000"/>
              </a:lnSpc>
              <a:buNone/>
            </a:pPr>
            <a:r>
              <a:rPr lang="en-IN" sz="1800" b="1" i="1" dirty="0">
                <a:solidFill>
                  <a:srgbClr val="FF0000"/>
                </a:solidFill>
                <a:latin typeface="Times New Roman" panose="02020603050405020304" pitchFamily="18" charset="0"/>
                <a:cs typeface="Times New Roman" panose="02020603050405020304" pitchFamily="18" charset="0"/>
              </a:rPr>
              <a:t>1. Mathematical Analysis</a:t>
            </a:r>
          </a:p>
          <a:p>
            <a:pPr marL="114300" indent="0" algn="just">
              <a:lnSpc>
                <a:spcPct val="150000"/>
              </a:lnSpc>
              <a:buNone/>
            </a:pPr>
            <a:r>
              <a:rPr lang="en-IN" sz="1800" dirty="0" err="1">
                <a:solidFill>
                  <a:srgbClr val="3A30FA"/>
                </a:solidFill>
                <a:latin typeface="Times New Roman" panose="02020603050405020304" pitchFamily="18" charset="0"/>
                <a:cs typeface="Times New Roman" panose="02020603050405020304" pitchFamily="18" charset="0"/>
              </a:rPr>
              <a:t>i</a:t>
            </a:r>
            <a:r>
              <a:rPr lang="en-IN" sz="1800" dirty="0">
                <a:solidFill>
                  <a:srgbClr val="3A30FA"/>
                </a:solidFill>
                <a:latin typeface="Times New Roman" panose="02020603050405020304" pitchFamily="18" charset="0"/>
                <a:cs typeface="Times New Roman" panose="02020603050405020304" pitchFamily="18" charset="0"/>
              </a:rPr>
              <a:t>. Critical Path Method (CPM) </a:t>
            </a:r>
            <a:r>
              <a:rPr lang="en-IN" sz="1800" dirty="0">
                <a:latin typeface="Times New Roman" panose="02020603050405020304" pitchFamily="18" charset="0"/>
                <a:cs typeface="Times New Roman" panose="02020603050405020304" pitchFamily="18" charset="0"/>
              </a:rPr>
              <a:t>and </a:t>
            </a:r>
            <a:r>
              <a:rPr lang="en-IN" sz="1800" dirty="0">
                <a:solidFill>
                  <a:srgbClr val="3A30FA"/>
                </a:solidFill>
                <a:latin typeface="Times New Roman" panose="02020603050405020304" pitchFamily="18" charset="0"/>
                <a:cs typeface="Times New Roman" panose="02020603050405020304" pitchFamily="18" charset="0"/>
              </a:rPr>
              <a:t>Program Evaluation and Review Technique (PERT) </a:t>
            </a:r>
            <a:r>
              <a:rPr lang="en-IN" sz="1800" dirty="0">
                <a:latin typeface="Times New Roman" panose="02020603050405020304" pitchFamily="18" charset="0"/>
                <a:cs typeface="Times New Roman" panose="02020603050405020304" pitchFamily="18" charset="0"/>
              </a:rPr>
              <a:t>are the two most commonly used techniques by project managers. These methods are used to calculate the time span of the project through the scope of the project.</a:t>
            </a:r>
          </a:p>
          <a:p>
            <a:pPr algn="just">
              <a:lnSpc>
                <a:spcPct val="150000"/>
              </a:lnSpc>
            </a:pPr>
            <a:r>
              <a:rPr lang="en-IN" sz="1800" b="1" dirty="0">
                <a:solidFill>
                  <a:srgbClr val="3A30FA"/>
                </a:solidFill>
                <a:latin typeface="Times New Roman" panose="02020603050405020304" pitchFamily="18" charset="0"/>
                <a:cs typeface="Times New Roman" panose="02020603050405020304" pitchFamily="18" charset="0"/>
              </a:rPr>
              <a:t>Critical Path Method: </a:t>
            </a:r>
            <a:r>
              <a:rPr lang="en-IN" sz="1800" dirty="0">
                <a:latin typeface="Times New Roman" panose="02020603050405020304" pitchFamily="18" charset="0"/>
                <a:cs typeface="Times New Roman" panose="02020603050405020304" pitchFamily="18" charset="0"/>
              </a:rPr>
              <a:t>The Critical Path Method estimates the maximum and minimum time required to complete a project. </a:t>
            </a:r>
          </a:p>
          <a:p>
            <a:pPr algn="just">
              <a:lnSpc>
                <a:spcPct val="150000"/>
              </a:lnSpc>
            </a:pPr>
            <a:r>
              <a:rPr lang="en-IN" sz="1800" dirty="0">
                <a:latin typeface="Times New Roman" panose="02020603050405020304" pitchFamily="18" charset="0"/>
                <a:cs typeface="Times New Roman" panose="02020603050405020304" pitchFamily="18" charset="0"/>
              </a:rPr>
              <a:t>CPM also helps to identify critical tasks that should be incorporated into a project. Delivery time changes do not affect the schedule. </a:t>
            </a:r>
          </a:p>
          <a:p>
            <a:pPr algn="just">
              <a:lnSpc>
                <a:spcPct val="150000"/>
              </a:lnSpc>
            </a:pPr>
            <a:r>
              <a:rPr lang="en-IN" sz="1800" dirty="0">
                <a:latin typeface="Times New Roman" panose="02020603050405020304" pitchFamily="18" charset="0"/>
                <a:cs typeface="Times New Roman" panose="02020603050405020304" pitchFamily="18" charset="0"/>
              </a:rPr>
              <a:t>The scope of the project and the list of activities necessary for the completion of the project are needed for using CPM. Next, the time taken by each activity is calculated. </a:t>
            </a:r>
          </a:p>
          <a:p>
            <a:pPr algn="just">
              <a:lnSpc>
                <a:spcPct val="150000"/>
              </a:lnSpc>
            </a:pPr>
            <a:r>
              <a:rPr lang="en-IN" sz="1800" dirty="0">
                <a:latin typeface="Times New Roman" panose="02020603050405020304" pitchFamily="18" charset="0"/>
                <a:cs typeface="Times New Roman" panose="02020603050405020304" pitchFamily="18" charset="0"/>
              </a:rPr>
              <a:t>Then, all the dependent variables are identified. This helps in identifying and separating the independent variables. Finally, it adds milestones to the project.</a:t>
            </a:r>
          </a:p>
        </p:txBody>
      </p:sp>
    </p:spTree>
    <p:extLst>
      <p:ext uri="{BB962C8B-B14F-4D97-AF65-F5344CB8AC3E}">
        <p14:creationId xmlns:p14="http://schemas.microsoft.com/office/powerpoint/2010/main" val="610278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a:t>
            </a:r>
            <a:r>
              <a:rPr lang="en-US" b="1" dirty="0" smtClean="0">
                <a:latin typeface="Times New Roman Bold" panose="02020503050405090304" charset="0"/>
                <a:cs typeface="Times New Roman Bold" panose="02020503050405090304" charset="0"/>
              </a:rPr>
              <a:t>Techniques (Conti.)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10</a:t>
            </a:fld>
            <a:endParaRPr lang="en-US"/>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542924" y="887845"/>
            <a:ext cx="8143875" cy="5410200"/>
          </a:xfrm>
        </p:spPr>
        <p:txBody>
          <a:bodyPr>
            <a:normAutofit/>
          </a:bodyPr>
          <a:lstStyle/>
          <a:p>
            <a:pPr marL="514350" indent="-514350" algn="just">
              <a:buFont typeface="+mj-lt"/>
              <a:buAutoNum type="romanLcPeriod" startAt="2"/>
            </a:pPr>
            <a:r>
              <a:rPr lang="en-IN" sz="1800" b="1" dirty="0">
                <a:solidFill>
                  <a:srgbClr val="3A30FA"/>
                </a:solidFill>
                <a:latin typeface="Times New Roman" panose="02020603050405020304" pitchFamily="18" charset="0"/>
                <a:cs typeface="Times New Roman" panose="02020603050405020304" pitchFamily="18" charset="0"/>
              </a:rPr>
              <a:t>Program Evaluation and Review Technique (PERT</a:t>
            </a:r>
            <a:r>
              <a:rPr lang="en-IN" sz="1800" b="1" dirty="0" smtClean="0">
                <a:solidFill>
                  <a:srgbClr val="3A30FA"/>
                </a:solidFill>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IN" sz="1800" dirty="0">
                <a:latin typeface="Times New Roman" panose="02020603050405020304" pitchFamily="18" charset="0"/>
                <a:cs typeface="Times New Roman" panose="02020603050405020304" pitchFamily="18" charset="0"/>
              </a:rPr>
              <a:t>PERT is a way to schedule the flow of tasks in a project and estimate the total time taken to complete it.</a:t>
            </a:r>
          </a:p>
          <a:p>
            <a:pPr algn="just">
              <a:lnSpc>
                <a:spcPct val="150000"/>
              </a:lnSpc>
            </a:pPr>
            <a:r>
              <a:rPr lang="en-IN" sz="1800" dirty="0">
                <a:latin typeface="Times New Roman" panose="02020603050405020304" pitchFamily="18" charset="0"/>
                <a:cs typeface="Times New Roman" panose="02020603050405020304" pitchFamily="18" charset="0"/>
              </a:rPr>
              <a:t>This technique helps represent how each task is dependent on the other. </a:t>
            </a:r>
          </a:p>
          <a:p>
            <a:pPr algn="just">
              <a:lnSpc>
                <a:spcPct val="150000"/>
              </a:lnSpc>
            </a:pPr>
            <a:r>
              <a:rPr lang="en-IN" sz="1800" dirty="0">
                <a:latin typeface="Times New Roman" panose="02020603050405020304" pitchFamily="18" charset="0"/>
                <a:cs typeface="Times New Roman" panose="02020603050405020304" pitchFamily="18" charset="0"/>
              </a:rPr>
              <a:t>To schedule a project using PERT, one has to define activities, arrange them in an orderly manner and define milestones. </a:t>
            </a:r>
          </a:p>
          <a:p>
            <a:pPr algn="just">
              <a:lnSpc>
                <a:spcPct val="150000"/>
              </a:lnSpc>
            </a:pPr>
            <a:r>
              <a:rPr lang="en-IN" sz="1800" dirty="0">
                <a:latin typeface="Times New Roman" panose="02020603050405020304" pitchFamily="18" charset="0"/>
                <a:cs typeface="Times New Roman" panose="02020603050405020304" pitchFamily="18" charset="0"/>
              </a:rPr>
              <a:t>You can calculate timelines for a project on the basis of the level of confidence:</a:t>
            </a:r>
          </a:p>
          <a:p>
            <a:pPr lvl="1">
              <a:lnSpc>
                <a:spcPct val="150000"/>
              </a:lnSpc>
            </a:pPr>
            <a:r>
              <a:rPr lang="en-IN" sz="1800" dirty="0">
                <a:latin typeface="Times New Roman" panose="02020603050405020304" pitchFamily="18" charset="0"/>
                <a:cs typeface="Times New Roman" panose="02020603050405020304" pitchFamily="18" charset="0"/>
              </a:rPr>
              <a:t>Optimistic timing</a:t>
            </a:r>
          </a:p>
          <a:p>
            <a:pPr lvl="1">
              <a:lnSpc>
                <a:spcPct val="150000"/>
              </a:lnSpc>
            </a:pPr>
            <a:r>
              <a:rPr lang="en-IN" sz="1800" dirty="0">
                <a:latin typeface="Times New Roman" panose="02020603050405020304" pitchFamily="18" charset="0"/>
                <a:cs typeface="Times New Roman" panose="02020603050405020304" pitchFamily="18" charset="0"/>
              </a:rPr>
              <a:t>Most-likely timing</a:t>
            </a:r>
          </a:p>
          <a:p>
            <a:pPr lvl="1">
              <a:lnSpc>
                <a:spcPct val="150000"/>
              </a:lnSpc>
            </a:pPr>
            <a:r>
              <a:rPr lang="en-IN" sz="1800" dirty="0">
                <a:latin typeface="Times New Roman" panose="02020603050405020304" pitchFamily="18" charset="0"/>
                <a:cs typeface="Times New Roman" panose="02020603050405020304" pitchFamily="18" charset="0"/>
              </a:rPr>
              <a:t>Pessimistic timing</a:t>
            </a:r>
          </a:p>
          <a:p>
            <a:pPr marL="0" indent="0" algn="just">
              <a:lnSpc>
                <a:spcPct val="150000"/>
              </a:lnSpc>
              <a:buNone/>
            </a:pPr>
            <a:endParaRPr lang="en-US"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7319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Techniques </a:t>
            </a:r>
            <a:r>
              <a:rPr lang="en-US" b="1" dirty="0" smtClean="0">
                <a:latin typeface="Times New Roman Bold" panose="02020503050405090304" charset="0"/>
                <a:cs typeface="Times New Roman Bold" panose="02020503050405090304" charset="0"/>
              </a:rPr>
              <a:t>(Conti.)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11</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357188" y="887844"/>
            <a:ext cx="8329612" cy="5741555"/>
          </a:xfrm>
        </p:spPr>
        <p:txBody>
          <a:bodyPr>
            <a:normAutofit/>
          </a:bodyPr>
          <a:lstStyle/>
          <a:p>
            <a:pPr marL="0" indent="0" algn="just">
              <a:lnSpc>
                <a:spcPct val="150000"/>
              </a:lnSpc>
              <a:buNone/>
            </a:pPr>
            <a:r>
              <a:rPr lang="en-IN" sz="1800" b="1" dirty="0">
                <a:solidFill>
                  <a:srgbClr val="FF0000"/>
                </a:solidFill>
                <a:latin typeface="Times New Roman" panose="02020603050405020304" pitchFamily="18" charset="0"/>
                <a:cs typeface="Times New Roman" panose="02020603050405020304" pitchFamily="18" charset="0"/>
              </a:rPr>
              <a:t>2. Duration Compression</a:t>
            </a:r>
          </a:p>
          <a:p>
            <a:pPr algn="just">
              <a:lnSpc>
                <a:spcPct val="150000"/>
              </a:lnSpc>
            </a:pPr>
            <a:r>
              <a:rPr lang="en-IN" sz="1800" dirty="0">
                <a:latin typeface="Times New Roman" panose="02020603050405020304" pitchFamily="18" charset="0"/>
                <a:cs typeface="Times New Roman" panose="02020603050405020304" pitchFamily="18" charset="0"/>
              </a:rPr>
              <a:t>Duration compression helps to cut short a schedule if needed. It can adjust the set schedule by making changes without changing the scope in case, the project is running late. Two methodologies that can be applied: </a:t>
            </a:r>
          </a:p>
          <a:p>
            <a:pPr marL="400050" indent="-400050" algn="just">
              <a:lnSpc>
                <a:spcPct val="150000"/>
              </a:lnSpc>
              <a:buFont typeface="+mj-lt"/>
              <a:buAutoNum type="romanLcPeriod"/>
            </a:pPr>
            <a:r>
              <a:rPr lang="en-IN" sz="1800" b="1" dirty="0">
                <a:solidFill>
                  <a:srgbClr val="3A30FA"/>
                </a:solidFill>
                <a:latin typeface="Times New Roman" panose="02020603050405020304" pitchFamily="18" charset="0"/>
                <a:cs typeface="Times New Roman" panose="02020603050405020304" pitchFamily="18" charset="0"/>
              </a:rPr>
              <a:t>Fast Tracking: </a:t>
            </a:r>
            <a:r>
              <a:rPr lang="en-IN" sz="1800" dirty="0">
                <a:latin typeface="Times New Roman" panose="02020603050405020304" pitchFamily="18" charset="0"/>
                <a:cs typeface="Times New Roman" panose="02020603050405020304" pitchFamily="18" charset="0"/>
              </a:rPr>
              <a:t>Fast-tracking is another way to use CPM. </a:t>
            </a:r>
          </a:p>
          <a:p>
            <a:pPr algn="just">
              <a:lnSpc>
                <a:spcPct val="150000"/>
              </a:lnSpc>
            </a:pPr>
            <a:r>
              <a:rPr lang="en-IN" sz="1800" dirty="0">
                <a:latin typeface="Times New Roman" panose="02020603050405020304" pitchFamily="18" charset="0"/>
                <a:cs typeface="Times New Roman" panose="02020603050405020304" pitchFamily="18" charset="0"/>
              </a:rPr>
              <a:t>Fast-tracking finds ways to speed up the pace at which a project is being implemented by either simultaneously executing many tasks or by overlapping many tasks to each other. </a:t>
            </a:r>
          </a:p>
          <a:p>
            <a:pPr algn="just">
              <a:lnSpc>
                <a:spcPct val="150000"/>
              </a:lnSpc>
            </a:pPr>
            <a:r>
              <a:rPr lang="en-IN" sz="1800" dirty="0">
                <a:latin typeface="Times New Roman" panose="02020603050405020304" pitchFamily="18" charset="0"/>
                <a:cs typeface="Times New Roman" panose="02020603050405020304" pitchFamily="18" charset="0"/>
              </a:rPr>
              <a:t>CPM helps us identify activities that can be used to speed up the pace of the project. Although it is an appealing technique, it has its own share of risks too. </a:t>
            </a:r>
          </a:p>
          <a:p>
            <a:pPr algn="just">
              <a:lnSpc>
                <a:spcPct val="150000"/>
              </a:lnSpc>
            </a:pPr>
            <a:r>
              <a:rPr lang="en-IN" sz="1800" dirty="0">
                <a:latin typeface="Times New Roman" panose="02020603050405020304" pitchFamily="18" charset="0"/>
                <a:cs typeface="Times New Roman" panose="02020603050405020304" pitchFamily="18" charset="0"/>
              </a:rPr>
              <a:t>As many activities will be simultaneously implemented, it is highly to make mistakes and compromise on quality.</a:t>
            </a:r>
          </a:p>
          <a:p>
            <a:pPr marL="0" indent="0" algn="just">
              <a:lnSpc>
                <a:spcPct val="150000"/>
              </a:lnSpc>
              <a:buNone/>
            </a:pPr>
            <a:endParaRPr lang="en-US" sz="1800" dirty="0">
              <a:solidFill>
                <a:srgbClr val="303030"/>
              </a:solidFill>
            </a:endParaRPr>
          </a:p>
        </p:txBody>
      </p:sp>
    </p:spTree>
    <p:extLst>
      <p:ext uri="{BB962C8B-B14F-4D97-AF65-F5344CB8AC3E}">
        <p14:creationId xmlns:p14="http://schemas.microsoft.com/office/powerpoint/2010/main" val="3722080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Techniques </a:t>
            </a:r>
            <a:r>
              <a:rPr lang="en-US" b="1" dirty="0" smtClean="0">
                <a:latin typeface="Times New Roman Bold" panose="02020503050405090304" charset="0"/>
                <a:cs typeface="Times New Roman Bold" panose="02020503050405090304" charset="0"/>
              </a:rPr>
              <a:t>(Conti.)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12</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3" name="Text Placeholder 2"/>
          <p:cNvSpPr>
            <a:spLocks noGrp="1"/>
          </p:cNvSpPr>
          <p:nvPr>
            <p:ph type="body" idx="1"/>
          </p:nvPr>
        </p:nvSpPr>
        <p:spPr>
          <a:xfrm>
            <a:off x="300398" y="914040"/>
            <a:ext cx="8386402" cy="4910580"/>
          </a:xfrm>
        </p:spPr>
        <p:txBody>
          <a:bodyPr/>
          <a:lstStyle/>
          <a:p>
            <a:pPr marL="514350" indent="-514350" algn="just">
              <a:lnSpc>
                <a:spcPct val="150000"/>
              </a:lnSpc>
              <a:buFont typeface="+mj-lt"/>
              <a:buAutoNum type="romanLcPeriod" startAt="2"/>
            </a:pPr>
            <a:r>
              <a:rPr lang="en-IN" sz="1800" b="1" dirty="0">
                <a:solidFill>
                  <a:srgbClr val="3A30FA"/>
                </a:solidFill>
                <a:latin typeface="Times New Roman" panose="02020603050405020304" pitchFamily="18" charset="0"/>
                <a:cs typeface="Times New Roman" panose="02020603050405020304" pitchFamily="18" charset="0"/>
              </a:rPr>
              <a:t>Crashing</a:t>
            </a:r>
          </a:p>
          <a:p>
            <a:pPr algn="just">
              <a:lnSpc>
                <a:spcPct val="150000"/>
              </a:lnSpc>
            </a:pPr>
            <a:r>
              <a:rPr lang="en-IN" sz="1800" dirty="0">
                <a:latin typeface="Times New Roman" panose="02020603050405020304" pitchFamily="18" charset="0"/>
                <a:cs typeface="Times New Roman" panose="02020603050405020304" pitchFamily="18" charset="0"/>
              </a:rPr>
              <a:t>Crashing deals with involving more resources to finish the project on time. For this to happen, you need spare resources to be available at your disposal. </a:t>
            </a:r>
          </a:p>
          <a:p>
            <a:pPr algn="just">
              <a:lnSpc>
                <a:spcPct val="150000"/>
              </a:lnSpc>
            </a:pPr>
            <a:r>
              <a:rPr lang="en-IN" sz="1800" dirty="0">
                <a:latin typeface="Times New Roman" panose="02020603050405020304" pitchFamily="18" charset="0"/>
                <a:cs typeface="Times New Roman" panose="02020603050405020304" pitchFamily="18" charset="0"/>
              </a:rPr>
              <a:t>Need to add new team members to a project and limited divisibility of tasks leads to increase communication. </a:t>
            </a:r>
          </a:p>
          <a:p>
            <a:pPr algn="just">
              <a:lnSpc>
                <a:spcPct val="150000"/>
              </a:lnSpc>
            </a:pPr>
            <a:r>
              <a:rPr lang="en-IN" sz="1800" dirty="0">
                <a:latin typeface="Times New Roman" panose="02020603050405020304" pitchFamily="18" charset="0"/>
                <a:cs typeface="Times New Roman" panose="02020603050405020304" pitchFamily="18" charset="0"/>
              </a:rPr>
              <a:t>The crashing technique can also be used by adding time, paid overtime, but it should stay within the decided deadline. </a:t>
            </a:r>
          </a:p>
          <a:p>
            <a:pPr algn="just">
              <a:lnSpc>
                <a:spcPct val="150000"/>
              </a:lnSpc>
            </a:pPr>
            <a:r>
              <a:rPr lang="en-IN" sz="1800" dirty="0">
                <a:latin typeface="Times New Roman" panose="02020603050405020304" pitchFamily="18" charset="0"/>
                <a:cs typeface="Times New Roman" panose="02020603050405020304" pitchFamily="18" charset="0"/>
              </a:rPr>
              <a:t>It, unfortunately, leads to raising the cost of the project.</a:t>
            </a:r>
          </a:p>
          <a:p>
            <a:endParaRPr lang="en-IN" dirty="0"/>
          </a:p>
        </p:txBody>
      </p:sp>
    </p:spTree>
    <p:extLst>
      <p:ext uri="{BB962C8B-B14F-4D97-AF65-F5344CB8AC3E}">
        <p14:creationId xmlns:p14="http://schemas.microsoft.com/office/powerpoint/2010/main" val="3766995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Techniques </a:t>
            </a:r>
            <a:r>
              <a:rPr lang="en-US" b="1" dirty="0" smtClean="0">
                <a:latin typeface="Times New Roman Bold" panose="02020503050405090304" charset="0"/>
                <a:cs typeface="Times New Roman Bold" panose="02020503050405090304" charset="0"/>
              </a:rPr>
              <a:t>(Conti.)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13</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3" name="Text Placeholder 2"/>
          <p:cNvSpPr>
            <a:spLocks noGrp="1"/>
          </p:cNvSpPr>
          <p:nvPr>
            <p:ph type="body" idx="1"/>
          </p:nvPr>
        </p:nvSpPr>
        <p:spPr>
          <a:xfrm>
            <a:off x="385762" y="914039"/>
            <a:ext cx="8200665" cy="5458185"/>
          </a:xfrm>
        </p:spPr>
        <p:txBody>
          <a:bodyPr>
            <a:normAutofit/>
          </a:bodyPr>
          <a:lstStyle/>
          <a:p>
            <a:pPr marL="0" indent="0" algn="just">
              <a:lnSpc>
                <a:spcPct val="150000"/>
              </a:lnSpc>
              <a:buNone/>
            </a:pPr>
            <a:r>
              <a:rPr lang="en-IN" sz="1800" b="1" dirty="0">
                <a:solidFill>
                  <a:srgbClr val="FF0000"/>
                </a:solidFill>
                <a:latin typeface="Times New Roman" panose="02020603050405020304" pitchFamily="18" charset="0"/>
                <a:cs typeface="Times New Roman" panose="02020603050405020304" pitchFamily="18" charset="0"/>
              </a:rPr>
              <a:t>3. Task List</a:t>
            </a:r>
          </a:p>
          <a:p>
            <a:pPr algn="just">
              <a:lnSpc>
                <a:spcPct val="150000"/>
              </a:lnSpc>
            </a:pPr>
            <a:r>
              <a:rPr lang="en-IN" sz="1800" dirty="0">
                <a:latin typeface="Times New Roman" panose="02020603050405020304" pitchFamily="18" charset="0"/>
                <a:cs typeface="Times New Roman" panose="02020603050405020304" pitchFamily="18" charset="0"/>
              </a:rPr>
              <a:t>The task list is the simplest project scheduling technique of all the techniques available. </a:t>
            </a:r>
          </a:p>
          <a:p>
            <a:pPr algn="just">
              <a:lnSpc>
                <a:spcPct val="150000"/>
              </a:lnSpc>
            </a:pPr>
            <a:r>
              <a:rPr lang="en-IN" sz="1800" dirty="0">
                <a:latin typeface="Times New Roman" panose="02020603050405020304" pitchFamily="18" charset="0"/>
                <a:cs typeface="Times New Roman" panose="02020603050405020304" pitchFamily="18" charset="0"/>
              </a:rPr>
              <a:t>Documented in a spreadsheet or word processor is the list of all possible tasks involved in a project. </a:t>
            </a:r>
          </a:p>
          <a:p>
            <a:pPr algn="just">
              <a:lnSpc>
                <a:spcPct val="150000"/>
              </a:lnSpc>
            </a:pPr>
            <a:r>
              <a:rPr lang="en-IN" sz="1800" dirty="0">
                <a:latin typeface="Times New Roman" panose="02020603050405020304" pitchFamily="18" charset="0"/>
                <a:cs typeface="Times New Roman" panose="02020603050405020304" pitchFamily="18" charset="0"/>
              </a:rPr>
              <a:t>This method is simple and the most popular of all methods. </a:t>
            </a:r>
          </a:p>
          <a:p>
            <a:pPr algn="just">
              <a:lnSpc>
                <a:spcPct val="150000"/>
              </a:lnSpc>
            </a:pPr>
            <a:r>
              <a:rPr lang="en-IN" sz="1800" dirty="0">
                <a:latin typeface="Times New Roman" panose="02020603050405020304" pitchFamily="18" charset="0"/>
                <a:cs typeface="Times New Roman" panose="02020603050405020304" pitchFamily="18" charset="0"/>
              </a:rPr>
              <a:t>It is very useful while implementing small projects. </a:t>
            </a:r>
          </a:p>
          <a:p>
            <a:pPr algn="just">
              <a:lnSpc>
                <a:spcPct val="150000"/>
              </a:lnSpc>
            </a:pPr>
            <a:r>
              <a:rPr lang="en-IN" sz="1800" dirty="0">
                <a:latin typeface="Times New Roman" panose="02020603050405020304" pitchFamily="18" charset="0"/>
                <a:cs typeface="Times New Roman" panose="02020603050405020304" pitchFamily="18" charset="0"/>
              </a:rPr>
              <a:t>But for large projects with numerous aspects to consider task list is not a feasible method.</a:t>
            </a:r>
          </a:p>
          <a:p>
            <a:endParaRPr lang="en-IN" dirty="0"/>
          </a:p>
        </p:txBody>
      </p:sp>
    </p:spTree>
    <p:extLst>
      <p:ext uri="{BB962C8B-B14F-4D97-AF65-F5344CB8AC3E}">
        <p14:creationId xmlns:p14="http://schemas.microsoft.com/office/powerpoint/2010/main" val="97486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Techniques </a:t>
            </a:r>
            <a:r>
              <a:rPr lang="en-US" b="1" dirty="0" smtClean="0">
                <a:latin typeface="Times New Roman Bold" panose="02020503050405090304" charset="0"/>
                <a:cs typeface="Times New Roman Bold" panose="02020503050405090304" charset="0"/>
              </a:rPr>
              <a:t>(Conti.)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14</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3" name="Text Placeholder 2"/>
          <p:cNvSpPr>
            <a:spLocks noGrp="1"/>
          </p:cNvSpPr>
          <p:nvPr>
            <p:ph type="body" idx="1"/>
          </p:nvPr>
        </p:nvSpPr>
        <p:spPr>
          <a:xfrm>
            <a:off x="428985" y="1259280"/>
            <a:ext cx="8257815" cy="5024880"/>
          </a:xfrm>
        </p:spPr>
        <p:txBody>
          <a:bodyPr/>
          <a:lstStyle/>
          <a:p>
            <a:pPr marL="0" indent="0" algn="just">
              <a:lnSpc>
                <a:spcPct val="150000"/>
              </a:lnSpc>
              <a:buNone/>
            </a:pPr>
            <a:r>
              <a:rPr lang="en-IN" sz="1800" b="1" dirty="0">
                <a:solidFill>
                  <a:srgbClr val="FF0000"/>
                </a:solidFill>
                <a:latin typeface="Times New Roman" panose="02020603050405020304" pitchFamily="18" charset="0"/>
                <a:cs typeface="Times New Roman" panose="02020603050405020304" pitchFamily="18" charset="0"/>
              </a:rPr>
              <a:t>4. Gantt Chart</a:t>
            </a:r>
          </a:p>
          <a:p>
            <a:pPr algn="just">
              <a:lnSpc>
                <a:spcPct val="150000"/>
              </a:lnSpc>
            </a:pPr>
            <a:r>
              <a:rPr lang="en-IN" sz="1800" dirty="0">
                <a:latin typeface="Times New Roman" panose="02020603050405020304" pitchFamily="18" charset="0"/>
                <a:cs typeface="Times New Roman" panose="02020603050405020304" pitchFamily="18" charset="0"/>
              </a:rPr>
              <a:t>For tracking progress and reporting purposes, the Gantt Chart is a visualization technique used in project management. </a:t>
            </a:r>
          </a:p>
          <a:p>
            <a:pPr algn="just">
              <a:lnSpc>
                <a:spcPct val="150000"/>
              </a:lnSpc>
            </a:pPr>
            <a:r>
              <a:rPr lang="en-IN" sz="1800" dirty="0">
                <a:latin typeface="Times New Roman" panose="02020603050405020304" pitchFamily="18" charset="0"/>
                <a:cs typeface="Times New Roman" panose="02020603050405020304" pitchFamily="18" charset="0"/>
              </a:rPr>
              <a:t>It is used by project managers most of the time to get an idea about the average time needed to finish a project. </a:t>
            </a:r>
          </a:p>
          <a:p>
            <a:pPr algn="just">
              <a:lnSpc>
                <a:spcPct val="150000"/>
              </a:lnSpc>
            </a:pPr>
            <a:r>
              <a:rPr lang="en-IN" sz="1800" dirty="0">
                <a:latin typeface="Times New Roman" panose="02020603050405020304" pitchFamily="18" charset="0"/>
                <a:cs typeface="Times New Roman" panose="02020603050405020304" pitchFamily="18" charset="0"/>
              </a:rPr>
              <a:t>A project schedule Gantt chart is a bar chart that represents key activities in sequence on the left vs time. </a:t>
            </a:r>
          </a:p>
          <a:p>
            <a:pPr algn="just">
              <a:lnSpc>
                <a:spcPct val="150000"/>
              </a:lnSpc>
            </a:pPr>
            <a:r>
              <a:rPr lang="en-IN" sz="1800" dirty="0">
                <a:latin typeface="Times New Roman" panose="02020603050405020304" pitchFamily="18" charset="0"/>
                <a:cs typeface="Times New Roman" panose="02020603050405020304" pitchFamily="18" charset="0"/>
              </a:rPr>
              <a:t>Each task is represented by a bar that reflects the start and date of the activity, and therefore its duration.</a:t>
            </a:r>
          </a:p>
          <a:p>
            <a:endParaRPr lang="en-IN" dirty="0"/>
          </a:p>
        </p:txBody>
      </p:sp>
    </p:spTree>
    <p:extLst>
      <p:ext uri="{BB962C8B-B14F-4D97-AF65-F5344CB8AC3E}">
        <p14:creationId xmlns:p14="http://schemas.microsoft.com/office/powerpoint/2010/main" val="2040794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Techniques </a:t>
            </a:r>
            <a:r>
              <a:rPr lang="en-US" b="1" dirty="0" smtClean="0">
                <a:latin typeface="Times New Roman Bold" panose="02020503050405090304" charset="0"/>
                <a:cs typeface="Times New Roman Bold" panose="02020503050405090304" charset="0"/>
              </a:rPr>
              <a:t>(Conti.)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15</a:t>
            </a:fld>
            <a:endParaRPr lang="en-US"/>
          </a:p>
        </p:txBody>
      </p:sp>
      <p:pic>
        <p:nvPicPr>
          <p:cNvPr id="1028" name="Picture 4">
            <a:extLst>
              <a:ext uri="{FF2B5EF4-FFF2-40B4-BE49-F238E27FC236}">
                <a16:creationId xmlns="" xmlns:a16="http://schemas.microsoft.com/office/drawing/2014/main" id="{6CA91CD1-1219-B803-140E-46FE76A20C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764"/>
          <a:stretch/>
        </p:blipFill>
        <p:spPr bwMode="auto">
          <a:xfrm>
            <a:off x="533400" y="1676400"/>
            <a:ext cx="7924800" cy="40298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579723C6-C1E2-2EDE-B8FE-DDAAE4822B30}"/>
              </a:ext>
            </a:extLst>
          </p:cNvPr>
          <p:cNvSpPr txBox="1"/>
          <p:nvPr/>
        </p:nvSpPr>
        <p:spPr>
          <a:xfrm>
            <a:off x="3141159" y="5942814"/>
            <a:ext cx="1973617" cy="307777"/>
          </a:xfrm>
          <a:prstGeom prst="rect">
            <a:avLst/>
          </a:prstGeom>
          <a:noFill/>
        </p:spPr>
        <p:txBody>
          <a:bodyPr wrap="none" rtlCol="0">
            <a:spAutoFit/>
          </a:bodyPr>
          <a:lstStyle/>
          <a:p>
            <a:r>
              <a:rPr lang="en-US" b="1" dirty="0"/>
              <a:t>Figure 1: Gantt Chart</a:t>
            </a:r>
            <a:endParaRPr lang="en-IN" b="1" dirty="0"/>
          </a:p>
        </p:txBody>
      </p:sp>
      <p:sp>
        <p:nvSpPr>
          <p:cNvPr id="4" name="Text Placeholder 3"/>
          <p:cNvSpPr>
            <a:spLocks noGrp="1"/>
          </p:cNvSpPr>
          <p:nvPr>
            <p:ph type="body" idx="1"/>
          </p:nvPr>
        </p:nvSpPr>
        <p:spPr>
          <a:xfrm>
            <a:off x="300038" y="914040"/>
            <a:ext cx="8386402" cy="4667760"/>
          </a:xfrm>
        </p:spPr>
        <p:txBody>
          <a:bodyPr>
            <a:normAutofit/>
          </a:bodyPr>
          <a:lstStyle/>
          <a:p>
            <a:r>
              <a:rPr lang="en-IN" sz="1800" b="1" dirty="0">
                <a:solidFill>
                  <a:srgbClr val="FF0000"/>
                </a:solidFill>
                <a:latin typeface="Times New Roman" panose="02020603050405020304" pitchFamily="18" charset="0"/>
                <a:ea typeface="Arial Unicode MS" panose="020B0604020202020204" pitchFamily="34" charset="-128"/>
                <a:cs typeface="Times New Roman" panose="02020603050405020304" pitchFamily="18" charset="0"/>
              </a:rPr>
              <a:t> Gantt Chart Example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399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Project Scheduling Techniques </a:t>
            </a:r>
            <a:r>
              <a:rPr lang="en-US" b="1" dirty="0" smtClean="0">
                <a:latin typeface="Times New Roman Bold" panose="02020503050405090304" charset="0"/>
                <a:cs typeface="Times New Roman Bold" panose="02020503050405090304" charset="0"/>
              </a:rPr>
              <a:t>(Conti.)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16</a:t>
            </a:fld>
            <a:endParaRPr lang="en-US"/>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76200" y="887845"/>
            <a:ext cx="2101424" cy="5410200"/>
          </a:xfrm>
        </p:spPr>
        <p:txBody>
          <a:bodyPr>
            <a:normAutofit/>
          </a:bodyPr>
          <a:lstStyle/>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r>
              <a:rPr lang="en-IN" sz="1800" b="1" dirty="0">
                <a:latin typeface="Times New Roman" panose="02020603050405020304" pitchFamily="18" charset="0"/>
                <a:cs typeface="Times New Roman" panose="02020603050405020304" pitchFamily="18" charset="0"/>
              </a:rPr>
              <a:t>Gantt Chart Example for software project schedule</a:t>
            </a:r>
          </a:p>
          <a:p>
            <a:pPr marL="0" indent="0">
              <a:lnSpc>
                <a:spcPct val="150000"/>
              </a:lnSpc>
              <a:buNone/>
            </a:pPr>
            <a:r>
              <a:rPr lang="en-US" sz="1800" dirty="0"/>
              <a:t/>
            </a:r>
            <a:br>
              <a:rPr lang="en-US" sz="1800" dirty="0"/>
            </a:br>
            <a:r>
              <a:rPr lang="en-US" sz="1800" dirty="0">
                <a:solidFill>
                  <a:srgbClr val="303030"/>
                </a:solidFill>
              </a:rPr>
              <a:t> </a:t>
            </a:r>
            <a:r>
              <a:rPr lang="en-US" sz="1800" dirty="0"/>
              <a:t/>
            </a:r>
            <a:br>
              <a:rPr lang="en-US" sz="1800" dirty="0"/>
            </a:br>
            <a:endParaRPr lang="en-US" sz="1800" dirty="0">
              <a:solidFill>
                <a:srgbClr val="303030"/>
              </a:solidFill>
            </a:endParaRPr>
          </a:p>
        </p:txBody>
      </p:sp>
      <p:pic>
        <p:nvPicPr>
          <p:cNvPr id="4" name="Picture 3">
            <a:extLst>
              <a:ext uri="{FF2B5EF4-FFF2-40B4-BE49-F238E27FC236}">
                <a16:creationId xmlns="" xmlns:a16="http://schemas.microsoft.com/office/drawing/2014/main" id="{0222A2F7-077B-9E5E-0A40-7714FE71B843}"/>
              </a:ext>
            </a:extLst>
          </p:cNvPr>
          <p:cNvPicPr>
            <a:picLocks noChangeAspect="1"/>
          </p:cNvPicPr>
          <p:nvPr/>
        </p:nvPicPr>
        <p:blipFill>
          <a:blip r:embed="rId2"/>
          <a:stretch>
            <a:fillRect/>
          </a:stretch>
        </p:blipFill>
        <p:spPr>
          <a:xfrm>
            <a:off x="2177624" y="1130946"/>
            <a:ext cx="6616831" cy="4923997"/>
          </a:xfrm>
          <a:prstGeom prst="rect">
            <a:avLst/>
          </a:prstGeom>
        </p:spPr>
      </p:pic>
      <p:sp>
        <p:nvSpPr>
          <p:cNvPr id="3" name="TextBox 2">
            <a:extLst>
              <a:ext uri="{FF2B5EF4-FFF2-40B4-BE49-F238E27FC236}">
                <a16:creationId xmlns="" xmlns:a16="http://schemas.microsoft.com/office/drawing/2014/main" id="{252072A3-A9AC-ADCA-1174-90C13A964DF2}"/>
              </a:ext>
            </a:extLst>
          </p:cNvPr>
          <p:cNvSpPr txBox="1"/>
          <p:nvPr/>
        </p:nvSpPr>
        <p:spPr>
          <a:xfrm>
            <a:off x="3191654" y="6271849"/>
            <a:ext cx="2760692" cy="307777"/>
          </a:xfrm>
          <a:prstGeom prst="rect">
            <a:avLst/>
          </a:prstGeom>
          <a:noFill/>
        </p:spPr>
        <p:txBody>
          <a:bodyPr wrap="none" rtlCol="0">
            <a:spAutoFit/>
          </a:bodyPr>
          <a:lstStyle/>
          <a:p>
            <a:r>
              <a:rPr lang="en-US" b="1" dirty="0"/>
              <a:t>Figure 2: Gantt Chart Example</a:t>
            </a:r>
            <a:endParaRPr lang="en-IN" b="1" dirty="0"/>
          </a:p>
        </p:txBody>
      </p:sp>
    </p:spTree>
    <p:extLst>
      <p:ext uri="{BB962C8B-B14F-4D97-AF65-F5344CB8AC3E}">
        <p14:creationId xmlns:p14="http://schemas.microsoft.com/office/powerpoint/2010/main" val="4209895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540" y="303120"/>
            <a:ext cx="5486040" cy="914040"/>
          </a:xfrm>
        </p:spPr>
        <p:txBody>
          <a:bodyPr/>
          <a:lstStyle/>
          <a:p>
            <a:r>
              <a:rPr lang="en-US" b="1" dirty="0"/>
              <a:t>Top 10 Project Scheduling Tools</a:t>
            </a:r>
            <a:br>
              <a:rPr lang="en-US" b="1" dirty="0"/>
            </a:br>
            <a:endParaRPr lang="en-IN" dirty="0"/>
          </a:p>
        </p:txBody>
      </p:sp>
      <p:sp>
        <p:nvSpPr>
          <p:cNvPr id="3" name="Text Placeholder 2"/>
          <p:cNvSpPr>
            <a:spLocks noGrp="1"/>
          </p:cNvSpPr>
          <p:nvPr>
            <p:ph type="body" idx="1"/>
          </p:nvPr>
        </p:nvSpPr>
        <p:spPr>
          <a:xfrm>
            <a:off x="352540" y="961582"/>
            <a:ext cx="8214952" cy="5282055"/>
          </a:xfrm>
        </p:spPr>
        <p:txBody>
          <a:bodyPr>
            <a:normAutofit lnSpcReduction="10000"/>
          </a:bodyPr>
          <a:lstStyle/>
          <a:p>
            <a:pPr fontAlgn="base">
              <a:lnSpc>
                <a:spcPct val="150000"/>
              </a:lnSpc>
            </a:pPr>
            <a:r>
              <a:rPr lang="en-IN" sz="1800" b="1" dirty="0">
                <a:latin typeface="Times New Roman" panose="02020603050405020304" pitchFamily="18" charset="0"/>
                <a:cs typeface="Times New Roman" panose="02020603050405020304" pitchFamily="18" charset="0"/>
              </a:rPr>
              <a:t>Microsoft Project</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a:latin typeface="Times New Roman" panose="02020603050405020304" pitchFamily="18" charset="0"/>
                <a:cs typeface="Times New Roman" panose="02020603050405020304" pitchFamily="18" charset="0"/>
              </a:rPr>
              <a:t>Daily Activity Reporting and Tracking (DART)</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a:latin typeface="Times New Roman" panose="02020603050405020304" pitchFamily="18" charset="0"/>
                <a:cs typeface="Times New Roman" panose="02020603050405020304" pitchFamily="18" charset="0"/>
              </a:rPr>
              <a:t>Monday.com</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a:latin typeface="Times New Roman" panose="02020603050405020304" pitchFamily="18" charset="0"/>
                <a:cs typeface="Times New Roman" panose="02020603050405020304" pitchFamily="18" charset="0"/>
              </a:rPr>
              <a:t>ProjectManager.com</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err="1">
                <a:latin typeface="Times New Roman" panose="02020603050405020304" pitchFamily="18" charset="0"/>
                <a:cs typeface="Times New Roman" panose="02020603050405020304" pitchFamily="18" charset="0"/>
              </a:rPr>
              <a:t>SmartTask</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err="1">
                <a:latin typeface="Times New Roman" panose="02020603050405020304" pitchFamily="18" charset="0"/>
                <a:cs typeface="Times New Roman" panose="02020603050405020304" pitchFamily="18" charset="0"/>
              </a:rPr>
              <a:t>ProofHub</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a:latin typeface="Times New Roman" panose="02020603050405020304" pitchFamily="18" charset="0"/>
                <a:cs typeface="Times New Roman" panose="02020603050405020304" pitchFamily="18" charset="0"/>
              </a:rPr>
              <a:t>Asana</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err="1">
                <a:latin typeface="Times New Roman" panose="02020603050405020304" pitchFamily="18" charset="0"/>
                <a:cs typeface="Times New Roman" panose="02020603050405020304" pitchFamily="18" charset="0"/>
              </a:rPr>
              <a:t>Wrike</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err="1">
                <a:latin typeface="Times New Roman" panose="02020603050405020304" pitchFamily="18" charset="0"/>
                <a:cs typeface="Times New Roman" panose="02020603050405020304" pitchFamily="18" charset="0"/>
              </a:rPr>
              <a:t>GanttPRO</a:t>
            </a:r>
            <a:endParaRPr lang="en-IN" sz="1800" dirty="0">
              <a:latin typeface="Times New Roman" panose="02020603050405020304" pitchFamily="18" charset="0"/>
              <a:cs typeface="Times New Roman" panose="02020603050405020304" pitchFamily="18" charset="0"/>
            </a:endParaRPr>
          </a:p>
          <a:p>
            <a:pPr fontAlgn="base">
              <a:lnSpc>
                <a:spcPct val="150000"/>
              </a:lnSpc>
            </a:pPr>
            <a:r>
              <a:rPr lang="en-IN" sz="1800" b="1" dirty="0" err="1">
                <a:latin typeface="Times New Roman" panose="02020603050405020304" pitchFamily="18" charset="0"/>
                <a:cs typeface="Times New Roman" panose="02020603050405020304" pitchFamily="18" charset="0"/>
              </a:rPr>
              <a:t>Zoho</a:t>
            </a:r>
            <a:r>
              <a:rPr lang="en-IN" sz="1800" b="1" dirty="0">
                <a:latin typeface="Times New Roman" panose="02020603050405020304" pitchFamily="18" charset="0"/>
                <a:cs typeface="Times New Roman" panose="02020603050405020304" pitchFamily="18" charset="0"/>
              </a:rPr>
              <a:t> Projects</a:t>
            </a:r>
            <a:endParaRPr lang="en-IN"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6204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Earned </a:t>
            </a:r>
            <a:r>
              <a:rPr lang="en-US" b="1" dirty="0" smtClean="0">
                <a:latin typeface="Times New Roman Bold" panose="02020503050405090304" charset="0"/>
                <a:cs typeface="Times New Roman Bold" panose="02020503050405090304" charset="0"/>
              </a:rPr>
              <a:t>Value Analysis</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18</a:t>
            </a:fld>
            <a:endParaRPr lang="en-US"/>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0" y="667580"/>
            <a:ext cx="8886825" cy="6051297"/>
          </a:xfrm>
        </p:spPr>
        <p:txBody>
          <a:bodyPr>
            <a:noAutofit/>
          </a:bodyPr>
          <a:lstStyle/>
          <a:p>
            <a:pPr algn="just">
              <a:lnSpc>
                <a:spcPct val="100000"/>
              </a:lnSpc>
            </a:pPr>
            <a:r>
              <a:rPr lang="en-US" sz="1800" dirty="0" smtClean="0">
                <a:solidFill>
                  <a:srgbClr val="C00000"/>
                </a:solidFill>
                <a:latin typeface="Times New Roman" panose="02020603050405020304" pitchFamily="18" charset="0"/>
                <a:cs typeface="Times New Roman" panose="02020603050405020304" pitchFamily="18" charset="0"/>
              </a:rPr>
              <a:t>What is Earn Value </a:t>
            </a:r>
          </a:p>
          <a:p>
            <a:pPr algn="just">
              <a:lnSpc>
                <a:spcPct val="100000"/>
              </a:lnSpc>
              <a:buFontTx/>
              <a:buChar char="-"/>
            </a:pPr>
            <a:r>
              <a:rPr lang="en-US" sz="1800" dirty="0" smtClean="0">
                <a:solidFill>
                  <a:schemeClr val="tx1"/>
                </a:solidFill>
                <a:latin typeface="Times New Roman" panose="02020603050405020304" pitchFamily="18" charset="0"/>
                <a:cs typeface="Times New Roman" panose="02020603050405020304" pitchFamily="18" charset="0"/>
              </a:rPr>
              <a:t>is a measure of progress</a:t>
            </a:r>
          </a:p>
          <a:p>
            <a:pPr algn="just">
              <a:lnSpc>
                <a:spcPct val="100000"/>
              </a:lnSpc>
              <a:buFontTx/>
              <a:buChar char="-"/>
            </a:pPr>
            <a:r>
              <a:rPr lang="en-US" sz="1800" dirty="0" smtClean="0">
                <a:solidFill>
                  <a:schemeClr val="tx1"/>
                </a:solidFill>
                <a:latin typeface="Times New Roman" panose="02020603050405020304" pitchFamily="18" charset="0"/>
                <a:cs typeface="Times New Roman" panose="02020603050405020304" pitchFamily="18" charset="0"/>
              </a:rPr>
              <a:t>Provides a quantitative indication of progress</a:t>
            </a:r>
          </a:p>
          <a:p>
            <a:pPr algn="just">
              <a:lnSpc>
                <a:spcPct val="100000"/>
              </a:lnSpc>
              <a:buFontTx/>
              <a:buChar char="-"/>
            </a:pPr>
            <a:r>
              <a:rPr lang="en-US" sz="1800" dirty="0" smtClean="0">
                <a:solidFill>
                  <a:schemeClr val="tx1"/>
                </a:solidFill>
                <a:latin typeface="Times New Roman" panose="02020603050405020304" pitchFamily="18" charset="0"/>
                <a:cs typeface="Times New Roman" panose="02020603050405020304" pitchFamily="18" charset="0"/>
              </a:rPr>
              <a:t>Enables us to assess the “percentage of completeness” of a project using quantitative analysis.</a:t>
            </a:r>
            <a:endParaRPr lang="en-IN" sz="1800" dirty="0" smtClean="0">
              <a:solidFill>
                <a:schemeClr val="tx1"/>
              </a:solidFill>
              <a:latin typeface="Times New Roman" panose="02020603050405020304" pitchFamily="18" charset="0"/>
              <a:cs typeface="Times New Roman" panose="02020603050405020304" pitchFamily="18" charset="0"/>
            </a:endParaRPr>
          </a:p>
          <a:p>
            <a:pPr algn="just">
              <a:lnSpc>
                <a:spcPct val="100000"/>
              </a:lnSpc>
            </a:pPr>
            <a:r>
              <a:rPr lang="en-IN" sz="1800" dirty="0" smtClean="0">
                <a:solidFill>
                  <a:srgbClr val="C00000"/>
                </a:solidFill>
                <a:latin typeface="Times New Roman" panose="02020603050405020304" pitchFamily="18" charset="0"/>
                <a:cs typeface="Times New Roman" panose="02020603050405020304" pitchFamily="18" charset="0"/>
              </a:rPr>
              <a:t>What is Earned </a:t>
            </a:r>
            <a:r>
              <a:rPr lang="en-IN" sz="1800" dirty="0">
                <a:solidFill>
                  <a:srgbClr val="C00000"/>
                </a:solidFill>
                <a:latin typeface="Times New Roman" panose="02020603050405020304" pitchFamily="18" charset="0"/>
                <a:cs typeface="Times New Roman" panose="02020603050405020304" pitchFamily="18" charset="0"/>
              </a:rPr>
              <a:t>Value </a:t>
            </a:r>
            <a:r>
              <a:rPr lang="en-IN" sz="1800" dirty="0" smtClean="0">
                <a:solidFill>
                  <a:srgbClr val="C00000"/>
                </a:solidFill>
                <a:latin typeface="Times New Roman" panose="02020603050405020304" pitchFamily="18" charset="0"/>
                <a:cs typeface="Times New Roman" panose="02020603050405020304" pitchFamily="18" charset="0"/>
              </a:rPr>
              <a:t>Analysis(EVA)</a:t>
            </a:r>
          </a:p>
          <a:p>
            <a:pPr algn="just">
              <a:lnSpc>
                <a:spcPct val="100000"/>
              </a:lnSpc>
              <a:buFontTx/>
              <a:buChar char="-"/>
            </a:pPr>
            <a:r>
              <a:rPr lang="en-IN" sz="1800" dirty="0" smtClean="0">
                <a:latin typeface="Times New Roman" panose="02020603050405020304" pitchFamily="18" charset="0"/>
                <a:cs typeface="Times New Roman" panose="02020603050405020304" pitchFamily="18" charset="0"/>
              </a:rPr>
              <a:t>is </a:t>
            </a:r>
            <a:r>
              <a:rPr lang="en-IN" sz="1800" dirty="0">
                <a:latin typeface="Times New Roman" panose="02020603050405020304" pitchFamily="18" charset="0"/>
                <a:cs typeface="Times New Roman" panose="02020603050405020304" pitchFamily="18" charset="0"/>
              </a:rPr>
              <a:t>a quantitative technique for assessing progress as the software project team moves through </a:t>
            </a:r>
            <a:endParaRPr lang="en-IN" sz="1800" dirty="0" smtClean="0">
              <a:latin typeface="Times New Roman" panose="02020603050405020304" pitchFamily="18" charset="0"/>
              <a:cs typeface="Times New Roman" panose="02020603050405020304" pitchFamily="18" charset="0"/>
            </a:endParaRPr>
          </a:p>
          <a:p>
            <a:pPr marL="114300" indent="0" algn="just">
              <a:lnSpc>
                <a:spcPct val="100000"/>
              </a:lnSpc>
              <a:buNone/>
            </a:pPr>
            <a:r>
              <a:rPr lang="en-IN" sz="1800" dirty="0" smtClean="0">
                <a:latin typeface="Times New Roman" panose="02020603050405020304" pitchFamily="18" charset="0"/>
                <a:cs typeface="Times New Roman" panose="02020603050405020304" pitchFamily="18" charset="0"/>
              </a:rPr>
              <a:t>      the work </a:t>
            </a:r>
            <a:r>
              <a:rPr lang="en-IN" sz="1800" dirty="0">
                <a:latin typeface="Times New Roman" panose="02020603050405020304" pitchFamily="18" charset="0"/>
                <a:cs typeface="Times New Roman" panose="02020603050405020304" pitchFamily="18" charset="0"/>
              </a:rPr>
              <a:t>tasks, allocated to the Project Schedule.</a:t>
            </a:r>
          </a:p>
          <a:p>
            <a:pPr algn="just">
              <a:lnSpc>
                <a:spcPct val="100000"/>
              </a:lnSpc>
            </a:pPr>
            <a:r>
              <a:rPr lang="en-IN" sz="1800" dirty="0">
                <a:latin typeface="Times New Roman" panose="02020603050405020304" pitchFamily="18" charset="0"/>
                <a:cs typeface="Times New Roman" panose="02020603050405020304" pitchFamily="18" charset="0"/>
              </a:rPr>
              <a:t>Total hours to complete the project are estimated and every task is given an Earned Value, based on its estimated (%) of the total</a:t>
            </a:r>
            <a:r>
              <a:rPr lang="en-IN" sz="1800" dirty="0" smtClean="0">
                <a:latin typeface="Times New Roman" panose="02020603050405020304" pitchFamily="18" charset="0"/>
                <a:cs typeface="Times New Roman" panose="02020603050405020304" pitchFamily="18" charset="0"/>
              </a:rPr>
              <a:t>.</a:t>
            </a:r>
          </a:p>
          <a:p>
            <a:pPr marL="442913" indent="-328613" algn="just">
              <a:lnSpc>
                <a:spcPct val="100000"/>
              </a:lnSpc>
              <a:buNone/>
            </a:pPr>
            <a:r>
              <a:rPr lang="en-US" sz="1800" b="1" dirty="0" smtClean="0"/>
              <a:t>       “</a:t>
            </a:r>
            <a:r>
              <a:rPr lang="en-US" sz="1800" b="1" dirty="0" smtClean="0">
                <a:solidFill>
                  <a:schemeClr val="bg2"/>
                </a:solidFill>
                <a:latin typeface="Times New Roman" panose="02020603050405020304" pitchFamily="18" charset="0"/>
                <a:cs typeface="Times New Roman" panose="02020603050405020304" pitchFamily="18" charset="0"/>
              </a:rPr>
              <a:t>Earned </a:t>
            </a:r>
            <a:r>
              <a:rPr lang="en-US" sz="1800" b="1" dirty="0">
                <a:solidFill>
                  <a:schemeClr val="bg2"/>
                </a:solidFill>
                <a:latin typeface="Times New Roman" panose="02020603050405020304" pitchFamily="18" charset="0"/>
                <a:cs typeface="Times New Roman" panose="02020603050405020304" pitchFamily="18" charset="0"/>
              </a:rPr>
              <a:t>Value Analysis (EVA)</a:t>
            </a:r>
            <a:r>
              <a:rPr lang="en-US" sz="1800" dirty="0">
                <a:solidFill>
                  <a:schemeClr val="bg2"/>
                </a:solidFill>
                <a:latin typeface="Times New Roman" panose="02020603050405020304" pitchFamily="18" charset="0"/>
                <a:cs typeface="Times New Roman" panose="02020603050405020304" pitchFamily="18" charset="0"/>
              </a:rPr>
              <a:t> is a </a:t>
            </a:r>
            <a:r>
              <a:rPr lang="en-US" sz="1800" dirty="0">
                <a:solidFill>
                  <a:schemeClr val="bg2"/>
                </a:solidFill>
                <a:latin typeface="Times New Roman" panose="02020603050405020304" pitchFamily="18" charset="0"/>
                <a:cs typeface="Times New Roman" panose="02020603050405020304" pitchFamily="18" charset="0"/>
                <a:hlinkClick r:id="rId3"/>
              </a:rPr>
              <a:t>project management</a:t>
            </a:r>
            <a:r>
              <a:rPr lang="en-US" sz="1800" dirty="0">
                <a:solidFill>
                  <a:schemeClr val="bg2"/>
                </a:solidFill>
                <a:latin typeface="Times New Roman" panose="02020603050405020304" pitchFamily="18" charset="0"/>
                <a:cs typeface="Times New Roman" panose="02020603050405020304" pitchFamily="18" charset="0"/>
              </a:rPr>
              <a:t> technique used to measure project performance </a:t>
            </a:r>
            <a:r>
              <a:rPr lang="en-US" sz="1800" dirty="0" smtClean="0">
                <a:solidFill>
                  <a:schemeClr val="bg2"/>
                </a:solidFill>
                <a:latin typeface="Times New Roman" panose="02020603050405020304" pitchFamily="18" charset="0"/>
                <a:cs typeface="Times New Roman" panose="02020603050405020304" pitchFamily="18" charset="0"/>
              </a:rPr>
              <a:t>       by </a:t>
            </a:r>
            <a:r>
              <a:rPr lang="en-US" sz="1800" dirty="0">
                <a:solidFill>
                  <a:schemeClr val="bg2"/>
                </a:solidFill>
                <a:latin typeface="Times New Roman" panose="02020603050405020304" pitchFamily="18" charset="0"/>
                <a:cs typeface="Times New Roman" panose="02020603050405020304" pitchFamily="18" charset="0"/>
              </a:rPr>
              <a:t>comparing the planned progress with actual progress. It integrates scope, schedule, and cost data to provide a clear picture of project </a:t>
            </a:r>
            <a:r>
              <a:rPr lang="en-US" sz="1800" dirty="0" smtClean="0">
                <a:solidFill>
                  <a:schemeClr val="bg2"/>
                </a:solidFill>
                <a:latin typeface="Times New Roman" panose="02020603050405020304" pitchFamily="18" charset="0"/>
                <a:cs typeface="Times New Roman" panose="02020603050405020304" pitchFamily="18" charset="0"/>
              </a:rPr>
              <a:t>health”</a:t>
            </a:r>
            <a:endParaRPr lang="en-IN" sz="1800" dirty="0">
              <a:solidFill>
                <a:schemeClr val="bg2"/>
              </a:solidFill>
              <a:latin typeface="Times New Roman" panose="02020603050405020304" pitchFamily="18" charset="0"/>
              <a:cs typeface="Times New Roman" panose="02020603050405020304" pitchFamily="18" charset="0"/>
            </a:endParaRPr>
          </a:p>
          <a:p>
            <a:pPr algn="just">
              <a:lnSpc>
                <a:spcPct val="100000"/>
              </a:lnSpc>
            </a:pPr>
            <a:r>
              <a:rPr lang="en-US" sz="1800" b="0" i="0" dirty="0">
                <a:solidFill>
                  <a:srgbClr val="242021"/>
                </a:solidFill>
                <a:effectLst/>
                <a:latin typeface="Times New Roman" panose="02020603050405020304" pitchFamily="18" charset="0"/>
                <a:cs typeface="Times New Roman" panose="02020603050405020304" pitchFamily="18" charset="0"/>
              </a:rPr>
              <a:t>The </a:t>
            </a:r>
            <a:r>
              <a:rPr lang="en-US" sz="1800" b="0" i="0" dirty="0">
                <a:solidFill>
                  <a:srgbClr val="C00000"/>
                </a:solidFill>
                <a:effectLst/>
                <a:latin typeface="Times New Roman" panose="02020603050405020304" pitchFamily="18" charset="0"/>
                <a:cs typeface="Times New Roman" panose="02020603050405020304" pitchFamily="18" charset="0"/>
              </a:rPr>
              <a:t>earned value system </a:t>
            </a:r>
            <a:r>
              <a:rPr lang="en-US" sz="1800" b="0" i="0" dirty="0">
                <a:solidFill>
                  <a:srgbClr val="242021"/>
                </a:solidFill>
                <a:effectLst/>
                <a:latin typeface="Times New Roman" panose="02020603050405020304" pitchFamily="18" charset="0"/>
                <a:cs typeface="Times New Roman" panose="02020603050405020304" pitchFamily="18" charset="0"/>
              </a:rPr>
              <a:t>provides a common value scale for every [software project] task, regardless of the type of work being performed. The total hours to do the whole project are estimated, and every task is given an earned value based on its estimated percentage of the total.</a:t>
            </a:r>
          </a:p>
          <a:p>
            <a:pPr algn="just">
              <a:lnSpc>
                <a:spcPct val="100000"/>
              </a:lnSpc>
            </a:pPr>
            <a:r>
              <a:rPr lang="en-US" sz="1800" b="0" i="0" dirty="0">
                <a:solidFill>
                  <a:srgbClr val="242021"/>
                </a:solidFill>
                <a:effectLst/>
                <a:latin typeface="Times New Roman" panose="02020603050405020304" pitchFamily="18" charset="0"/>
                <a:cs typeface="Times New Roman" panose="02020603050405020304" pitchFamily="18" charset="0"/>
              </a:rPr>
              <a:t>Stated even more simply, earned value is a measure of progress. It enables you to assess the </a:t>
            </a:r>
            <a:r>
              <a:rPr lang="en-US" sz="1800" b="0" i="0" dirty="0">
                <a:solidFill>
                  <a:srgbClr val="C00000"/>
                </a:solidFill>
                <a:effectLst/>
                <a:latin typeface="Times New Roman" panose="02020603050405020304" pitchFamily="18" charset="0"/>
                <a:cs typeface="Times New Roman" panose="02020603050405020304" pitchFamily="18" charset="0"/>
              </a:rPr>
              <a:t>“percent of completeness” </a:t>
            </a:r>
            <a:r>
              <a:rPr lang="en-US" sz="1800" b="0" i="0" dirty="0">
                <a:solidFill>
                  <a:srgbClr val="242021"/>
                </a:solidFill>
                <a:effectLst/>
                <a:latin typeface="Times New Roman" panose="02020603050405020304" pitchFamily="18" charset="0"/>
                <a:cs typeface="Times New Roman" panose="02020603050405020304" pitchFamily="18" charset="0"/>
              </a:rPr>
              <a:t>of a project using quantitative analysis rather than rely on a gut feeling</a:t>
            </a:r>
            <a:r>
              <a:rPr lang="en-US" sz="1800" b="0" i="0" dirty="0" smtClean="0">
                <a:solidFill>
                  <a:srgbClr val="242021"/>
                </a:solidFill>
                <a:effectLst/>
                <a:latin typeface="Times New Roman" panose="02020603050405020304" pitchFamily="18" charset="0"/>
                <a:cs typeface="Times New Roman" panose="02020603050405020304" pitchFamily="18" charset="0"/>
              </a:rPr>
              <a:t>.</a:t>
            </a:r>
            <a:r>
              <a:rPr lang="en-US" sz="1800" dirty="0" smtClean="0">
                <a:solidFill>
                  <a:srgbClr val="303030"/>
                </a:solidFill>
              </a:rPr>
              <a:t> </a:t>
            </a:r>
            <a:r>
              <a:rPr lang="en-US" sz="1800" dirty="0" smtClean="0"/>
              <a:t/>
            </a:r>
            <a:br>
              <a:rPr lang="en-US" sz="1800" dirty="0" smtClean="0"/>
            </a:br>
            <a:endParaRPr lang="en-US" sz="1800" dirty="0">
              <a:solidFill>
                <a:srgbClr val="303030"/>
              </a:solidFill>
            </a:endParaRPr>
          </a:p>
        </p:txBody>
      </p:sp>
    </p:spTree>
    <p:extLst>
      <p:ext uri="{BB962C8B-B14F-4D97-AF65-F5344CB8AC3E}">
        <p14:creationId xmlns:p14="http://schemas.microsoft.com/office/powerpoint/2010/main" val="1310686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Earned Value </a:t>
            </a:r>
            <a:r>
              <a:rPr lang="en-US" b="1" dirty="0" smtClean="0">
                <a:latin typeface="Times New Roman Bold" panose="02020503050405090304" charset="0"/>
                <a:cs typeface="Times New Roman Bold" panose="02020503050405090304" charset="0"/>
              </a:rPr>
              <a:t>Analysis (Conti.)</a:t>
            </a:r>
            <a:endParaRPr lang="en-US" b="1" dirty="0">
              <a:latin typeface="Times New Roman Bold" panose="02020503050405090304" charset="0"/>
              <a:cs typeface="Times New Roman Bold" panose="02020503050405090304" charset="0"/>
            </a:endParaRP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19</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228600" y="1447800"/>
            <a:ext cx="8534400" cy="5410200"/>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 </a:t>
            </a:r>
            <a:r>
              <a:rPr lang="en-IN" sz="1800" b="1" dirty="0">
                <a:solidFill>
                  <a:srgbClr val="C00000"/>
                </a:solidFill>
                <a:latin typeface="Times New Roman" panose="02020603050405020304" pitchFamily="18" charset="0"/>
                <a:cs typeface="Times New Roman" panose="02020603050405020304" pitchFamily="18" charset="0"/>
              </a:rPr>
              <a:t>Planned Value (PV)</a:t>
            </a:r>
            <a:r>
              <a:rPr lang="en-IN" sz="1800" dirty="0">
                <a:solidFill>
                  <a:srgbClr val="C00000"/>
                </a:solidFill>
                <a:latin typeface="Times New Roman" panose="02020603050405020304" pitchFamily="18" charset="0"/>
                <a:cs typeface="Times New Roman" panose="02020603050405020304" pitchFamily="18" charset="0"/>
              </a:rPr>
              <a:t> – </a:t>
            </a:r>
            <a:r>
              <a:rPr lang="en-IN" sz="1800" dirty="0">
                <a:latin typeface="Times New Roman" panose="02020603050405020304" pitchFamily="18" charset="0"/>
                <a:cs typeface="Times New Roman" panose="02020603050405020304" pitchFamily="18" charset="0"/>
              </a:rPr>
              <a:t>The approved cost baseline for the work package. It was earlier known as Budgeted Cost of Work Scheduled (BCWS</a:t>
            </a:r>
            <a:r>
              <a:rPr lang="en-IN" sz="1800" dirty="0" smtClean="0">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a:p>
            <a:pPr algn="just">
              <a:lnSpc>
                <a:spcPct val="150000"/>
              </a:lnSpc>
            </a:pPr>
            <a:r>
              <a:rPr lang="en-IN" sz="1800" b="1" dirty="0">
                <a:solidFill>
                  <a:srgbClr val="C00000"/>
                </a:solidFill>
                <a:latin typeface="Times New Roman" panose="02020603050405020304" pitchFamily="18" charset="0"/>
                <a:cs typeface="Times New Roman" panose="02020603050405020304" pitchFamily="18" charset="0"/>
              </a:rPr>
              <a:t>Earned Value (EV)</a:t>
            </a:r>
            <a:r>
              <a:rPr lang="en-IN" sz="1800" dirty="0">
                <a:solidFill>
                  <a:srgbClr val="C00000"/>
                </a:solidFill>
                <a:latin typeface="Times New Roman" panose="02020603050405020304" pitchFamily="18" charset="0"/>
                <a:cs typeface="Times New Roman" panose="02020603050405020304" pitchFamily="18" charset="0"/>
              </a:rPr>
              <a:t> – </a:t>
            </a:r>
            <a:r>
              <a:rPr lang="en-IN" sz="1800" dirty="0">
                <a:latin typeface="Times New Roman" panose="02020603050405020304" pitchFamily="18" charset="0"/>
                <a:cs typeface="Times New Roman" panose="02020603050405020304" pitchFamily="18" charset="0"/>
              </a:rPr>
              <a:t>The budgeted value of the completed work packages. It used to be known as Budgeted Cost of Work Performance at a specified point (BCWP</a:t>
            </a:r>
            <a:r>
              <a:rPr lang="en-IN" sz="1800" dirty="0" smtClean="0">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a:p>
            <a:pPr algn="just">
              <a:lnSpc>
                <a:spcPct val="150000"/>
              </a:lnSpc>
            </a:pPr>
            <a:r>
              <a:rPr lang="en-IN" sz="1800" b="1" dirty="0">
                <a:solidFill>
                  <a:srgbClr val="C00000"/>
                </a:solidFill>
                <a:latin typeface="Times New Roman" panose="02020603050405020304" pitchFamily="18" charset="0"/>
                <a:cs typeface="Times New Roman" panose="02020603050405020304" pitchFamily="18" charset="0"/>
              </a:rPr>
              <a:t>Actual Cost (AC)</a:t>
            </a:r>
            <a:r>
              <a:rPr lang="en-IN" sz="1800" dirty="0">
                <a:solidFill>
                  <a:srgbClr val="C00000"/>
                </a:solidFill>
                <a:latin typeface="Times New Roman" panose="02020603050405020304" pitchFamily="18" charset="0"/>
                <a:cs typeface="Times New Roman" panose="02020603050405020304" pitchFamily="18" charset="0"/>
              </a:rPr>
              <a:t> – </a:t>
            </a:r>
            <a:r>
              <a:rPr lang="en-IN" sz="1800" dirty="0">
                <a:latin typeface="Times New Roman" panose="02020603050405020304" pitchFamily="18" charset="0"/>
                <a:cs typeface="Times New Roman" panose="02020603050405020304" pitchFamily="18" charset="0"/>
              </a:rPr>
              <a:t>The actual cost incurred during the execution of work packages up to a specified point in time. It was previously called Actual Cost of Work Performed (ACWP).</a:t>
            </a:r>
          </a:p>
          <a:p>
            <a:pPr marL="0" indent="0" algn="just">
              <a:lnSpc>
                <a:spcPct val="150000"/>
              </a:lnSpc>
              <a:buNone/>
            </a:pPr>
            <a:r>
              <a:rPr lang="en-US" sz="1800" dirty="0"/>
              <a:t/>
            </a:r>
            <a:br>
              <a:rPr lang="en-US" sz="1800" dirty="0"/>
            </a:br>
            <a:r>
              <a:rPr lang="en-US" sz="1800" dirty="0"/>
              <a:t/>
            </a:r>
            <a:br>
              <a:rPr lang="en-US" sz="1800" dirty="0"/>
            </a:br>
            <a:r>
              <a:rPr lang="en-US" sz="1800" dirty="0">
                <a:solidFill>
                  <a:srgbClr val="303030"/>
                </a:solidFill>
              </a:rPr>
              <a:t> </a:t>
            </a:r>
            <a:r>
              <a:rPr lang="en-US" sz="1800" dirty="0"/>
              <a:t/>
            </a:r>
            <a:br>
              <a:rPr lang="en-US" sz="1800" dirty="0"/>
            </a:br>
            <a:endParaRPr lang="en-US" sz="1800" dirty="0">
              <a:solidFill>
                <a:srgbClr val="303030"/>
              </a:solidFill>
            </a:endParaRPr>
          </a:p>
        </p:txBody>
      </p:sp>
    </p:spTree>
    <p:extLst>
      <p:ext uri="{BB962C8B-B14F-4D97-AF65-F5344CB8AC3E}">
        <p14:creationId xmlns:p14="http://schemas.microsoft.com/office/powerpoint/2010/main" val="717544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Earned Value Computing </a:t>
            </a:r>
            <a:r>
              <a:rPr lang="en-US" b="1" dirty="0" smtClean="0">
                <a:latin typeface="Times New Roman Bold" panose="02020503050405090304" charset="0"/>
                <a:cs typeface="Times New Roman Bold" panose="02020503050405090304" charset="0"/>
              </a:rPr>
              <a:t>– Steps </a:t>
            </a:r>
            <a:r>
              <a:rPr lang="en-US" b="1" dirty="0">
                <a:latin typeface="Times New Roman Bold" panose="02020503050405090304" charset="0"/>
                <a:cs typeface="Times New Roman Bold" panose="02020503050405090304" charset="0"/>
              </a:rPr>
              <a:t>(Conti.)</a:t>
            </a:r>
            <a:endParaRPr lang="en-IN" dirty="0"/>
          </a:p>
        </p:txBody>
      </p:sp>
      <p:sp>
        <p:nvSpPr>
          <p:cNvPr id="3" name="Text Placeholder 2"/>
          <p:cNvSpPr>
            <a:spLocks noGrp="1"/>
          </p:cNvSpPr>
          <p:nvPr>
            <p:ph type="body" idx="1"/>
          </p:nvPr>
        </p:nvSpPr>
        <p:spPr>
          <a:xfrm>
            <a:off x="352540" y="914040"/>
            <a:ext cx="8281570" cy="5442480"/>
          </a:xfrm>
        </p:spPr>
        <p:txBody>
          <a:bodyPr>
            <a:normAutofit/>
          </a:bodyPr>
          <a:lstStyle/>
          <a:p>
            <a:pPr algn="just">
              <a:lnSpc>
                <a:spcPct val="150000"/>
              </a:lnSpc>
              <a:buFont typeface="+mj-lt"/>
              <a:buAutoNum type="arabicPeriod"/>
            </a:pPr>
            <a:r>
              <a:rPr lang="en-US" sz="1800" dirty="0">
                <a:solidFill>
                  <a:srgbClr val="242021"/>
                </a:solidFill>
                <a:latin typeface="Times New Roman" panose="02020603050405020304" pitchFamily="18" charset="0"/>
                <a:cs typeface="Times New Roman" panose="02020603050405020304" pitchFamily="18" charset="0"/>
              </a:rPr>
              <a:t>The </a:t>
            </a:r>
            <a:r>
              <a:rPr lang="en-US" sz="1800" i="1" dirty="0">
                <a:solidFill>
                  <a:srgbClr val="C00000"/>
                </a:solidFill>
                <a:latin typeface="Times New Roman" panose="02020603050405020304" pitchFamily="18" charset="0"/>
                <a:cs typeface="Times New Roman" panose="02020603050405020304" pitchFamily="18" charset="0"/>
              </a:rPr>
              <a:t>budgeted cost of work scheduled </a:t>
            </a:r>
            <a:r>
              <a:rPr lang="en-US" sz="1800" dirty="0">
                <a:solidFill>
                  <a:srgbClr val="C00000"/>
                </a:solidFill>
                <a:latin typeface="Times New Roman" panose="02020603050405020304" pitchFamily="18" charset="0"/>
                <a:cs typeface="Times New Roman" panose="02020603050405020304" pitchFamily="18" charset="0"/>
              </a:rPr>
              <a:t>(BCWS) </a:t>
            </a:r>
            <a:r>
              <a:rPr lang="en-US" sz="1800" dirty="0">
                <a:solidFill>
                  <a:srgbClr val="242021"/>
                </a:solidFill>
                <a:latin typeface="Times New Roman" panose="02020603050405020304" pitchFamily="18" charset="0"/>
                <a:cs typeface="Times New Roman" panose="02020603050405020304" pitchFamily="18" charset="0"/>
              </a:rPr>
              <a:t>is determined for each work task represented in the schedule. During estimation, the work (in person-hours or person-days) of each software engineering task is planned. Hence, </a:t>
            </a:r>
            <a:r>
              <a:rPr lang="en-US" sz="1800" i="1" dirty="0" err="1">
                <a:solidFill>
                  <a:srgbClr val="242021"/>
                </a:solidFill>
                <a:latin typeface="Times New Roman" panose="02020603050405020304" pitchFamily="18" charset="0"/>
                <a:cs typeface="Times New Roman" panose="02020603050405020304" pitchFamily="18" charset="0"/>
              </a:rPr>
              <a:t>BCWS</a:t>
            </a:r>
            <a:r>
              <a:rPr lang="en-US" sz="1800" i="1" baseline="-25000" dirty="0" err="1">
                <a:solidFill>
                  <a:srgbClr val="242021"/>
                </a:solidFill>
                <a:latin typeface="Times New Roman" panose="02020603050405020304" pitchFamily="18" charset="0"/>
                <a:cs typeface="Times New Roman" panose="02020603050405020304" pitchFamily="18" charset="0"/>
              </a:rPr>
              <a:t>i</a:t>
            </a:r>
            <a:r>
              <a:rPr lang="en-US" sz="1800" i="1" dirty="0">
                <a:solidFill>
                  <a:srgbClr val="242021"/>
                </a:solidFill>
                <a:latin typeface="Times New Roman" panose="02020603050405020304" pitchFamily="18" charset="0"/>
                <a:cs typeface="Times New Roman" panose="02020603050405020304" pitchFamily="18" charset="0"/>
              </a:rPr>
              <a:t> </a:t>
            </a:r>
            <a:r>
              <a:rPr lang="en-US" sz="1800" dirty="0">
                <a:solidFill>
                  <a:srgbClr val="242021"/>
                </a:solidFill>
                <a:latin typeface="Times New Roman" panose="02020603050405020304" pitchFamily="18" charset="0"/>
                <a:cs typeface="Times New Roman" panose="02020603050405020304" pitchFamily="18" charset="0"/>
              </a:rPr>
              <a:t>is the effort planned for work task </a:t>
            </a:r>
            <a:r>
              <a:rPr lang="en-US" sz="1800" i="1" dirty="0" err="1">
                <a:solidFill>
                  <a:srgbClr val="242021"/>
                </a:solidFill>
                <a:latin typeface="Times New Roman" panose="02020603050405020304" pitchFamily="18" charset="0"/>
                <a:cs typeface="Times New Roman" panose="02020603050405020304" pitchFamily="18" charset="0"/>
              </a:rPr>
              <a:t>i</a:t>
            </a:r>
            <a:r>
              <a:rPr lang="en-US" sz="1800" i="1" dirty="0">
                <a:solidFill>
                  <a:srgbClr val="242021"/>
                </a:solidFill>
                <a:latin typeface="Times New Roman" panose="02020603050405020304" pitchFamily="18" charset="0"/>
                <a:cs typeface="Times New Roman" panose="02020603050405020304" pitchFamily="18" charset="0"/>
              </a:rPr>
              <a:t>. </a:t>
            </a:r>
            <a:r>
              <a:rPr lang="en-US" sz="1800" dirty="0">
                <a:solidFill>
                  <a:srgbClr val="242021"/>
                </a:solidFill>
                <a:latin typeface="Times New Roman" panose="02020603050405020304" pitchFamily="18" charset="0"/>
                <a:cs typeface="Times New Roman" panose="02020603050405020304" pitchFamily="18" charset="0"/>
              </a:rPr>
              <a:t>To determine progress at a given point along the project schedule, the value of </a:t>
            </a:r>
            <a:r>
              <a:rPr lang="en-US" sz="1800" i="1" dirty="0">
                <a:solidFill>
                  <a:srgbClr val="242021"/>
                </a:solidFill>
                <a:latin typeface="Times New Roman" panose="02020603050405020304" pitchFamily="18" charset="0"/>
                <a:cs typeface="Times New Roman" panose="02020603050405020304" pitchFamily="18" charset="0"/>
              </a:rPr>
              <a:t>BCWS</a:t>
            </a:r>
            <a:r>
              <a:rPr lang="en-US" sz="1800" dirty="0">
                <a:solidFill>
                  <a:srgbClr val="242021"/>
                </a:solidFill>
                <a:latin typeface="Times New Roman" panose="02020603050405020304" pitchFamily="18" charset="0"/>
                <a:cs typeface="Times New Roman" panose="02020603050405020304" pitchFamily="18" charset="0"/>
              </a:rPr>
              <a:t> is the sum of the </a:t>
            </a:r>
            <a:r>
              <a:rPr lang="en-US" sz="1800" i="1" dirty="0" err="1">
                <a:solidFill>
                  <a:srgbClr val="242021"/>
                </a:solidFill>
                <a:latin typeface="Times New Roman" panose="02020603050405020304" pitchFamily="18" charset="0"/>
                <a:cs typeface="Times New Roman" panose="02020603050405020304" pitchFamily="18" charset="0"/>
              </a:rPr>
              <a:t>BCWS</a:t>
            </a:r>
            <a:r>
              <a:rPr lang="en-US" sz="1800" i="1" baseline="-25000" dirty="0" err="1">
                <a:solidFill>
                  <a:srgbClr val="242021"/>
                </a:solidFill>
                <a:latin typeface="Times New Roman" panose="02020603050405020304" pitchFamily="18" charset="0"/>
                <a:cs typeface="Times New Roman" panose="02020603050405020304" pitchFamily="18" charset="0"/>
              </a:rPr>
              <a:t>i</a:t>
            </a:r>
            <a:r>
              <a:rPr lang="en-US" sz="1800" i="1" baseline="-25000" dirty="0">
                <a:solidFill>
                  <a:srgbClr val="242021"/>
                </a:solidFill>
                <a:latin typeface="Times New Roman" panose="02020603050405020304" pitchFamily="18" charset="0"/>
                <a:cs typeface="Times New Roman" panose="02020603050405020304" pitchFamily="18" charset="0"/>
              </a:rPr>
              <a:t>  </a:t>
            </a:r>
            <a:r>
              <a:rPr lang="en-US" sz="1800" dirty="0">
                <a:solidFill>
                  <a:srgbClr val="242021"/>
                </a:solidFill>
                <a:latin typeface="Times New Roman" panose="02020603050405020304" pitchFamily="18" charset="0"/>
                <a:cs typeface="Times New Roman" panose="02020603050405020304" pitchFamily="18" charset="0"/>
              </a:rPr>
              <a:t>values for all work tasks that should have been completed by that point in time on the project schedule.</a:t>
            </a:r>
          </a:p>
          <a:p>
            <a:pPr algn="just">
              <a:lnSpc>
                <a:spcPct val="150000"/>
              </a:lnSpc>
              <a:buFont typeface="+mj-lt"/>
              <a:buAutoNum type="arabicPeriod"/>
            </a:pPr>
            <a:r>
              <a:rPr lang="en-US" sz="1800" dirty="0">
                <a:solidFill>
                  <a:srgbClr val="242021"/>
                </a:solidFill>
                <a:latin typeface="Times New Roman" panose="02020603050405020304" pitchFamily="18" charset="0"/>
                <a:cs typeface="Times New Roman" panose="02020603050405020304" pitchFamily="18" charset="0"/>
              </a:rPr>
              <a:t>The </a:t>
            </a:r>
            <a:r>
              <a:rPr lang="en-US" sz="1800" i="1" dirty="0">
                <a:solidFill>
                  <a:srgbClr val="242021"/>
                </a:solidFill>
                <a:latin typeface="Times New Roman" panose="02020603050405020304" pitchFamily="18" charset="0"/>
                <a:cs typeface="Times New Roman" panose="02020603050405020304" pitchFamily="18" charset="0"/>
              </a:rPr>
              <a:t>BCWS</a:t>
            </a:r>
            <a:r>
              <a:rPr lang="en-US" sz="1800" dirty="0">
                <a:solidFill>
                  <a:srgbClr val="242021"/>
                </a:solidFill>
                <a:latin typeface="Times New Roman" panose="02020603050405020304" pitchFamily="18" charset="0"/>
                <a:cs typeface="Times New Roman" panose="02020603050405020304" pitchFamily="18" charset="0"/>
              </a:rPr>
              <a:t> values for all work tasks are summed to derive the </a:t>
            </a:r>
            <a:r>
              <a:rPr lang="en-US" sz="1800" i="1" dirty="0">
                <a:solidFill>
                  <a:srgbClr val="C00000"/>
                </a:solidFill>
                <a:latin typeface="Times New Roman" panose="02020603050405020304" pitchFamily="18" charset="0"/>
                <a:cs typeface="Times New Roman" panose="02020603050405020304" pitchFamily="18" charset="0"/>
              </a:rPr>
              <a:t>budget at completion </a:t>
            </a:r>
            <a:r>
              <a:rPr lang="en-US" sz="1800" dirty="0">
                <a:solidFill>
                  <a:srgbClr val="C00000"/>
                </a:solidFill>
                <a:latin typeface="Times New Roman" panose="02020603050405020304" pitchFamily="18" charset="0"/>
                <a:cs typeface="Times New Roman" panose="02020603050405020304" pitchFamily="18" charset="0"/>
              </a:rPr>
              <a:t>(BAC)</a:t>
            </a:r>
            <a:r>
              <a:rPr lang="en-US" sz="1800" dirty="0">
                <a:solidFill>
                  <a:srgbClr val="242021"/>
                </a:solidFill>
                <a:latin typeface="Times New Roman" panose="02020603050405020304" pitchFamily="18" charset="0"/>
                <a:cs typeface="Times New Roman" panose="02020603050405020304" pitchFamily="18" charset="0"/>
              </a:rPr>
              <a:t>. Hence, </a:t>
            </a:r>
          </a:p>
          <a:p>
            <a:pPr algn="just">
              <a:lnSpc>
                <a:spcPct val="150000"/>
              </a:lnSpc>
              <a:buFont typeface="+mj-lt"/>
              <a:buAutoNum type="arabicPeriod"/>
            </a:pPr>
            <a:r>
              <a:rPr lang="en-US" sz="1800" dirty="0">
                <a:solidFill>
                  <a:srgbClr val="242021"/>
                </a:solidFill>
                <a:latin typeface="Times New Roman" panose="02020603050405020304" pitchFamily="18" charset="0"/>
                <a:cs typeface="Times New Roman" panose="02020603050405020304" pitchFamily="18" charset="0"/>
              </a:rPr>
              <a:t>Next, the value </a:t>
            </a:r>
            <a:r>
              <a:rPr lang="en-US" sz="1800" dirty="0">
                <a:solidFill>
                  <a:srgbClr val="C00000"/>
                </a:solidFill>
                <a:latin typeface="Times New Roman" panose="02020603050405020304" pitchFamily="18" charset="0"/>
                <a:cs typeface="Times New Roman" panose="02020603050405020304" pitchFamily="18" charset="0"/>
              </a:rPr>
              <a:t>for </a:t>
            </a:r>
            <a:r>
              <a:rPr lang="en-US" sz="1800" i="1" dirty="0">
                <a:solidFill>
                  <a:srgbClr val="C00000"/>
                </a:solidFill>
                <a:latin typeface="Times New Roman" panose="02020603050405020304" pitchFamily="18" charset="0"/>
                <a:cs typeface="Times New Roman" panose="02020603050405020304" pitchFamily="18" charset="0"/>
              </a:rPr>
              <a:t>budgeted cost of work performed </a:t>
            </a:r>
            <a:r>
              <a:rPr lang="en-US" sz="1800" dirty="0">
                <a:solidFill>
                  <a:srgbClr val="C00000"/>
                </a:solidFill>
                <a:latin typeface="Times New Roman" panose="02020603050405020304" pitchFamily="18" charset="0"/>
                <a:cs typeface="Times New Roman" panose="02020603050405020304" pitchFamily="18" charset="0"/>
              </a:rPr>
              <a:t>(BCWP) </a:t>
            </a:r>
            <a:r>
              <a:rPr lang="en-US" sz="1800" dirty="0">
                <a:solidFill>
                  <a:srgbClr val="242021"/>
                </a:solidFill>
                <a:latin typeface="Times New Roman" panose="02020603050405020304" pitchFamily="18" charset="0"/>
                <a:cs typeface="Times New Roman" panose="02020603050405020304" pitchFamily="18" charset="0"/>
              </a:rPr>
              <a:t>is computed. The value for </a:t>
            </a:r>
            <a:r>
              <a:rPr lang="en-US" sz="1800" i="1" dirty="0">
                <a:solidFill>
                  <a:srgbClr val="242021"/>
                </a:solidFill>
                <a:latin typeface="Times New Roman" panose="02020603050405020304" pitchFamily="18" charset="0"/>
                <a:cs typeface="Times New Roman" panose="02020603050405020304" pitchFamily="18" charset="0"/>
              </a:rPr>
              <a:t>BCWP</a:t>
            </a:r>
            <a:r>
              <a:rPr lang="en-US" sz="1800" dirty="0">
                <a:solidFill>
                  <a:srgbClr val="242021"/>
                </a:solidFill>
                <a:latin typeface="Times New Roman" panose="02020603050405020304" pitchFamily="18" charset="0"/>
                <a:cs typeface="Times New Roman" panose="02020603050405020304" pitchFamily="18" charset="0"/>
              </a:rPr>
              <a:t> is the sum of the BCWS values for all work tasks that have actually been completed by a point in time on the project schedule.</a:t>
            </a:r>
          </a:p>
          <a:p>
            <a:endParaRPr lang="en-IN" dirty="0"/>
          </a:p>
        </p:txBody>
      </p:sp>
      <p:pic>
        <p:nvPicPr>
          <p:cNvPr id="5" name="Picture 4">
            <a:extLst>
              <a:ext uri="{FF2B5EF4-FFF2-40B4-BE49-F238E27FC236}">
                <a16:creationId xmlns="" xmlns:a16="http://schemas.microsoft.com/office/drawing/2014/main" id="{8F5946AE-7C8E-1A01-9DF6-2A2F8EAD6BA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2743020" y="6041632"/>
            <a:ext cx="3505200" cy="314888"/>
          </a:xfrm>
          <a:prstGeom prst="rect">
            <a:avLst/>
          </a:prstGeom>
        </p:spPr>
      </p:pic>
    </p:spTree>
    <p:extLst>
      <p:ext uri="{BB962C8B-B14F-4D97-AF65-F5344CB8AC3E}">
        <p14:creationId xmlns:p14="http://schemas.microsoft.com/office/powerpoint/2010/main" val="3607013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62" y="114300"/>
            <a:ext cx="5486400" cy="644365"/>
          </a:xfrm>
        </p:spPr>
        <p:txBody>
          <a:bodyPr/>
          <a:lstStyle/>
          <a:p>
            <a:r>
              <a:rPr lang="en-US" b="1" dirty="0">
                <a:latin typeface="Times New Roman Bold" panose="02020503050405090304" charset="0"/>
                <a:cs typeface="Times New Roman Bold" panose="02020503050405090304" charset="0"/>
              </a:rPr>
              <a:t>Earned Value Computing </a:t>
            </a:r>
            <a:r>
              <a:rPr lang="en-US" b="1" dirty="0" smtClean="0">
                <a:latin typeface="Times New Roman Bold" panose="02020503050405090304" charset="0"/>
                <a:cs typeface="Times New Roman Bold" panose="02020503050405090304" charset="0"/>
              </a:rPr>
              <a:t>– Steps </a:t>
            </a:r>
            <a:r>
              <a:rPr lang="en-US" b="1" dirty="0">
                <a:latin typeface="Times New Roman Bold" panose="02020503050405090304" charset="0"/>
                <a:cs typeface="Times New Roman Bold" panose="02020503050405090304" charset="0"/>
              </a:rPr>
              <a:t>(Conti.)</a:t>
            </a:r>
            <a:endParaRPr lang="en-IN" dirty="0"/>
          </a:p>
        </p:txBody>
      </p:sp>
      <p:sp>
        <p:nvSpPr>
          <p:cNvPr id="3" name="Text Placeholder 2"/>
          <p:cNvSpPr>
            <a:spLocks noGrp="1"/>
          </p:cNvSpPr>
          <p:nvPr>
            <p:ph type="body" idx="1"/>
          </p:nvPr>
        </p:nvSpPr>
        <p:spPr>
          <a:xfrm>
            <a:off x="157162" y="914039"/>
            <a:ext cx="8643937" cy="5401035"/>
          </a:xfrm>
        </p:spPr>
        <p:txBody>
          <a:bodyPr>
            <a:noAutofit/>
          </a:bodyPr>
          <a:lstStyle/>
          <a:p>
            <a:pPr algn="just">
              <a:lnSpc>
                <a:spcPct val="150000"/>
              </a:lnSpc>
            </a:pPr>
            <a:endParaRPr lang="en-US" sz="1800" dirty="0" smtClean="0">
              <a:solidFill>
                <a:srgbClr val="242021"/>
              </a:solidFill>
              <a:latin typeface="Times New Roman" panose="02020603050405020304" pitchFamily="18" charset="0"/>
              <a:cs typeface="Times New Roman" panose="02020603050405020304" pitchFamily="18" charset="0"/>
            </a:endParaRPr>
          </a:p>
          <a:p>
            <a:pPr algn="just">
              <a:lnSpc>
                <a:spcPct val="150000"/>
              </a:lnSpc>
            </a:pPr>
            <a:endParaRPr lang="en-US" sz="1800" dirty="0" smtClean="0">
              <a:solidFill>
                <a:srgbClr val="242021"/>
              </a:solidFill>
              <a:latin typeface="Times New Roman" panose="02020603050405020304" pitchFamily="18" charset="0"/>
              <a:cs typeface="Times New Roman" panose="02020603050405020304" pitchFamily="18" charset="0"/>
            </a:endParaRPr>
          </a:p>
          <a:p>
            <a:pPr algn="just">
              <a:lnSpc>
                <a:spcPct val="150000"/>
              </a:lnSpc>
            </a:pPr>
            <a:r>
              <a:rPr lang="en-US" sz="1800" dirty="0" smtClean="0">
                <a:solidFill>
                  <a:srgbClr val="242021"/>
                </a:solidFill>
                <a:latin typeface="Times New Roman" panose="02020603050405020304" pitchFamily="18" charset="0"/>
                <a:cs typeface="Times New Roman" panose="02020603050405020304" pitchFamily="18" charset="0"/>
              </a:rPr>
              <a:t>SPI </a:t>
            </a:r>
            <a:r>
              <a:rPr lang="en-US" sz="1800" dirty="0">
                <a:solidFill>
                  <a:srgbClr val="242021"/>
                </a:solidFill>
                <a:latin typeface="Times New Roman" panose="02020603050405020304" pitchFamily="18" charset="0"/>
                <a:cs typeface="Times New Roman" panose="02020603050405020304" pitchFamily="18" charset="0"/>
              </a:rPr>
              <a:t>is an indication of the efficiency with which the project is utilizing scheduled resources. An SPI value close to 1.0 indicates efficient execution of the project schedule. </a:t>
            </a:r>
          </a:p>
          <a:p>
            <a:pPr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SV is simply an absolute indication of variance from the planned schedule</a:t>
            </a:r>
            <a:r>
              <a:rPr lang="en-US" sz="1800" dirty="0" smtClean="0">
                <a:solidFill>
                  <a:srgbClr val="242021"/>
                </a:solidFill>
                <a:latin typeface="Times New Roman" panose="02020603050405020304" pitchFamily="18" charset="0"/>
                <a:cs typeface="Times New Roman" panose="02020603050405020304" pitchFamily="18" charset="0"/>
              </a:rPr>
              <a:t>.</a:t>
            </a:r>
            <a:endParaRPr lang="en-US" sz="1800" dirty="0">
              <a:solidFill>
                <a:srgbClr val="242021"/>
              </a:solidFill>
              <a:latin typeface="Times New Roman" panose="02020603050405020304" pitchFamily="18" charset="0"/>
              <a:cs typeface="Times New Roman" panose="02020603050405020304" pitchFamily="18" charset="0"/>
            </a:endParaRPr>
          </a:p>
          <a:p>
            <a:pPr algn="just">
              <a:lnSpc>
                <a:spcPct val="150000"/>
              </a:lnSpc>
            </a:pPr>
            <a:r>
              <a:rPr lang="en-US" sz="1800" i="1" dirty="0">
                <a:solidFill>
                  <a:srgbClr val="242021"/>
                </a:solidFill>
                <a:latin typeface="Times New Roman" panose="02020603050405020304" pitchFamily="18" charset="0"/>
                <a:cs typeface="Times New Roman" panose="02020603050405020304" pitchFamily="18" charset="0"/>
              </a:rPr>
              <a:t>Percent scheduled for completion </a:t>
            </a:r>
            <a:r>
              <a:rPr lang="en-US" sz="1800" dirty="0">
                <a:solidFill>
                  <a:srgbClr val="242021"/>
                </a:solidFill>
                <a:latin typeface="Times New Roman" panose="02020603050405020304" pitchFamily="18" charset="0"/>
                <a:cs typeface="Times New Roman" panose="02020603050405020304" pitchFamily="18" charset="0"/>
              </a:rPr>
              <a:t>provides an indication of the percentage of work that should have been completed by time </a:t>
            </a:r>
            <a:r>
              <a:rPr lang="en-US" sz="1800" i="1" dirty="0">
                <a:solidFill>
                  <a:srgbClr val="242021"/>
                </a:solidFill>
                <a:latin typeface="Times New Roman" panose="02020603050405020304" pitchFamily="18" charset="0"/>
                <a:cs typeface="Times New Roman" panose="02020603050405020304" pitchFamily="18" charset="0"/>
              </a:rPr>
              <a:t>t</a:t>
            </a:r>
            <a:r>
              <a:rPr lang="en-US" sz="1800" i="1" dirty="0" smtClean="0">
                <a:solidFill>
                  <a:srgbClr val="242021"/>
                </a:solidFill>
                <a:latin typeface="Times New Roman" panose="02020603050405020304" pitchFamily="18" charset="0"/>
                <a:cs typeface="Times New Roman" panose="02020603050405020304" pitchFamily="18" charset="0"/>
              </a:rPr>
              <a:t>.</a:t>
            </a:r>
          </a:p>
          <a:p>
            <a:pPr algn="just">
              <a:lnSpc>
                <a:spcPct val="150000"/>
              </a:lnSpc>
            </a:pPr>
            <a:endParaRPr lang="en-US" sz="1800" dirty="0">
              <a:solidFill>
                <a:srgbClr val="242021"/>
              </a:solidFill>
              <a:latin typeface="Times New Roman" panose="02020603050405020304" pitchFamily="18" charset="0"/>
              <a:cs typeface="Times New Roman" panose="02020603050405020304" pitchFamily="18" charset="0"/>
            </a:endParaRPr>
          </a:p>
          <a:p>
            <a:pPr algn="just">
              <a:lnSpc>
                <a:spcPct val="150000"/>
              </a:lnSpc>
            </a:pPr>
            <a:r>
              <a:rPr lang="en-US" sz="1800" i="1" dirty="0">
                <a:solidFill>
                  <a:srgbClr val="242021"/>
                </a:solidFill>
                <a:latin typeface="Times New Roman" panose="02020603050405020304" pitchFamily="18" charset="0"/>
                <a:cs typeface="Times New Roman" panose="02020603050405020304" pitchFamily="18" charset="0"/>
              </a:rPr>
              <a:t>Percent complete </a:t>
            </a:r>
            <a:r>
              <a:rPr lang="en-US" sz="1800" dirty="0">
                <a:solidFill>
                  <a:srgbClr val="242021"/>
                </a:solidFill>
                <a:latin typeface="Times New Roman" panose="02020603050405020304" pitchFamily="18" charset="0"/>
                <a:cs typeface="Times New Roman" panose="02020603050405020304" pitchFamily="18" charset="0"/>
              </a:rPr>
              <a:t>provides a quantitative indication of the percent of completeness of the project at a given point in time </a:t>
            </a:r>
            <a:r>
              <a:rPr lang="en-US" sz="1800" i="1" dirty="0">
                <a:solidFill>
                  <a:srgbClr val="242021"/>
                </a:solidFill>
                <a:latin typeface="Times New Roman" panose="02020603050405020304" pitchFamily="18" charset="0"/>
                <a:cs typeface="Times New Roman" panose="02020603050405020304" pitchFamily="18" charset="0"/>
              </a:rPr>
              <a:t>t.</a:t>
            </a:r>
          </a:p>
          <a:p>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2F369376-757B-F13F-AA1C-DB931A97612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81237" y="922626"/>
            <a:ext cx="4271963" cy="906174"/>
          </a:xfrm>
          <a:prstGeom prst="rect">
            <a:avLst/>
          </a:prstGeom>
        </p:spPr>
      </p:pic>
      <p:pic>
        <p:nvPicPr>
          <p:cNvPr id="6" name="Picture 5">
            <a:extLst>
              <a:ext uri="{FF2B5EF4-FFF2-40B4-BE49-F238E27FC236}">
                <a16:creationId xmlns="" xmlns:a16="http://schemas.microsoft.com/office/drawing/2014/main" id="{41D413E0-4213-1A19-2A71-39BC38927F83}"/>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133600" y="4478770"/>
            <a:ext cx="4191000" cy="554365"/>
          </a:xfrm>
          <a:prstGeom prst="rect">
            <a:avLst/>
          </a:prstGeom>
        </p:spPr>
      </p:pic>
      <p:pic>
        <p:nvPicPr>
          <p:cNvPr id="7" name="Picture 6">
            <a:extLst>
              <a:ext uri="{FF2B5EF4-FFF2-40B4-BE49-F238E27FC236}">
                <a16:creationId xmlns="" xmlns:a16="http://schemas.microsoft.com/office/drawing/2014/main" id="{9547F265-722C-CB93-117A-033B6C49C82F}"/>
              </a:ext>
            </a:extLst>
          </p:cNvPr>
          <p:cNvPicPr>
            <a:picLocks noChangeAspect="1"/>
          </p:cNvPicPr>
          <p:nvPr/>
        </p:nvPicPr>
        <p:blipFill>
          <a:blip r:embed="rId6">
            <a:duotone>
              <a:schemeClr val="accent2">
                <a:shade val="45000"/>
                <a:satMod val="135000"/>
              </a:schemeClr>
              <a:prstClr val="white"/>
            </a:duotone>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3159917" y="6045402"/>
            <a:ext cx="2638425" cy="539346"/>
          </a:xfrm>
          <a:prstGeom prst="rect">
            <a:avLst/>
          </a:prstGeom>
        </p:spPr>
      </p:pic>
    </p:spTree>
    <p:extLst>
      <p:ext uri="{BB962C8B-B14F-4D97-AF65-F5344CB8AC3E}">
        <p14:creationId xmlns:p14="http://schemas.microsoft.com/office/powerpoint/2010/main" val="1127295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Bold" panose="02020503050405090304" charset="0"/>
                <a:cs typeface="Times New Roman Bold" panose="02020503050405090304" charset="0"/>
              </a:rPr>
              <a:t>Earned Value Computing – Steps (Conti.)</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22</a:t>
            </a:fld>
            <a:endParaRPr lang="en-US"/>
          </a:p>
        </p:txBody>
      </p:sp>
      <p:sp>
        <p:nvSpPr>
          <p:cNvPr id="7" name="Date Placeholder 3">
            <a:extLst>
              <a:ext uri="{FF2B5EF4-FFF2-40B4-BE49-F238E27FC236}">
                <a16:creationId xmlns="" xmlns:a16="http://schemas.microsoft.com/office/drawing/2014/main"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Content Placeholder 2">
            <a:extLst>
              <a:ext uri="{FF2B5EF4-FFF2-40B4-BE49-F238E27FC236}">
                <a16:creationId xmlns="" xmlns:a16="http://schemas.microsoft.com/office/drawing/2014/main" id="{9CD65C24-61BB-2F3E-29AA-8E064219DBAC}"/>
              </a:ext>
            </a:extLst>
          </p:cNvPr>
          <p:cNvSpPr>
            <a:spLocks noGrp="1"/>
          </p:cNvSpPr>
          <p:nvPr>
            <p:ph idx="1"/>
          </p:nvPr>
        </p:nvSpPr>
        <p:spPr>
          <a:xfrm>
            <a:off x="304800" y="887845"/>
            <a:ext cx="8534400" cy="5410200"/>
          </a:xfrm>
        </p:spPr>
        <p:txBody>
          <a:bodyPr/>
          <a:lstStyle/>
          <a:p>
            <a:pPr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It is also possible to compute the </a:t>
            </a:r>
            <a:r>
              <a:rPr lang="en-US" sz="1800" b="0" i="1" dirty="0">
                <a:solidFill>
                  <a:srgbClr val="242021"/>
                </a:solidFill>
                <a:effectLst/>
                <a:latin typeface="Times New Roman" panose="02020603050405020304" pitchFamily="18" charset="0"/>
                <a:cs typeface="Times New Roman" panose="02020603050405020304" pitchFamily="18" charset="0"/>
              </a:rPr>
              <a:t>actual cost of work performed </a:t>
            </a:r>
            <a:r>
              <a:rPr lang="en-US" sz="1800" b="0" i="0" dirty="0">
                <a:solidFill>
                  <a:srgbClr val="242021"/>
                </a:solidFill>
                <a:effectLst/>
                <a:latin typeface="Times New Roman" panose="02020603050405020304" pitchFamily="18" charset="0"/>
                <a:cs typeface="Times New Roman" panose="02020603050405020304" pitchFamily="18" charset="0"/>
              </a:rPr>
              <a:t>(ACWP). </a:t>
            </a:r>
          </a:p>
          <a:p>
            <a:pPr>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The value for ACWP is the sum of the effort actually expended on work tasks that have</a:t>
            </a:r>
            <a:r>
              <a:rPr lang="en-US" sz="1800" dirty="0">
                <a:latin typeface="Times New Roman" panose="02020603050405020304" pitchFamily="18" charset="0"/>
                <a:cs typeface="Times New Roman" panose="02020603050405020304" pitchFamily="18" charset="0"/>
              </a:rPr>
              <a:t> </a:t>
            </a:r>
            <a:r>
              <a:rPr lang="en-US" sz="1800" b="0" i="0" dirty="0">
                <a:solidFill>
                  <a:srgbClr val="242021"/>
                </a:solidFill>
                <a:effectLst/>
                <a:latin typeface="Times New Roman" panose="02020603050405020304" pitchFamily="18" charset="0"/>
                <a:cs typeface="Times New Roman" panose="02020603050405020304" pitchFamily="18" charset="0"/>
              </a:rPr>
              <a:t>been completed by a point in time on the project schedule. </a:t>
            </a:r>
          </a:p>
          <a:p>
            <a:pPr marL="0" indent="0" algn="just">
              <a:lnSpc>
                <a:spcPct val="150000"/>
              </a:lnSpc>
              <a:buNone/>
            </a:pPr>
            <a:r>
              <a:rPr lang="en-US" sz="1800" dirty="0"/>
              <a:t/>
            </a:r>
            <a:br>
              <a:rPr lang="en-US" sz="1800" dirty="0"/>
            </a:br>
            <a:endParaRPr lang="en-US" sz="1800" dirty="0">
              <a:solidFill>
                <a:srgbClr val="242021"/>
              </a:solidFill>
            </a:endParaRPr>
          </a:p>
          <a:p>
            <a:pPr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A CPI value close to 1.0 provides a strong indication that the project is within its defined budget. </a:t>
            </a:r>
          </a:p>
          <a:p>
            <a:pPr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CV is an absolute indication of cost savings (against planned costs) or shortfall at a particular stage of a project.</a:t>
            </a:r>
            <a:r>
              <a:rPr lang="en-US" sz="1800" dirty="0">
                <a:latin typeface="Times New Roman" panose="02020603050405020304" pitchFamily="18" charset="0"/>
                <a:cs typeface="Times New Roman" panose="02020603050405020304" pitchFamily="18" charset="0"/>
              </a:rPr>
              <a:t> </a:t>
            </a:r>
            <a:endParaRPr lang="en-US" sz="1800" dirty="0">
              <a:solidFill>
                <a:srgbClr val="30303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0239D6F1-F545-4E31-DCEC-7EBAD239EAC7}"/>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460171" y="2474411"/>
            <a:ext cx="3949227" cy="954589"/>
          </a:xfrm>
          <a:prstGeom prst="rect">
            <a:avLst/>
          </a:prstGeom>
        </p:spPr>
      </p:pic>
    </p:spTree>
    <p:extLst>
      <p:ext uri="{BB962C8B-B14F-4D97-AF65-F5344CB8AC3E}">
        <p14:creationId xmlns:p14="http://schemas.microsoft.com/office/powerpoint/2010/main" val="1072085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DDC6A74-6C13-2D2F-C608-B1486FFA7C1B}"/>
              </a:ext>
            </a:extLst>
          </p:cNvPr>
          <p:cNvSpPr txBox="1"/>
          <p:nvPr/>
        </p:nvSpPr>
        <p:spPr>
          <a:xfrm>
            <a:off x="147145" y="145656"/>
            <a:ext cx="6547944" cy="646331"/>
          </a:xfrm>
          <a:prstGeom prst="rect">
            <a:avLst/>
          </a:prstGeom>
          <a:noFill/>
        </p:spPr>
        <p:txBody>
          <a:bodyPr wrap="square">
            <a:spAutoFit/>
          </a:bodyPr>
          <a:lstStyle/>
          <a:p>
            <a:r>
              <a:rPr lang="en-IN" sz="3600" b="1" i="0" dirty="0">
                <a:solidFill>
                  <a:schemeClr val="tx1"/>
                </a:solidFill>
                <a:effectLst/>
                <a:latin typeface="Times" panose="02020603050405020304" pitchFamily="18" charset="0"/>
                <a:cs typeface="Times" panose="02020603050405020304" pitchFamily="18" charset="0"/>
              </a:rPr>
              <a:t>Practice Questions</a:t>
            </a:r>
            <a:endParaRPr lang="en-IN" sz="3600" dirty="0">
              <a:solidFill>
                <a:schemeClr val="tx1"/>
              </a:solidFill>
              <a:latin typeface="Times" panose="02020603050405020304" pitchFamily="18" charset="0"/>
              <a:cs typeface="Times" panose="02020603050405020304" pitchFamily="18" charset="0"/>
            </a:endParaRPr>
          </a:p>
        </p:txBody>
      </p:sp>
      <p:sp>
        <p:nvSpPr>
          <p:cNvPr id="4" name="TextBox 3">
            <a:extLst>
              <a:ext uri="{FF2B5EF4-FFF2-40B4-BE49-F238E27FC236}">
                <a16:creationId xmlns="" xmlns:a16="http://schemas.microsoft.com/office/drawing/2014/main" id="{BB83B3E5-FBEE-1670-0A62-2CE34F0DCB96}"/>
              </a:ext>
            </a:extLst>
          </p:cNvPr>
          <p:cNvSpPr txBox="1"/>
          <p:nvPr/>
        </p:nvSpPr>
        <p:spPr>
          <a:xfrm>
            <a:off x="819807" y="1638126"/>
            <a:ext cx="7556938" cy="830997"/>
          </a:xfrm>
          <a:prstGeom prst="rect">
            <a:avLst/>
          </a:prstGeom>
          <a:noFill/>
        </p:spPr>
        <p:txBody>
          <a:bodyPr wrap="square">
            <a:spAutoFit/>
          </a:bodyPr>
          <a:lstStyle/>
          <a:p>
            <a:pPr marL="285750" indent="-285750"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a:p>
            <a:pPr marL="285750" indent="-285750" algn="l"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p:txBody>
      </p:sp>
      <p:sp>
        <p:nvSpPr>
          <p:cNvPr id="5" name="TextBox 4">
            <a:extLst>
              <a:ext uri="{FF2B5EF4-FFF2-40B4-BE49-F238E27FC236}">
                <a16:creationId xmlns="" xmlns:a16="http://schemas.microsoft.com/office/drawing/2014/main" id="{D17DB621-8054-2B03-871C-B75EC6C3E7C2}"/>
              </a:ext>
            </a:extLst>
          </p:cNvPr>
          <p:cNvSpPr txBox="1"/>
          <p:nvPr/>
        </p:nvSpPr>
        <p:spPr>
          <a:xfrm>
            <a:off x="649217" y="935015"/>
            <a:ext cx="7898117" cy="6555641"/>
          </a:xfrm>
          <a:prstGeom prst="rect">
            <a:avLst/>
          </a:prstGeom>
          <a:noFill/>
        </p:spPr>
        <p:txBody>
          <a:bodyPr wrap="square">
            <a:spAutoFit/>
          </a:bodyPr>
          <a:lstStyle/>
          <a:p>
            <a:pPr algn="l"/>
            <a:r>
              <a:rPr lang="en-US" sz="1800" b="0" i="0" dirty="0">
                <a:solidFill>
                  <a:schemeClr val="tx1"/>
                </a:solidFill>
                <a:effectLst/>
                <a:latin typeface="Times" panose="02020603050405020304" pitchFamily="18" charset="0"/>
                <a:cs typeface="Times" panose="02020603050405020304" pitchFamily="18" charset="0"/>
              </a:rPr>
              <a:t>Q1 - In which sort of project is the use of a Gantt chart most appropriate?</a:t>
            </a:r>
          </a:p>
          <a:p>
            <a:pPr marL="285750" indent="-285750" algn="l">
              <a:buFont typeface="Arial" panose="020B0604020202020204" pitchFamily="34" charset="0"/>
              <a:buChar char="•"/>
            </a:pPr>
            <a:r>
              <a:rPr lang="en-US" sz="1800" b="1" i="0" dirty="0">
                <a:solidFill>
                  <a:schemeClr val="tx1"/>
                </a:solidFill>
                <a:effectLst/>
                <a:latin typeface="Times" panose="02020603050405020304" pitchFamily="18" charset="0"/>
                <a:cs typeface="Times" panose="02020603050405020304" pitchFamily="18" charset="0"/>
              </a:rPr>
              <a:t>Projects with few activities and resources involved.</a:t>
            </a:r>
            <a:endParaRPr lang="en-US" sz="1800" b="1" dirty="0">
              <a:solidFill>
                <a:schemeClr val="tx1"/>
              </a:solidFill>
              <a:latin typeface="Times" panose="02020603050405020304" pitchFamily="18" charset="0"/>
              <a:cs typeface="Times" panose="02020603050405020304" pitchFamily="18" charset="0"/>
            </a:endParaRPr>
          </a:p>
          <a:p>
            <a:pPr marL="285750" indent="-285750" algn="l">
              <a:buFont typeface="Arial" panose="020B0604020202020204" pitchFamily="34" charset="0"/>
              <a:buChar char="•"/>
            </a:pPr>
            <a:r>
              <a:rPr lang="en-US" sz="1800" b="0" i="0" dirty="0">
                <a:solidFill>
                  <a:schemeClr val="tx1"/>
                </a:solidFill>
                <a:effectLst/>
                <a:latin typeface="Times" panose="02020603050405020304" pitchFamily="18" charset="0"/>
                <a:cs typeface="Times" panose="02020603050405020304" pitchFamily="18" charset="0"/>
              </a:rPr>
              <a:t>Projects where the time periods involved are very short.</a:t>
            </a:r>
          </a:p>
          <a:p>
            <a:pPr marL="285750" indent="-285750" algn="l">
              <a:buFont typeface="Arial" panose="020B0604020202020204" pitchFamily="34" charset="0"/>
              <a:buChar char="•"/>
            </a:pPr>
            <a:r>
              <a:rPr lang="en-US" sz="1800" b="0" i="0" dirty="0">
                <a:solidFill>
                  <a:schemeClr val="tx1"/>
                </a:solidFill>
                <a:effectLst/>
                <a:latin typeface="Times" panose="02020603050405020304" pitchFamily="18" charset="0"/>
                <a:cs typeface="Times" panose="02020603050405020304" pitchFamily="18" charset="0"/>
              </a:rPr>
              <a:t> Projects with many activities involved. </a:t>
            </a:r>
          </a:p>
          <a:p>
            <a:pPr marL="285750" indent="-285750" algn="l">
              <a:buFont typeface="Arial" panose="020B0604020202020204" pitchFamily="34" charset="0"/>
              <a:buChar char="•"/>
            </a:pPr>
            <a:r>
              <a:rPr lang="en-US" sz="1800" b="0" i="0" dirty="0">
                <a:solidFill>
                  <a:schemeClr val="tx1"/>
                </a:solidFill>
                <a:effectLst/>
                <a:latin typeface="Times" panose="02020603050405020304" pitchFamily="18" charset="0"/>
                <a:cs typeface="Times" panose="02020603050405020304" pitchFamily="18" charset="0"/>
              </a:rPr>
              <a:t>Projects in which the use of resources must be carefully monitored</a:t>
            </a:r>
            <a:r>
              <a:rPr lang="en-US" sz="1800" b="0" i="0" dirty="0" smtClean="0">
                <a:solidFill>
                  <a:schemeClr val="tx1"/>
                </a:solidFill>
                <a:effectLst/>
                <a:latin typeface="Times" panose="02020603050405020304" pitchFamily="18" charset="0"/>
                <a:cs typeface="Times" panose="02020603050405020304" pitchFamily="18" charset="0"/>
              </a:rPr>
              <a:t>.</a:t>
            </a:r>
            <a:endParaRPr lang="en-US" sz="1800" dirty="0">
              <a:solidFill>
                <a:schemeClr val="tx1"/>
              </a:solidFill>
              <a:latin typeface="Times" panose="02020603050405020304" pitchFamily="18" charset="0"/>
              <a:cs typeface="Times" panose="02020603050405020304" pitchFamily="18" charset="0"/>
            </a:endParaRPr>
          </a:p>
          <a:p>
            <a:pPr algn="l"/>
            <a:r>
              <a:rPr lang="en-US" sz="1800" i="0" dirty="0">
                <a:solidFill>
                  <a:schemeClr val="tx1"/>
                </a:solidFill>
                <a:effectLst/>
                <a:latin typeface="Times" panose="02020603050405020304" pitchFamily="18" charset="0"/>
                <a:cs typeface="Times" panose="02020603050405020304" pitchFamily="18" charset="0"/>
              </a:rPr>
              <a:t>Q2- You are the Project Manager on a construction project. You have worked with your team to define the dependencies and estimated their durations and resource requirements. Now you are creating the project schedule. Which of the following tools and techniques is of no use at this time?</a:t>
            </a:r>
          </a:p>
          <a:p>
            <a:pPr marL="285750" indent="-285750" algn="l">
              <a:buFont typeface="Arial" panose="020B0604020202020204" pitchFamily="34" charset="0"/>
              <a:buChar char="•"/>
            </a:pPr>
            <a:r>
              <a:rPr lang="en-US" sz="1800" b="0" i="0" dirty="0">
                <a:solidFill>
                  <a:schemeClr val="tx1"/>
                </a:solidFill>
                <a:effectLst/>
                <a:latin typeface="Times" panose="02020603050405020304" pitchFamily="18" charset="0"/>
                <a:cs typeface="Times" panose="02020603050405020304" pitchFamily="18" charset="0"/>
              </a:rPr>
              <a:t>Resource leveling</a:t>
            </a:r>
          </a:p>
          <a:p>
            <a:pPr marL="285750" indent="-285750" algn="l">
              <a:buFont typeface="Arial" panose="020B0604020202020204" pitchFamily="34" charset="0"/>
              <a:buChar char="•"/>
            </a:pPr>
            <a:r>
              <a:rPr lang="en-US" sz="1800" b="0" i="0" dirty="0">
                <a:solidFill>
                  <a:schemeClr val="tx1"/>
                </a:solidFill>
                <a:effectLst/>
                <a:latin typeface="Times" panose="02020603050405020304" pitchFamily="18" charset="0"/>
                <a:cs typeface="Times" panose="02020603050405020304" pitchFamily="18" charset="0"/>
              </a:rPr>
              <a:t>Schedule Compression</a:t>
            </a:r>
          </a:p>
          <a:p>
            <a:pPr marL="285750" indent="-285750" algn="l">
              <a:buFont typeface="Arial" panose="020B0604020202020204" pitchFamily="34" charset="0"/>
              <a:buChar char="•"/>
            </a:pPr>
            <a:r>
              <a:rPr lang="en-US" sz="1800" b="0" i="0" dirty="0">
                <a:solidFill>
                  <a:schemeClr val="tx1"/>
                </a:solidFill>
                <a:effectLst/>
                <a:latin typeface="Times" panose="02020603050405020304" pitchFamily="18" charset="0"/>
                <a:cs typeface="Times" panose="02020603050405020304" pitchFamily="18" charset="0"/>
              </a:rPr>
              <a:t>Critical Chain Method</a:t>
            </a:r>
          </a:p>
          <a:p>
            <a:pPr marL="285750" indent="-285750" algn="l">
              <a:buFont typeface="Arial" panose="020B0604020202020204" pitchFamily="34" charset="0"/>
              <a:buChar char="•"/>
            </a:pPr>
            <a:r>
              <a:rPr lang="en-US" sz="1800" b="1" i="0" dirty="0">
                <a:solidFill>
                  <a:schemeClr val="tx1"/>
                </a:solidFill>
                <a:effectLst/>
                <a:latin typeface="Times" panose="02020603050405020304" pitchFamily="18" charset="0"/>
                <a:cs typeface="Times" panose="02020603050405020304" pitchFamily="18" charset="0"/>
              </a:rPr>
              <a:t>Reserve </a:t>
            </a:r>
            <a:r>
              <a:rPr lang="en-US" sz="1800" b="1" i="0" dirty="0" smtClean="0">
                <a:solidFill>
                  <a:schemeClr val="tx1"/>
                </a:solidFill>
                <a:effectLst/>
                <a:latin typeface="Times" panose="02020603050405020304" pitchFamily="18" charset="0"/>
                <a:cs typeface="Times" panose="02020603050405020304" pitchFamily="18" charset="0"/>
              </a:rPr>
              <a:t>Analysis</a:t>
            </a:r>
            <a:endParaRPr lang="en-US" sz="1800" b="1" i="0" dirty="0">
              <a:solidFill>
                <a:schemeClr val="tx1"/>
              </a:solidFill>
              <a:effectLst/>
              <a:latin typeface="Times" panose="02020603050405020304" pitchFamily="18" charset="0"/>
              <a:cs typeface="Times" panose="02020603050405020304" pitchFamily="18" charset="0"/>
            </a:endParaRPr>
          </a:p>
          <a:p>
            <a:pPr algn="l"/>
            <a:r>
              <a:rPr lang="en-US" sz="1800" b="1" dirty="0">
                <a:solidFill>
                  <a:schemeClr val="tx1"/>
                </a:solidFill>
                <a:latin typeface="Times" panose="02020603050405020304" pitchFamily="18" charset="0"/>
                <a:cs typeface="Times" panose="02020603050405020304" pitchFamily="18" charset="0"/>
              </a:rPr>
              <a:t>Q3- </a:t>
            </a:r>
            <a:r>
              <a:rPr lang="en-US" sz="1800" dirty="0">
                <a:solidFill>
                  <a:schemeClr val="tx1"/>
                </a:solidFill>
                <a:latin typeface="Times" panose="02020603050405020304" pitchFamily="18" charset="0"/>
                <a:cs typeface="Times" panose="02020603050405020304" pitchFamily="18" charset="0"/>
              </a:rPr>
              <a:t>The customer is looking for the project to be complete 10 days earlier than planned due to marketing constraints. You work with your project team and figure out that this can be achieved if a couple of activities can overlap. This approach is known as?</a:t>
            </a:r>
          </a:p>
          <a:p>
            <a:pPr marL="285750" indent="-285750" algn="l">
              <a:buFont typeface="Arial" panose="020B0604020202020204" pitchFamily="34" charset="0"/>
              <a:buChar char="•"/>
            </a:pPr>
            <a:r>
              <a:rPr lang="en-US" sz="1800" dirty="0">
                <a:solidFill>
                  <a:schemeClr val="tx1"/>
                </a:solidFill>
                <a:latin typeface="Times" panose="02020603050405020304" pitchFamily="18" charset="0"/>
                <a:cs typeface="Times" panose="02020603050405020304" pitchFamily="18" charset="0"/>
              </a:rPr>
              <a:t>Crashing</a:t>
            </a:r>
          </a:p>
          <a:p>
            <a:pPr marL="285750" indent="-285750" algn="l">
              <a:buFont typeface="Arial" panose="020B0604020202020204" pitchFamily="34" charset="0"/>
              <a:buChar char="•"/>
            </a:pPr>
            <a:r>
              <a:rPr lang="en-US" sz="1800" dirty="0">
                <a:solidFill>
                  <a:schemeClr val="tx1"/>
                </a:solidFill>
                <a:latin typeface="Times" panose="02020603050405020304" pitchFamily="18" charset="0"/>
                <a:cs typeface="Times" panose="02020603050405020304" pitchFamily="18" charset="0"/>
              </a:rPr>
              <a:t>Resource Leveling</a:t>
            </a:r>
          </a:p>
          <a:p>
            <a:pPr marL="285750" indent="-285750" algn="l">
              <a:buFont typeface="Arial" panose="020B0604020202020204" pitchFamily="34" charset="0"/>
              <a:buChar char="•"/>
            </a:pPr>
            <a:r>
              <a:rPr lang="en-US" sz="1800" dirty="0">
                <a:solidFill>
                  <a:schemeClr val="tx1"/>
                </a:solidFill>
                <a:latin typeface="Times" panose="02020603050405020304" pitchFamily="18" charset="0"/>
                <a:cs typeface="Times" panose="02020603050405020304" pitchFamily="18" charset="0"/>
              </a:rPr>
              <a:t>Concurrent Engineering</a:t>
            </a:r>
          </a:p>
          <a:p>
            <a:pPr marL="285750" indent="-285750" algn="l">
              <a:buFont typeface="Arial" panose="020B0604020202020204" pitchFamily="34" charset="0"/>
              <a:buChar char="•"/>
            </a:pPr>
            <a:r>
              <a:rPr lang="en-US" sz="1800" dirty="0">
                <a:solidFill>
                  <a:schemeClr val="tx1"/>
                </a:solidFill>
                <a:latin typeface="Times" panose="02020603050405020304" pitchFamily="18" charset="0"/>
                <a:cs typeface="Times" panose="02020603050405020304" pitchFamily="18" charset="0"/>
              </a:rPr>
              <a:t> </a:t>
            </a:r>
            <a:r>
              <a:rPr lang="en-US" sz="1800" b="1" dirty="0">
                <a:solidFill>
                  <a:schemeClr val="tx1"/>
                </a:solidFill>
                <a:latin typeface="Times" panose="02020603050405020304" pitchFamily="18" charset="0"/>
                <a:cs typeface="Times" panose="02020603050405020304" pitchFamily="18" charset="0"/>
              </a:rPr>
              <a:t>Fast Tracking</a:t>
            </a:r>
          </a:p>
          <a:p>
            <a:pPr algn="l"/>
            <a:endParaRPr lang="en-US" i="0" dirty="0">
              <a:solidFill>
                <a:schemeClr val="tx1"/>
              </a:solidFill>
              <a:effectLst/>
              <a:latin typeface="Times" panose="02020603050405020304" pitchFamily="18" charset="0"/>
              <a:cs typeface="Times" panose="02020603050405020304" pitchFamily="18" charset="0"/>
            </a:endParaRPr>
          </a:p>
          <a:p>
            <a:pPr algn="l"/>
            <a:endParaRPr lang="en-US" b="0" dirty="0">
              <a:solidFill>
                <a:schemeClr val="tx1"/>
              </a:solidFill>
              <a:latin typeface="Times" panose="02020603050405020304" pitchFamily="18" charset="0"/>
              <a:cs typeface="Times" panose="02020603050405020304" pitchFamily="18" charset="0"/>
            </a:endParaRPr>
          </a:p>
          <a:p>
            <a:pPr algn="l"/>
            <a:endParaRPr lang="en-US" b="0" i="0" dirty="0">
              <a:solidFill>
                <a:schemeClr val="tx1"/>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437800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074" y="914281"/>
            <a:ext cx="7972425" cy="6401753"/>
          </a:xfrm>
          <a:prstGeom prst="rect">
            <a:avLst/>
          </a:prstGeom>
        </p:spPr>
        <p:txBody>
          <a:bodyPr wrap="square">
            <a:spAutoFit/>
          </a:bodyPr>
          <a:lstStyle/>
          <a:p>
            <a:pPr marL="342900" indent="-342900">
              <a:buFont typeface="+mj-lt"/>
              <a:buAutoNum type="arabicPeriod"/>
            </a:pPr>
            <a:r>
              <a:rPr lang="en-US" sz="1800" b="1" dirty="0" smtClean="0">
                <a:latin typeface="Times New Roman" panose="02020603050405020304" pitchFamily="18" charset="0"/>
                <a:cs typeface="Times New Roman" panose="02020603050405020304" pitchFamily="18" charset="0"/>
              </a:rPr>
              <a:t>Which </a:t>
            </a:r>
            <a:r>
              <a:rPr lang="en-US" sz="1800" b="1" dirty="0">
                <a:latin typeface="Times New Roman" panose="02020603050405020304" pitchFamily="18" charset="0"/>
                <a:cs typeface="Times New Roman" panose="02020603050405020304" pitchFamily="18" charset="0"/>
              </a:rPr>
              <a:t>of the following is NOT a project scheduling technique?</a:t>
            </a:r>
          </a:p>
          <a:p>
            <a:r>
              <a:rPr lang="en-US" sz="1800" dirty="0" smtClean="0">
                <a:latin typeface="Times New Roman" panose="02020603050405020304" pitchFamily="18" charset="0"/>
                <a:cs typeface="Times New Roman" panose="02020603050405020304" pitchFamily="18" charset="0"/>
              </a:rPr>
              <a:t>A) Critical </a:t>
            </a:r>
            <a:r>
              <a:rPr lang="en-US" sz="1800" dirty="0">
                <a:latin typeface="Times New Roman" panose="02020603050405020304" pitchFamily="18" charset="0"/>
                <a:cs typeface="Times New Roman" panose="02020603050405020304" pitchFamily="18" charset="0"/>
              </a:rPr>
              <a:t>Path Method (CPM)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 Program Evaluation and Review Technique (PERT)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Gantt Chart</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D) Balance Sheet </a:t>
            </a:r>
            <a:r>
              <a:rPr lang="en-US" sz="1800" b="1" dirty="0" smtClean="0">
                <a:latin typeface="Times New Roman" panose="02020603050405020304" pitchFamily="18" charset="0"/>
                <a:cs typeface="Times New Roman" panose="02020603050405020304" pitchFamily="18" charset="0"/>
              </a:rPr>
              <a:t>Analysis</a:t>
            </a:r>
          </a:p>
          <a:p>
            <a:pPr marL="342900" indent="-342900">
              <a:buFont typeface="+mj-lt"/>
              <a:buAutoNum type="arabicPeriod" startAt="2"/>
            </a:pPr>
            <a:r>
              <a:rPr lang="en-US" sz="1800" b="1" dirty="0">
                <a:latin typeface="Times New Roman" panose="02020603050405020304" pitchFamily="18" charset="0"/>
                <a:cs typeface="Times New Roman" panose="02020603050405020304" pitchFamily="18" charset="0"/>
              </a:rPr>
              <a:t>The technique that uses a probabilistic approach to project scheduling is:</a:t>
            </a:r>
          </a:p>
          <a:p>
            <a:r>
              <a:rPr lang="en-US" sz="1800" dirty="0" smtClean="0">
                <a:latin typeface="Times New Roman" panose="02020603050405020304" pitchFamily="18" charset="0"/>
                <a:cs typeface="Times New Roman" panose="02020603050405020304" pitchFamily="18" charset="0"/>
              </a:rPr>
              <a:t>A)Critical </a:t>
            </a:r>
            <a:r>
              <a:rPr lang="en-US" sz="1800" dirty="0">
                <a:latin typeface="Times New Roman" panose="02020603050405020304" pitchFamily="18" charset="0"/>
                <a:cs typeface="Times New Roman" panose="02020603050405020304" pitchFamily="18" charset="0"/>
              </a:rPr>
              <a:t>Path Method (CPM)</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B) Program Evaluation and Review Technique (PERT)</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Gantt Chart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 Resource </a:t>
            </a:r>
            <a:r>
              <a:rPr lang="en-US" sz="1800" dirty="0" smtClean="0">
                <a:latin typeface="Times New Roman" panose="02020603050405020304" pitchFamily="18" charset="0"/>
                <a:cs typeface="Times New Roman" panose="02020603050405020304" pitchFamily="18" charset="0"/>
              </a:rPr>
              <a:t>Leveling</a:t>
            </a:r>
          </a:p>
          <a:p>
            <a:pPr marL="342900" indent="-342900">
              <a:buFont typeface="+mj-lt"/>
              <a:buAutoNum type="arabicPeriod" startAt="3"/>
            </a:pPr>
            <a:r>
              <a:rPr lang="en-US" sz="1800" b="1" dirty="0">
                <a:latin typeface="Times New Roman" panose="02020603050405020304" pitchFamily="18" charset="0"/>
                <a:cs typeface="Times New Roman" panose="02020603050405020304" pitchFamily="18" charset="0"/>
              </a:rPr>
              <a:t>The Critical Path in a project schedule is the path that:</a:t>
            </a:r>
          </a:p>
          <a:p>
            <a:r>
              <a:rPr lang="en-US" sz="1800" b="1" dirty="0">
                <a:latin typeface="Times New Roman" panose="02020603050405020304" pitchFamily="18" charset="0"/>
                <a:cs typeface="Times New Roman" panose="02020603050405020304" pitchFamily="18" charset="0"/>
              </a:rPr>
              <a:t>A) Has the longest duration and determines the shortest time to complete the project</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 Has the most expensive activities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Includes only the important tasks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 Can be delayed without affecting the project timeline</a:t>
            </a:r>
          </a:p>
          <a:p>
            <a:pPr marL="342900" indent="-342900">
              <a:buFont typeface="+mj-lt"/>
              <a:buAutoNum type="arabicPeriod" startAt="4"/>
            </a:pPr>
            <a:r>
              <a:rPr lang="en-US" sz="1800" b="1" dirty="0">
                <a:latin typeface="Times New Roman" panose="02020603050405020304" pitchFamily="18" charset="0"/>
                <a:cs typeface="Times New Roman" panose="02020603050405020304" pitchFamily="18" charset="0"/>
              </a:rPr>
              <a:t>In a Gantt chart, what does a bar represent?</a:t>
            </a:r>
          </a:p>
          <a:p>
            <a:r>
              <a:rPr lang="en-US" sz="1800" dirty="0">
                <a:latin typeface="Times New Roman" panose="02020603050405020304" pitchFamily="18" charset="0"/>
                <a:cs typeface="Times New Roman" panose="02020603050405020304" pitchFamily="18" charset="0"/>
              </a:rPr>
              <a:t>A) The cost of a task</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B) The start and finish of a task</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The number of workers assigned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 The budget of a project</a:t>
            </a:r>
          </a:p>
          <a:p>
            <a:endParaRPr lang="en-US" sz="1600" dirty="0"/>
          </a:p>
          <a:p>
            <a:endParaRPr lang="en-US" sz="1600" b="1" dirty="0" smtClean="0"/>
          </a:p>
        </p:txBody>
      </p:sp>
      <p:sp>
        <p:nvSpPr>
          <p:cNvPr id="5" name="Rectangle 4"/>
          <p:cNvSpPr/>
          <p:nvPr/>
        </p:nvSpPr>
        <p:spPr>
          <a:xfrm>
            <a:off x="220626" y="0"/>
            <a:ext cx="1402948" cy="646331"/>
          </a:xfrm>
          <a:prstGeom prst="rect">
            <a:avLst/>
          </a:prstGeom>
        </p:spPr>
        <p:txBody>
          <a:bodyPr wrap="none">
            <a:spAutoFit/>
          </a:bodyPr>
          <a:lstStyle/>
          <a:p>
            <a:r>
              <a:rPr lang="en-US" sz="3600" b="1" dirty="0" smtClean="0">
                <a:solidFill>
                  <a:schemeClr val="tx1"/>
                </a:solidFill>
                <a:latin typeface="Times" panose="02020603050405020304" pitchFamily="18" charset="0"/>
                <a:cs typeface="Times" panose="02020603050405020304" pitchFamily="18" charset="0"/>
              </a:rPr>
              <a:t>Conti.</a:t>
            </a:r>
            <a:endParaRPr lang="en-IN" sz="3600" dirty="0">
              <a:solidFill>
                <a:schemeClr val="tx1"/>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781332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sp>
        <p:nvSpPr>
          <p:cNvPr id="503" name="Google Shape;503;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id="504" name="Google Shape;504;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TotalTime>
  <Words>2034</Words>
  <Application>Microsoft Office PowerPoint</Application>
  <PresentationFormat>On-screen Show (4:3)</PresentationFormat>
  <Paragraphs>222</Paragraphs>
  <Slides>25</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Calibri</vt:lpstr>
      <vt:lpstr>Times New Roman</vt:lpstr>
      <vt:lpstr>Times New Roman Bold</vt:lpstr>
      <vt:lpstr>Arial</vt:lpstr>
      <vt:lpstr>Arial Unicode MS</vt:lpstr>
      <vt:lpstr>Times</vt:lpstr>
      <vt:lpstr>MS PGothic</vt:lpstr>
      <vt:lpstr>Office Theme</vt:lpstr>
      <vt:lpstr>PowerPoint Presentation</vt:lpstr>
      <vt:lpstr>PowerPoint Presentation</vt:lpstr>
      <vt:lpstr>Introduction to Project Scheduling</vt:lpstr>
      <vt:lpstr>Project Scheduling</vt:lpstr>
      <vt:lpstr>The role of project scheduling in software engineering </vt:lpstr>
      <vt:lpstr>Needs of Project Scheduling</vt:lpstr>
      <vt:lpstr>Project Scheduling Basic Principles</vt:lpstr>
      <vt:lpstr>Project Scheduling Basic Principles (Conti.)</vt:lpstr>
      <vt:lpstr>Project Scheduling Techniques</vt:lpstr>
      <vt:lpstr>Project Scheduling Techniques (Conti.)</vt:lpstr>
      <vt:lpstr>Project Scheduling Techniques (Conti.)</vt:lpstr>
      <vt:lpstr>Project Scheduling Techniques (Conti.)</vt:lpstr>
      <vt:lpstr>Project Scheduling Techniques (Conti.)</vt:lpstr>
      <vt:lpstr>Project Scheduling Techniques (Conti.)</vt:lpstr>
      <vt:lpstr>Project Scheduling Techniques (Conti.)</vt:lpstr>
      <vt:lpstr>Project Scheduling Techniques (Conti.)</vt:lpstr>
      <vt:lpstr>Top 10 Project Scheduling Tools </vt:lpstr>
      <vt:lpstr>Earned Value Analysis</vt:lpstr>
      <vt:lpstr>Earned Value Analysis (Conti.)</vt:lpstr>
      <vt:lpstr>Earned Value Computing – Steps (Conti.)</vt:lpstr>
      <vt:lpstr>Earned Value Computing – Steps (Conti.)</vt:lpstr>
      <vt:lpstr>Earned Value Computing – Steps (Conti.)</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Sakura</cp:lastModifiedBy>
  <cp:revision>108</cp:revision>
  <dcterms:created xsi:type="dcterms:W3CDTF">2010-04-09T07:36:15Z</dcterms:created>
  <dcterms:modified xsi:type="dcterms:W3CDTF">2025-03-18T04:13:49Z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
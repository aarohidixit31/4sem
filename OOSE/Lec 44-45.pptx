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hHU0zzaYIQX4qxDp1HjbqJZKXl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546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2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cd78549e8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cd78549e88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g2cd78549e88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cd78549e8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cd78549e8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g2cd78549e88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cd78549e88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cd78549e88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g2cd78549e88_0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57" name="Google Shape;15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15" descr="LOGO.gif"/>
          <p:cNvPicPr preferRelativeResize="0"/>
          <p:nvPr/>
        </p:nvPicPr>
        <p:blipFill rotWithShape="1">
          <a:blip r:embed="rId2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15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7" name="Google Shape;27;p15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28;p15" descr="LOGO.gif"/>
            <p:cNvPicPr preferRelativeResize="0"/>
            <p:nvPr/>
          </p:nvPicPr>
          <p:blipFill rotWithShape="1">
            <a:blip r:embed="rId2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15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0" name="Google Shape;30;p15" descr="log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dt" idx="10"/>
          </p:nvPr>
        </p:nvSpPr>
        <p:spPr>
          <a:xfrm>
            <a:off x="152400" y="6629400"/>
            <a:ext cx="2286000" cy="17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ftr" idx="11"/>
          </p:nvPr>
        </p:nvSpPr>
        <p:spPr>
          <a:xfrm>
            <a:off x="3124200" y="6629400"/>
            <a:ext cx="2895600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sldNum" idx="12"/>
          </p:nvPr>
        </p:nvSpPr>
        <p:spPr>
          <a:xfrm>
            <a:off x="6553200" y="6583684"/>
            <a:ext cx="2133600" cy="274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7"/>
          <p:cNvSpPr txBox="1"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dt" idx="10"/>
          </p:nvPr>
        </p:nvSpPr>
        <p:spPr>
          <a:xfrm>
            <a:off x="152400" y="6629400"/>
            <a:ext cx="2286000" cy="17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ftr" idx="11"/>
          </p:nvPr>
        </p:nvSpPr>
        <p:spPr>
          <a:xfrm>
            <a:off x="3124200" y="6629400"/>
            <a:ext cx="2895600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4"/>
          <p:cNvSpPr/>
          <p:nvPr/>
        </p:nvSpPr>
        <p:spPr>
          <a:xfrm rot="10800000" flipH="1">
            <a:off x="0" y="6583684"/>
            <a:ext cx="9144000" cy="2743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4;p14" descr="LOGO.gif"/>
          <p:cNvPicPr preferRelativeResize="0"/>
          <p:nvPr/>
        </p:nvPicPr>
        <p:blipFill rotWithShape="1">
          <a:blip r:embed="rId5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4" descr="LOGO.gif"/>
          <p:cNvPicPr preferRelativeResize="0"/>
          <p:nvPr/>
        </p:nvPicPr>
        <p:blipFill rotWithShape="1">
          <a:blip r:embed="rId5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oogle Shape;16;p14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17" name="Google Shape;17;p14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8" name="Google Shape;18;p14" descr="LOGO.gif"/>
            <p:cNvPicPr preferRelativeResize="0"/>
            <p:nvPr/>
          </p:nvPicPr>
          <p:blipFill rotWithShape="1">
            <a:blip r:embed="rId5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19;p14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0" name="Google Shape;20;p14" descr="logo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76200" y="6594307"/>
            <a:ext cx="2362200" cy="263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086100" y="6596246"/>
            <a:ext cx="2895600" cy="261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6553200" y="6583684"/>
            <a:ext cx="2133600" cy="274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1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1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1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1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1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1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1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1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1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"/>
          <p:cNvSpPr txBox="1"/>
          <p:nvPr/>
        </p:nvSpPr>
        <p:spPr>
          <a:xfrm>
            <a:off x="152400" y="1421295"/>
            <a:ext cx="8763000" cy="4482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331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Oriented Software Engineering (OOSE)</a:t>
            </a:r>
            <a:endParaRPr dirty="0"/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22CS017 </a:t>
            </a: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3A30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Quality Management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3A30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3A30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 Management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3200" b="1" dirty="0">
              <a:solidFill>
                <a:srgbClr val="3A30FA"/>
              </a:solidFill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3200" b="1" dirty="0">
              <a:solidFill>
                <a:srgbClr val="3A30FA"/>
              </a:solidFill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Lecture (Theory)</a:t>
            </a:r>
          </a:p>
          <a:p>
            <a:pPr algn="ctr">
              <a:spcBef>
                <a:spcPts val="400"/>
              </a:spcBef>
              <a:buSzPts val="2000"/>
            </a:pPr>
            <a:r>
              <a:rPr lang="en-US" sz="1400" b="1" i="0" u="none" strike="noStrike" cap="none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Dr. Dinesh Vij</a:t>
            </a:r>
            <a:endParaRPr lang="en-US"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0" name="Google Shape;50;p1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"/>
          <p:cNvSpPr txBox="1"/>
          <p:nvPr/>
        </p:nvSpPr>
        <p:spPr>
          <a:xfrm>
            <a:off x="381786" y="292407"/>
            <a:ext cx="6019560" cy="89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Index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168990" y="963516"/>
            <a:ext cx="8838720" cy="4945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22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 txBox="1">
            <a:spLocks noGrp="1"/>
          </p:cNvSpPr>
          <p:nvPr>
            <p:ph type="body" idx="1"/>
          </p:nvPr>
        </p:nvSpPr>
        <p:spPr>
          <a:xfrm>
            <a:off x="675349" y="1190052"/>
            <a:ext cx="7826002" cy="4039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Software Quality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000" b="1" dirty="0">
                <a:latin typeface="Times"/>
                <a:ea typeface="Times"/>
                <a:cs typeface="Times"/>
                <a:sym typeface="Times"/>
              </a:rPr>
              <a:t>Factors of Software Quality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000" b="1" dirty="0">
                <a:latin typeface="Times"/>
                <a:ea typeface="Times"/>
                <a:cs typeface="Times"/>
                <a:sym typeface="Times"/>
              </a:rPr>
              <a:t>Overview Quality Management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Software Quality Management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000" b="1" dirty="0">
                <a:latin typeface="Times"/>
                <a:ea typeface="Times"/>
                <a:cs typeface="Times"/>
                <a:sym typeface="Times"/>
              </a:rPr>
              <a:t>Quality Management for Projects or Programs</a:t>
            </a:r>
            <a:endParaRPr sz="2000" b="1" dirty="0">
              <a:latin typeface="Times"/>
              <a:ea typeface="Times"/>
              <a:cs typeface="Times"/>
              <a:sym typeface="Times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000" b="1" dirty="0">
                <a:latin typeface="Times"/>
                <a:ea typeface="Times"/>
                <a:cs typeface="Times"/>
                <a:sym typeface="Times"/>
              </a:rPr>
              <a:t>Practice Questions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000" b="1" i="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 </a:t>
            </a:r>
            <a:endParaRPr sz="2000" b="1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342900" marR="0" lvl="0" indent="-165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65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65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600" dirty="0">
              <a:latin typeface="Times"/>
              <a:ea typeface="Times"/>
              <a:cs typeface="Times"/>
              <a:sym typeface="Times"/>
            </a:endParaRPr>
          </a:p>
          <a:p>
            <a:pPr marL="342900" marR="0" lvl="0" indent="-165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Software Quality</a:t>
            </a:r>
            <a:endParaRPr/>
          </a:p>
        </p:txBody>
      </p:sp>
      <p:sp>
        <p:nvSpPr>
          <p:cNvPr id="63" name="Google Shape;63;p3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b="1" i="0" dirty="0">
                <a:latin typeface="Times"/>
                <a:ea typeface="Times"/>
                <a:cs typeface="Times"/>
                <a:sym typeface="Times"/>
              </a:rPr>
              <a:t>Software Quality </a:t>
            </a:r>
            <a:r>
              <a:rPr lang="en-US" b="0" i="0" dirty="0">
                <a:latin typeface="Times"/>
                <a:ea typeface="Times"/>
                <a:cs typeface="Times"/>
                <a:sym typeface="Times"/>
              </a:rPr>
              <a:t>shows how good and reliable a product is. 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endParaRPr lang="en-US" dirty="0">
              <a:latin typeface="Times"/>
              <a:ea typeface="Times"/>
              <a:cs typeface="Times"/>
              <a:sym typeface="Times"/>
            </a:endParaRP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dirty="0">
                <a:latin typeface="Times"/>
                <a:ea typeface="Times"/>
                <a:cs typeface="Times"/>
                <a:sym typeface="Times"/>
              </a:rPr>
              <a:t>As</a:t>
            </a:r>
            <a:r>
              <a:rPr lang="en-US" b="0" i="0" dirty="0">
                <a:latin typeface="Times"/>
                <a:ea typeface="Times"/>
                <a:cs typeface="Times"/>
                <a:sym typeface="Times"/>
              </a:rPr>
              <a:t> an example, think about functionally correct software. It performs all functions as laid out in the SRS document. But, it has a virtually unusable program. Even though it should be functionally correct, we tend not to think about it to be a high-quality product.</a:t>
            </a:r>
            <a:endParaRPr dirty="0"/>
          </a:p>
          <a:p>
            <a:pPr marL="342900" lvl="0" indent="-34290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endParaRPr lang="en-US" b="0" i="0" dirty="0">
              <a:latin typeface="Times"/>
              <a:ea typeface="Times"/>
              <a:cs typeface="Times"/>
              <a:sym typeface="Times"/>
            </a:endParaRPr>
          </a:p>
          <a:p>
            <a:pPr marL="342900" lvl="0" indent="-34290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b="0" i="0" dirty="0">
                <a:latin typeface="Times"/>
                <a:ea typeface="Times"/>
                <a:cs typeface="Times"/>
                <a:sym typeface="Times"/>
              </a:rPr>
              <a:t>Another example is also that of a product that will have everything that the users need but has an incomprehensible and not maintainable code. </a:t>
            </a:r>
            <a:endParaRPr dirty="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64" name="Google Shape;64;p3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"/>
          <p:cNvSpPr txBox="1">
            <a:spLocks noGrp="1"/>
          </p:cNvSpPr>
          <p:nvPr>
            <p:ph type="title"/>
          </p:nvPr>
        </p:nvSpPr>
        <p:spPr>
          <a:xfrm>
            <a:off x="0" y="428604"/>
            <a:ext cx="6477000" cy="409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latin typeface="Times"/>
                <a:ea typeface="Times"/>
                <a:cs typeface="Times"/>
                <a:sym typeface="Times"/>
              </a:rPr>
              <a:t>Factors of Software Quality</a:t>
            </a:r>
            <a:br>
              <a:rPr lang="en-US" b="1" i="0">
                <a:latin typeface="Times"/>
                <a:ea typeface="Times"/>
                <a:cs typeface="Times"/>
                <a:sym typeface="Times"/>
              </a:rPr>
            </a:b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1" name="Google Shape;71;p4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72" name="Google Shape;7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4463" y="2081213"/>
            <a:ext cx="6315075" cy="26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cd78549e88_0_1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/>
              <a:t>Product operation factors</a:t>
            </a:r>
            <a:endParaRPr sz="2500"/>
          </a:p>
        </p:txBody>
      </p:sp>
      <p:sp>
        <p:nvSpPr>
          <p:cNvPr id="79" name="Google Shape;79;g2cd78549e88_0_1"/>
          <p:cNvSpPr txBox="1">
            <a:spLocks noGrp="1"/>
          </p:cNvSpPr>
          <p:nvPr>
            <p:ph type="body" idx="1"/>
          </p:nvPr>
        </p:nvSpPr>
        <p:spPr>
          <a:xfrm>
            <a:off x="457200" y="1381539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Correctness: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extent to which a program fulfills its specification.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Reliability: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ability not to fail.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Efficiency: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use of resources execution and storage.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Integrity: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protection of the program from unauthorized access.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Usability: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ease of use of the software.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44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0" name="Google Shape;80;g2cd78549e88_0_1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9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cd78549e88_0_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/>
              <a:t>Product revision factors</a:t>
            </a:r>
            <a:endParaRPr sz="1900"/>
          </a:p>
        </p:txBody>
      </p:sp>
      <p:sp>
        <p:nvSpPr>
          <p:cNvPr id="87" name="Google Shape;87;g2cd78549e88_0_10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sz="2400" b="1" dirty="0"/>
              <a:t>Maintainability: </a:t>
            </a:r>
            <a:r>
              <a:rPr lang="en-US" sz="2400" dirty="0"/>
              <a:t>effort required to locate and fix a fault in a program.</a:t>
            </a:r>
            <a:endParaRPr sz="2400" dirty="0"/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400" dirty="0"/>
              <a:t>•</a:t>
            </a:r>
            <a:r>
              <a:rPr lang="en-US" sz="2400" b="1" dirty="0"/>
              <a:t>Flexibility: </a:t>
            </a:r>
            <a:r>
              <a:rPr lang="en-US" sz="2400" dirty="0"/>
              <a:t>ease of making changes required because of changes in operating environment.</a:t>
            </a:r>
            <a:endParaRPr sz="2400" dirty="0"/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400" dirty="0"/>
              <a:t>•</a:t>
            </a:r>
            <a:r>
              <a:rPr lang="en-US" sz="2400" b="1" dirty="0"/>
              <a:t>Testability: </a:t>
            </a:r>
            <a:r>
              <a:rPr lang="en-US" sz="2400" dirty="0"/>
              <a:t>ease of testing the program to ensure that it is error-free and meets its specification.</a:t>
            </a:r>
            <a:endParaRPr sz="2400" dirty="0"/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44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88" name="Google Shape;88;g2cd78549e88_0_10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9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cd78549e88_0_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/>
              <a:t>Product transition factors</a:t>
            </a:r>
            <a:endParaRPr sz="2700"/>
          </a:p>
        </p:txBody>
      </p:sp>
      <p:sp>
        <p:nvSpPr>
          <p:cNvPr id="95" name="Google Shape;95;g2cd78549e88_0_19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sz="2400" b="1"/>
              <a:t>Portability: </a:t>
            </a:r>
            <a:r>
              <a:rPr lang="en-US" sz="2400"/>
              <a:t>Effort required to transfer a program from one environment to another system.</a:t>
            </a:r>
            <a:endParaRPr sz="2400"/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•</a:t>
            </a:r>
            <a:r>
              <a:rPr lang="en-US" sz="2400" b="1"/>
              <a:t>Reusability: </a:t>
            </a:r>
            <a:r>
              <a:rPr lang="en-US" sz="2400"/>
              <a:t>ease of re-using software in a different context.</a:t>
            </a:r>
            <a:endParaRPr sz="2400"/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•</a:t>
            </a:r>
            <a:r>
              <a:rPr lang="en-US" sz="2400" b="1"/>
              <a:t>Interoperability: </a:t>
            </a:r>
            <a:r>
              <a:rPr lang="en-US" sz="2400"/>
              <a:t>effort required to couple a system to another system. </a:t>
            </a:r>
            <a:endParaRPr sz="2400"/>
          </a:p>
          <a:p>
            <a:pPr marL="0" lvl="0" indent="0" algn="l" rtl="0">
              <a:spcBef>
                <a:spcPts val="44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" name="Google Shape;96;g2cd78549e88_0_19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9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 txBox="1">
            <a:spLocks noGrp="1"/>
          </p:cNvSpPr>
          <p:nvPr>
            <p:ph type="body" idx="1"/>
          </p:nvPr>
        </p:nvSpPr>
        <p:spPr>
          <a:xfrm>
            <a:off x="457200" y="155679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4500" marR="1711325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lang="en-US" sz="1800">
                <a:latin typeface="Times"/>
                <a:ea typeface="Times"/>
                <a:cs typeface="Times"/>
                <a:sym typeface="Times"/>
              </a:rPr>
              <a:t>Quality Control (QC): Techniques used to assure that a product or service meets  requirements or goals.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marL="444500" marR="106679" lvl="0" indent="-3429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lang="en-US" sz="1800">
                <a:latin typeface="Times"/>
                <a:ea typeface="Times"/>
                <a:cs typeface="Times"/>
                <a:sym typeface="Times"/>
              </a:rPr>
              <a:t>Quality Assurance (QA): Actions at a management level that directly improve the chances that  QC actions will be successful. Includes verification that QC was performed as planned.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marL="444500" marR="692150" lvl="0" indent="-3429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lang="en-US" sz="1800">
                <a:latin typeface="Times"/>
                <a:ea typeface="Times"/>
                <a:cs typeface="Times"/>
                <a:sym typeface="Times"/>
              </a:rPr>
              <a:t>Quality Management System (QMS): “A formalized system that documents the structure,  responsibilities and procedures required to achieve effective quality management.” </a:t>
            </a:r>
            <a:endParaRPr sz="1800" baseline="30000">
              <a:latin typeface="Times"/>
              <a:ea typeface="Times"/>
              <a:cs typeface="Times"/>
              <a:sym typeface="Times"/>
            </a:endParaRPr>
          </a:p>
          <a:p>
            <a:pPr marL="444500" marR="671195" lvl="0" indent="-342900" algn="just" rtl="0">
              <a:lnSpc>
                <a:spcPct val="100000"/>
              </a:lnSpc>
              <a:spcBef>
                <a:spcPts val="120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lang="en-US" sz="1800">
                <a:latin typeface="Times"/>
                <a:ea typeface="Times"/>
                <a:cs typeface="Times"/>
                <a:sym typeface="Times"/>
              </a:rPr>
              <a:t>Quality Plan (QMP): Primary document of a QMS that typically includes the Quality Policy,  objectives, and written procedures.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marL="444500" lvl="0" indent="-3429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lang="en-US" sz="1800">
                <a:latin typeface="Times"/>
                <a:ea typeface="Times"/>
                <a:cs typeface="Times"/>
                <a:sym typeface="Times"/>
              </a:rPr>
              <a:t>Quality Policy: “The overall quality intentions and direction of an organization with regard to quality, determined by top management.” 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marL="342900" lvl="0" indent="-22860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2" name="Google Shape;102;p5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03" name="Google Shape;103;p5"/>
          <p:cNvSpPr txBox="1"/>
          <p:nvPr/>
        </p:nvSpPr>
        <p:spPr>
          <a:xfrm>
            <a:off x="152400" y="15240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</a:rPr>
              <a:t>Software quality factors</a:t>
            </a:r>
            <a:endParaRPr sz="3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4" name="Google Shape;104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841" y="1238739"/>
            <a:ext cx="8686800" cy="4747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Overview Quality Management</a:t>
            </a:r>
            <a:endParaRPr/>
          </a:p>
        </p:txBody>
      </p:sp>
      <p:sp>
        <p:nvSpPr>
          <p:cNvPr id="110" name="Google Shape;110;p6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11" name="Google Shape;11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1640" y="1556792"/>
            <a:ext cx="5967213" cy="439248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6"/>
          <p:cNvSpPr txBox="1"/>
          <p:nvPr/>
        </p:nvSpPr>
        <p:spPr>
          <a:xfrm>
            <a:off x="2987824" y="6135451"/>
            <a:ext cx="238398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1: Quality Management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Software Quality Management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8" name="Google Shape;118;p7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19" name="Google Shape;119;p7"/>
          <p:cNvSpPr txBox="1">
            <a:spLocks noGrp="1"/>
          </p:cNvSpPr>
          <p:nvPr>
            <p:ph type="body" idx="1"/>
          </p:nvPr>
        </p:nvSpPr>
        <p:spPr>
          <a:xfrm>
            <a:off x="89900" y="1108350"/>
            <a:ext cx="8847300" cy="52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Software quality management (SQM)</a:t>
            </a:r>
            <a:r>
              <a:rPr lang="en-US" sz="2000" dirty="0"/>
              <a:t> is a management process that aims to develop and manage the quality of software in such a way so as the best ensure the product meets the quality standards expected by the customer while also meeting any necessary regulatory and developer requirements.</a:t>
            </a:r>
            <a:endParaRPr dirty="0"/>
          </a:p>
          <a:p>
            <a:pPr marL="342900" lvl="0" indent="-21590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/>
          </a:p>
          <a:p>
            <a:pPr marL="342900" lvl="0" indent="-34290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/>
              <a:t>Software quality management activities are generally split up into three core components: </a:t>
            </a:r>
            <a:r>
              <a:rPr lang="en-US" sz="2000" i="1" dirty="0">
                <a:solidFill>
                  <a:srgbClr val="FF0000"/>
                </a:solidFill>
              </a:rPr>
              <a:t>quality assurance</a:t>
            </a:r>
            <a:r>
              <a:rPr lang="en-US" sz="2000" dirty="0"/>
              <a:t>, </a:t>
            </a:r>
            <a:r>
              <a:rPr lang="en-US" sz="2000" i="1" dirty="0">
                <a:solidFill>
                  <a:srgbClr val="FF0000"/>
                </a:solidFill>
              </a:rPr>
              <a:t>quality planning</a:t>
            </a:r>
            <a:r>
              <a:rPr lang="en-US" sz="2000" dirty="0"/>
              <a:t>, and </a:t>
            </a:r>
            <a:r>
              <a:rPr lang="en-US" sz="2000" i="1" dirty="0">
                <a:solidFill>
                  <a:srgbClr val="FF0000"/>
                </a:solidFill>
              </a:rPr>
              <a:t>quality control</a:t>
            </a:r>
            <a:r>
              <a:rPr lang="en-US" sz="2000" dirty="0"/>
              <a:t>. </a:t>
            </a:r>
            <a:endParaRPr dirty="0"/>
          </a:p>
          <a:p>
            <a:pPr marL="342900" lvl="0" indent="-21590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/>
          </a:p>
          <a:p>
            <a:pPr marL="0" lvl="0" indent="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242021"/>
              </a:buClr>
              <a:buSzPts val="2000"/>
              <a:buNone/>
            </a:pPr>
            <a:r>
              <a:rPr lang="en-US" sz="2000" b="0" i="0" dirty="0">
                <a:solidFill>
                  <a:srgbClr val="242021"/>
                </a:solidFill>
              </a:rPr>
              <a:t> </a:t>
            </a:r>
            <a:br>
              <a:rPr lang="en-US" sz="2000" dirty="0"/>
            </a:br>
            <a:r>
              <a:rPr lang="en-US" sz="2000" dirty="0"/>
              <a:t> </a:t>
            </a:r>
            <a:br>
              <a:rPr lang="en-US" sz="2000" dirty="0"/>
            </a:br>
            <a:br>
              <a:rPr lang="en-US" sz="2000" dirty="0"/>
            </a:br>
            <a:r>
              <a:rPr lang="en-US" sz="1800" dirty="0">
                <a:solidFill>
                  <a:srgbClr val="242021"/>
                </a:solidFill>
              </a:rPr>
              <a:t> </a:t>
            </a:r>
            <a:br>
              <a:rPr lang="en-US" sz="1800" dirty="0">
                <a:solidFill>
                  <a:srgbClr val="242021"/>
                </a:solidFill>
              </a:rPr>
            </a:br>
            <a:endParaRPr sz="1800" dirty="0">
              <a:solidFill>
                <a:srgbClr val="242021"/>
              </a:solidFill>
            </a:endParaRPr>
          </a:p>
          <a:p>
            <a:pPr marL="0" lvl="2" indent="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 dirty="0"/>
              <a:t> </a:t>
            </a:r>
            <a:br>
              <a:rPr lang="en-US" sz="1400" dirty="0"/>
            </a:br>
            <a:r>
              <a:rPr lang="en-US" sz="1800" dirty="0"/>
              <a:t> </a:t>
            </a:r>
            <a:br>
              <a:rPr lang="en-US" sz="800" dirty="0"/>
            </a:br>
            <a:r>
              <a:rPr lang="en-US" sz="1000" dirty="0"/>
              <a:t> </a:t>
            </a:r>
            <a:br>
              <a:rPr lang="en-US" sz="1000" dirty="0"/>
            </a:br>
            <a:br>
              <a:rPr lang="en-US" sz="1100" dirty="0"/>
            </a:br>
            <a:br>
              <a:rPr lang="en-US" sz="1400" dirty="0"/>
            </a:br>
            <a:br>
              <a:rPr lang="en-US" sz="1800" dirty="0"/>
            </a:br>
            <a:br>
              <a:rPr lang="en-US" sz="1800" dirty="0"/>
            </a:br>
            <a:r>
              <a:rPr lang="en-US" sz="1800" dirty="0">
                <a:solidFill>
                  <a:srgbClr val="303030"/>
                </a:solidFill>
              </a:rPr>
              <a:t> </a:t>
            </a:r>
            <a:br>
              <a:rPr lang="en-US" sz="1800" dirty="0"/>
            </a:br>
            <a:endParaRPr sz="1800" dirty="0">
              <a:solidFill>
                <a:srgbClr val="30303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Software quality management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5" name="Google Shape;125;p8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body" idx="1"/>
          </p:nvPr>
        </p:nvSpPr>
        <p:spPr>
          <a:xfrm>
            <a:off x="423375" y="887850"/>
            <a:ext cx="8644200" cy="5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</a:rPr>
              <a:t>1. Quality assurance:- </a:t>
            </a:r>
            <a:endParaRPr dirty="0"/>
          </a:p>
          <a:p>
            <a:pPr marL="342900" lvl="0" indent="-34290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/>
              <a:t>This stage can include:</a:t>
            </a:r>
            <a:endParaRPr dirty="0"/>
          </a:p>
          <a:p>
            <a:pPr marL="742950" lvl="1" indent="-28575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encouraging documentation process standards, such as the creation of well-defined engineering documents using standard templates</a:t>
            </a:r>
            <a:endParaRPr dirty="0"/>
          </a:p>
          <a:p>
            <a:pPr marL="742950" lvl="1" indent="-28575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mentoring how to conduct standard processes, such as quality reviews</a:t>
            </a:r>
            <a:endParaRPr dirty="0"/>
          </a:p>
          <a:p>
            <a:pPr marL="742950" lvl="1" indent="-28575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mentoring in-process test data recording procedures</a:t>
            </a:r>
            <a:endParaRPr dirty="0"/>
          </a:p>
          <a:p>
            <a:pPr marL="742950" lvl="1" indent="-28575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identifying standards, if any, that should be used in software development processes</a:t>
            </a:r>
            <a:endParaRPr dirty="0"/>
          </a:p>
          <a:p>
            <a:pPr marL="0" lvl="0" indent="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242021"/>
              </a:buClr>
              <a:buSzPts val="2000"/>
              <a:buNone/>
            </a:pPr>
            <a:r>
              <a:rPr lang="en-US" sz="2000" b="0" i="0" dirty="0">
                <a:solidFill>
                  <a:srgbClr val="242021"/>
                </a:solidFill>
              </a:rPr>
              <a:t> </a:t>
            </a:r>
            <a:br>
              <a:rPr lang="en-US" sz="2000" dirty="0"/>
            </a:br>
            <a:r>
              <a:rPr lang="en-US" sz="2000" dirty="0"/>
              <a:t> </a:t>
            </a:r>
            <a:br>
              <a:rPr lang="en-US" sz="2000" dirty="0"/>
            </a:br>
            <a:br>
              <a:rPr lang="en-US" sz="2000" dirty="0"/>
            </a:br>
            <a:r>
              <a:rPr lang="en-US" sz="1800" dirty="0">
                <a:solidFill>
                  <a:srgbClr val="242021"/>
                </a:solidFill>
              </a:rPr>
              <a:t> </a:t>
            </a:r>
            <a:br>
              <a:rPr lang="en-US" sz="1800" dirty="0">
                <a:solidFill>
                  <a:srgbClr val="242021"/>
                </a:solidFill>
              </a:rPr>
            </a:br>
            <a:endParaRPr sz="1800" dirty="0">
              <a:solidFill>
                <a:srgbClr val="242021"/>
              </a:solidFill>
            </a:endParaRPr>
          </a:p>
          <a:p>
            <a:pPr marL="0" lvl="2" indent="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 dirty="0"/>
              <a:t> </a:t>
            </a:r>
            <a:br>
              <a:rPr lang="en-US" sz="1400" dirty="0"/>
            </a:br>
            <a:r>
              <a:rPr lang="en-US" sz="1800" dirty="0"/>
              <a:t> </a:t>
            </a:r>
            <a:br>
              <a:rPr lang="en-US" sz="800" dirty="0"/>
            </a:br>
            <a:r>
              <a:rPr lang="en-US" sz="1000" dirty="0"/>
              <a:t> </a:t>
            </a:r>
            <a:br>
              <a:rPr lang="en-US" sz="1000" dirty="0"/>
            </a:br>
            <a:br>
              <a:rPr lang="en-US" sz="1100" dirty="0"/>
            </a:br>
            <a:br>
              <a:rPr lang="en-US" sz="1400" dirty="0"/>
            </a:br>
            <a:br>
              <a:rPr lang="en-US" sz="1800" dirty="0"/>
            </a:br>
            <a:br>
              <a:rPr lang="en-US" sz="1800" dirty="0"/>
            </a:br>
            <a:r>
              <a:rPr lang="en-US" sz="1800" dirty="0">
                <a:solidFill>
                  <a:srgbClr val="303030"/>
                </a:solidFill>
              </a:rPr>
              <a:t> </a:t>
            </a:r>
            <a:br>
              <a:rPr lang="en-US" sz="1800" dirty="0"/>
            </a:br>
            <a:endParaRPr sz="1800" dirty="0">
              <a:solidFill>
                <a:srgbClr val="30303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Software quality management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2" name="Google Shape;132;p9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1"/>
          </p:nvPr>
        </p:nvSpPr>
        <p:spPr>
          <a:xfrm>
            <a:off x="408875" y="1035225"/>
            <a:ext cx="8090400" cy="51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</a:rPr>
              <a:t>2. Quality planning:</a:t>
            </a:r>
            <a:endParaRPr dirty="0"/>
          </a:p>
          <a:p>
            <a:pPr marL="342900" lvl="0" indent="-34290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/>
              <a:t>Quality planning </a:t>
            </a:r>
            <a:r>
              <a:rPr lang="en-US" sz="2000" b="1" dirty="0"/>
              <a:t>works at a more granular, project-based level,</a:t>
            </a:r>
            <a:r>
              <a:rPr lang="en-US" sz="2000" dirty="0"/>
              <a:t> defining the quality attributes to be associated with the output of the project and how those attributes should be assessed. </a:t>
            </a:r>
            <a:endParaRPr dirty="0"/>
          </a:p>
          <a:p>
            <a:pPr marL="342900" lvl="0" indent="-34290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/>
              <a:t>Additionally, any existing organizational standards may also be assigned to the project at this phase. </a:t>
            </a:r>
            <a:endParaRPr dirty="0"/>
          </a:p>
          <a:p>
            <a:pPr marL="342900" lvl="0" indent="-34290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/>
              <a:t>Attributes such as "robustness," "accessibility," and "modularity" may be assigned to the software development project.</a:t>
            </a:r>
            <a:endParaRPr dirty="0"/>
          </a:p>
          <a:p>
            <a:pPr marL="0" lvl="0" indent="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242021"/>
              </a:buClr>
              <a:buSzPts val="2000"/>
              <a:buNone/>
            </a:pPr>
            <a:r>
              <a:rPr lang="en-US" sz="2000" b="0" i="0" dirty="0">
                <a:solidFill>
                  <a:srgbClr val="242021"/>
                </a:solidFill>
              </a:rPr>
              <a:t> </a:t>
            </a:r>
            <a:br>
              <a:rPr lang="en-US" sz="2000" dirty="0"/>
            </a:br>
            <a:r>
              <a:rPr lang="en-US" sz="2000" dirty="0"/>
              <a:t> </a:t>
            </a:r>
            <a:br>
              <a:rPr lang="en-US" sz="2000" dirty="0"/>
            </a:br>
            <a:br>
              <a:rPr lang="en-US" sz="2000" dirty="0"/>
            </a:br>
            <a:r>
              <a:rPr lang="en-US" sz="1800" dirty="0">
                <a:solidFill>
                  <a:srgbClr val="242021"/>
                </a:solidFill>
              </a:rPr>
              <a:t> </a:t>
            </a:r>
            <a:br>
              <a:rPr lang="en-US" sz="1800" dirty="0">
                <a:solidFill>
                  <a:srgbClr val="242021"/>
                </a:solidFill>
              </a:rPr>
            </a:br>
            <a:endParaRPr sz="1800" dirty="0">
              <a:solidFill>
                <a:srgbClr val="242021"/>
              </a:solidFill>
            </a:endParaRPr>
          </a:p>
          <a:p>
            <a:pPr marL="0" lvl="2" indent="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 dirty="0"/>
              <a:t> </a:t>
            </a:r>
            <a:br>
              <a:rPr lang="en-US" sz="1400" dirty="0"/>
            </a:br>
            <a:r>
              <a:rPr lang="en-US" sz="1800" dirty="0"/>
              <a:t> </a:t>
            </a:r>
            <a:br>
              <a:rPr lang="en-US" sz="800" dirty="0"/>
            </a:br>
            <a:r>
              <a:rPr lang="en-US" sz="1000" dirty="0"/>
              <a:t> </a:t>
            </a:r>
            <a:br>
              <a:rPr lang="en-US" sz="1000" dirty="0"/>
            </a:br>
            <a:br>
              <a:rPr lang="en-US" sz="1100" dirty="0"/>
            </a:br>
            <a:br>
              <a:rPr lang="en-US" sz="1400" dirty="0"/>
            </a:br>
            <a:br>
              <a:rPr lang="en-US" sz="1800" dirty="0"/>
            </a:br>
            <a:br>
              <a:rPr lang="en-US" sz="1800" dirty="0"/>
            </a:br>
            <a:r>
              <a:rPr lang="en-US" sz="1800" dirty="0">
                <a:solidFill>
                  <a:srgbClr val="303030"/>
                </a:solidFill>
              </a:rPr>
              <a:t> </a:t>
            </a:r>
            <a:br>
              <a:rPr lang="en-US" sz="1800" dirty="0"/>
            </a:br>
            <a:endParaRPr sz="1800" dirty="0">
              <a:solidFill>
                <a:srgbClr val="30303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Software quality management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9" name="Google Shape;139;p10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body" idx="1"/>
          </p:nvPr>
        </p:nvSpPr>
        <p:spPr>
          <a:xfrm>
            <a:off x="76200" y="887845"/>
            <a:ext cx="89916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</a:rPr>
              <a:t>3. Quality control:</a:t>
            </a:r>
            <a:endParaRPr dirty="0"/>
          </a:p>
          <a:p>
            <a:pPr marL="342900" lvl="0" indent="-34290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/>
              <a:t>Activities include:</a:t>
            </a:r>
            <a:endParaRPr dirty="0"/>
          </a:p>
          <a:p>
            <a:pPr marL="742950" lvl="1" indent="-28575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release testing of software, including proper documentation of the testing process</a:t>
            </a:r>
            <a:endParaRPr dirty="0"/>
          </a:p>
          <a:p>
            <a:pPr marL="742950" lvl="1" indent="-28575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examination of software and associated documentation for non-conformance with standards</a:t>
            </a:r>
            <a:endParaRPr dirty="0"/>
          </a:p>
          <a:p>
            <a:pPr marL="742950" lvl="1" indent="-28575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follow-up review of software to ensure any required changes detailed in previous testing are addressed</a:t>
            </a:r>
            <a:endParaRPr dirty="0"/>
          </a:p>
          <a:p>
            <a:pPr marL="742950" lvl="1" indent="-28575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application of software measurement and metrics for assessment</a:t>
            </a:r>
            <a:endParaRPr dirty="0"/>
          </a:p>
          <a:p>
            <a:pPr marL="0" lvl="0" indent="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242021"/>
              </a:buClr>
              <a:buSzPts val="2000"/>
              <a:buNone/>
            </a:pPr>
            <a:r>
              <a:rPr lang="en-US" sz="2000" b="0" i="0" dirty="0">
                <a:solidFill>
                  <a:srgbClr val="242021"/>
                </a:solidFill>
              </a:rPr>
              <a:t> </a:t>
            </a:r>
            <a:br>
              <a:rPr lang="en-US" sz="2000" dirty="0"/>
            </a:br>
            <a:r>
              <a:rPr lang="en-US" sz="2000" dirty="0"/>
              <a:t> </a:t>
            </a:r>
            <a:br>
              <a:rPr lang="en-US" sz="2000" dirty="0"/>
            </a:br>
            <a:br>
              <a:rPr lang="en-US" sz="2000" dirty="0"/>
            </a:br>
            <a:r>
              <a:rPr lang="en-US" sz="1800" dirty="0">
                <a:solidFill>
                  <a:srgbClr val="242021"/>
                </a:solidFill>
              </a:rPr>
              <a:t> </a:t>
            </a:r>
            <a:br>
              <a:rPr lang="en-US" sz="1800" dirty="0">
                <a:solidFill>
                  <a:srgbClr val="242021"/>
                </a:solidFill>
              </a:rPr>
            </a:br>
            <a:endParaRPr sz="1800" dirty="0">
              <a:solidFill>
                <a:srgbClr val="242021"/>
              </a:solidFill>
            </a:endParaRPr>
          </a:p>
          <a:p>
            <a:pPr marL="0" lvl="2" indent="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 dirty="0"/>
              <a:t> </a:t>
            </a:r>
            <a:br>
              <a:rPr lang="en-US" sz="1400" dirty="0"/>
            </a:br>
            <a:r>
              <a:rPr lang="en-US" sz="1800" dirty="0"/>
              <a:t> </a:t>
            </a:r>
            <a:br>
              <a:rPr lang="en-US" sz="800" dirty="0"/>
            </a:br>
            <a:r>
              <a:rPr lang="en-US" sz="1000" dirty="0"/>
              <a:t> </a:t>
            </a:r>
            <a:br>
              <a:rPr lang="en-US" sz="1000" dirty="0"/>
            </a:br>
            <a:br>
              <a:rPr lang="en-US" sz="1100" dirty="0"/>
            </a:br>
            <a:br>
              <a:rPr lang="en-US" sz="1400" dirty="0"/>
            </a:br>
            <a:br>
              <a:rPr lang="en-US" sz="1800" dirty="0"/>
            </a:br>
            <a:br>
              <a:rPr lang="en-US" sz="1800" dirty="0"/>
            </a:br>
            <a:r>
              <a:rPr lang="en-US" sz="1800" dirty="0">
                <a:solidFill>
                  <a:srgbClr val="303030"/>
                </a:solidFill>
              </a:rPr>
              <a:t> </a:t>
            </a:r>
            <a:br>
              <a:rPr lang="en-US" sz="1800" dirty="0"/>
            </a:br>
            <a:endParaRPr sz="1800" dirty="0">
              <a:solidFill>
                <a:srgbClr val="30303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Quality Management for Projects or Programs</a:t>
            </a:r>
            <a:endParaRPr dirty="0"/>
          </a:p>
        </p:txBody>
      </p:sp>
      <p:sp>
        <p:nvSpPr>
          <p:cNvPr id="146" name="Google Shape;146;p11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147" name="Google Shape;14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1560" y="1772816"/>
            <a:ext cx="7596336" cy="369705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1"/>
          <p:cNvSpPr txBox="1"/>
          <p:nvPr/>
        </p:nvSpPr>
        <p:spPr>
          <a:xfrm>
            <a:off x="2987824" y="6135451"/>
            <a:ext cx="238398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2: Quality Management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"/>
          <p:cNvSpPr txBox="1"/>
          <p:nvPr/>
        </p:nvSpPr>
        <p:spPr>
          <a:xfrm>
            <a:off x="147145" y="145656"/>
            <a:ext cx="654794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Practice Questions</a:t>
            </a:r>
            <a:endParaRPr sz="36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4" name="Google Shape;154;p12"/>
          <p:cNvSpPr txBox="1"/>
          <p:nvPr/>
        </p:nvSpPr>
        <p:spPr>
          <a:xfrm>
            <a:off x="395536" y="1052736"/>
            <a:ext cx="8352928" cy="569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Q1- Which requirements are the foundation from which quality is measured?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AutoNum type="alphaLcParenR"/>
            </a:pPr>
            <a:r>
              <a:rPr lang="en-US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Hardware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AutoNum type="alphaLcParenR"/>
            </a:pPr>
            <a:r>
              <a:rPr lang="en-US" sz="1400" b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Software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AutoNum type="alphaLcParenR"/>
            </a:pPr>
            <a:r>
              <a:rPr lang="en-US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Programmers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AutoNum type="alphaLcParenR"/>
            </a:pPr>
            <a:r>
              <a:rPr lang="en-US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None of the mentioned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Q2-Which of the following is not a SQA plan for a project?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a) evaluations to be performed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b) </a:t>
            </a:r>
            <a:r>
              <a:rPr lang="en-US" sz="1400" b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amount of technical work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c) audits and reviews to be performed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d) documents to be produced by the SQA group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Q3- Which of the following is not an appraisal cost in SQA?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a) inter-process inspection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b) maintenance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c) </a:t>
            </a:r>
            <a:r>
              <a:rPr lang="en-US" sz="1400" b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quality planning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d) testing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Q4- The primary objective of formal technical reviews is to find _________ during the process so that they do not become defects after release of the software.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AutoNum type="alphaLcParenR"/>
            </a:pPr>
            <a:r>
              <a:rPr lang="en-US" sz="1400" b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errors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AutoNum type="alphaLcParenR"/>
            </a:pPr>
            <a:r>
              <a:rPr lang="en-US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equivalent faults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AutoNum type="alphaLcParenR"/>
            </a:pPr>
            <a:r>
              <a:rPr lang="en-US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failure cause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AutoNum type="alphaLcParenR"/>
            </a:pPr>
            <a:r>
              <a:rPr lang="en-US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none of the mentioned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/>
          </a:p>
        </p:txBody>
      </p:sp>
      <p:sp>
        <p:nvSpPr>
          <p:cNvPr id="160" name="Google Shape;160;p13"/>
          <p:cNvSpPr txBox="1">
            <a:spLocks noGrp="1"/>
          </p:cNvSpPr>
          <p:nvPr>
            <p:ph type="ftr" idx="11"/>
          </p:nvPr>
        </p:nvSpPr>
        <p:spPr>
          <a:xfrm>
            <a:off x="352540" y="6356520"/>
            <a:ext cx="833390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Computer Networks             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1" name="Google Shape;161;p13" descr="See the source 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3513"/>
            <a:ext cx="9144000" cy="653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929</Words>
  <Application>Microsoft Office PowerPoint</Application>
  <PresentationFormat>On-screen Show (4:3)</PresentationFormat>
  <Paragraphs>135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Noto Sans Symbols</vt:lpstr>
      <vt:lpstr>Times</vt:lpstr>
      <vt:lpstr>Times New Roman</vt:lpstr>
      <vt:lpstr>Office Theme</vt:lpstr>
      <vt:lpstr>PowerPoint Presentation</vt:lpstr>
      <vt:lpstr>PowerPoint Presentation</vt:lpstr>
      <vt:lpstr>Software Quality</vt:lpstr>
      <vt:lpstr>Factors of Software Quality </vt:lpstr>
      <vt:lpstr>Product operation factors</vt:lpstr>
      <vt:lpstr>Product revision factors</vt:lpstr>
      <vt:lpstr>Product transition factors</vt:lpstr>
      <vt:lpstr>PowerPoint Presentation</vt:lpstr>
      <vt:lpstr>Overview Quality Management</vt:lpstr>
      <vt:lpstr>Software Quality Management</vt:lpstr>
      <vt:lpstr>Software quality management</vt:lpstr>
      <vt:lpstr>Software quality management</vt:lpstr>
      <vt:lpstr>Software quality management</vt:lpstr>
      <vt:lpstr>Quality Management for Projects or Programs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ABC</dc:creator>
  <cp:lastModifiedBy>dinesh vij</cp:lastModifiedBy>
  <cp:revision>5</cp:revision>
  <dcterms:created xsi:type="dcterms:W3CDTF">2021-07-05T10:09:00Z</dcterms:created>
  <dcterms:modified xsi:type="dcterms:W3CDTF">2025-03-26T05:00:23Z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1033-11.2.0.10463</vt:lpwstr>
  </property>
  <property fmtid="{D5CDD505-2E9C-101B-9397-08002B2CF9AE}" pid="3" name="ICV">
    <vt:lpwstr>C66E8A929365439D9183C5235316B3C9</vt:lpwstr>
  </property>
</Properties>
</file>
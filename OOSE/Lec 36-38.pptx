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856" r:id="rId2"/>
    <p:sldId id="257" r:id="rId3"/>
    <p:sldId id="858" r:id="rId4"/>
    <p:sldId id="725" r:id="rId5"/>
    <p:sldId id="726" r:id="rId6"/>
    <p:sldId id="727" r:id="rId7"/>
    <p:sldId id="728" r:id="rId8"/>
    <p:sldId id="729" r:id="rId9"/>
    <p:sldId id="730" r:id="rId10"/>
    <p:sldId id="731" r:id="rId11"/>
    <p:sldId id="732" r:id="rId12"/>
    <p:sldId id="746" r:id="rId13"/>
    <p:sldId id="747" r:id="rId14"/>
    <p:sldId id="748" r:id="rId15"/>
    <p:sldId id="749" r:id="rId16"/>
    <p:sldId id="750" r:id="rId17"/>
    <p:sldId id="860" r:id="rId18"/>
    <p:sldId id="861" r:id="rId19"/>
    <p:sldId id="862" r:id="rId20"/>
    <p:sldId id="863" r:id="rId21"/>
    <p:sldId id="864" r:id="rId22"/>
    <p:sldId id="782" r:id="rId23"/>
    <p:sldId id="865" r:id="rId24"/>
    <p:sldId id="866" r:id="rId25"/>
    <p:sldId id="857" r:id="rId26"/>
    <p:sldId id="313" r:id="rId27"/>
  </p:sldIdLst>
  <p:sldSz cx="9144000" cy="6858000" type="screen4x3"/>
  <p:notesSz cx="7559675" cy="10691813"/>
  <p:embeddedFontLst>
    <p:embeddedFont>
      <p:font typeface="Times" panose="02020603050405020304" pitchFamily="18" charset="0"/>
      <p:regular r:id="rId29"/>
      <p:bold r:id="rId30"/>
      <p:italic r:id="rId31"/>
      <p:boldItalic r:id="rId32"/>
    </p:embeddedFont>
    <p:embeddedFont>
      <p:font typeface="Calibri" panose="020F0502020204030204" pitchFamily="34" charset="0"/>
      <p:regular r:id="rId33"/>
      <p:bold r:id="rId34"/>
      <p:italic r:id="rId35"/>
      <p:boldItalic r:id="rId36"/>
    </p:embeddedFont>
    <p:embeddedFont>
      <p:font typeface="MS PGothic" panose="020B0600070205080204" pitchFamily="34" charset="-128"/>
      <p:regular r:id="rId37"/>
    </p:embeddedFont>
    <p:embeddedFont>
      <p:font typeface="Times New Roman Bold" panose="02020803070505020304" pitchFamily="18" charset="0"/>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jBLrMujGmK0mcIUsVW4HHj27w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6D8C4D-A2DB-48BA-B2CD-EECFE764FD55}">
  <a:tblStyle styleId="{866D8C4D-A2DB-48BA-B2CD-EECFE764FD5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63" d="100"/>
          <a:sy n="63" d="100"/>
        </p:scale>
        <p:origin x="1196"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72"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7151796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2470337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783039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22451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443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1"/>
        <p:cNvGrpSpPr/>
        <p:nvPr/>
      </p:nvGrpSpPr>
      <p:grpSpPr>
        <a:xfrm>
          <a:off x="0" y="0"/>
          <a:ext cx="0" cy="0"/>
          <a:chOff x="0" y="0"/>
          <a:chExt cx="0" cy="0"/>
        </a:xfrm>
      </p:grpSpPr>
      <p:sp>
        <p:nvSpPr>
          <p:cNvPr id="42" name="Google Shape;42;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7" name="Google Shape;47;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51"/>
        <p:cNvGrpSpPr/>
        <p:nvPr/>
      </p:nvGrpSpPr>
      <p:grpSpPr>
        <a:xfrm>
          <a:off x="0" y="0"/>
          <a:ext cx="0" cy="0"/>
          <a:chOff x="0" y="0"/>
          <a:chExt cx="0" cy="0"/>
        </a:xfrm>
      </p:grpSpPr>
      <p:sp>
        <p:nvSpPr>
          <p:cNvPr id="52" name="Google Shape;52;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53" name="Google Shape;53;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60"/>
        <p:cNvGrpSpPr/>
        <p:nvPr/>
      </p:nvGrpSpPr>
      <p:grpSpPr>
        <a:xfrm>
          <a:off x="0" y="0"/>
          <a:ext cx="0" cy="0"/>
          <a:chOff x="0" y="0"/>
          <a:chExt cx="0" cy="0"/>
        </a:xfrm>
      </p:grpSpPr>
      <p:sp>
        <p:nvSpPr>
          <p:cNvPr id="61" name="Google Shape;61;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6"/>
        <p:cNvGrpSpPr/>
        <p:nvPr/>
      </p:nvGrpSpPr>
      <p:grpSpPr>
        <a:xfrm>
          <a:off x="0" y="0"/>
          <a:ext cx="0" cy="0"/>
          <a:chOff x="0" y="0"/>
          <a:chExt cx="0" cy="0"/>
        </a:xfrm>
      </p:grpSpPr>
      <p:sp>
        <p:nvSpPr>
          <p:cNvPr id="67" name="Google Shape;67;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72"/>
        <p:cNvGrpSpPr/>
        <p:nvPr/>
      </p:nvGrpSpPr>
      <p:grpSpPr>
        <a:xfrm>
          <a:off x="0" y="0"/>
          <a:ext cx="0" cy="0"/>
          <a:chOff x="0" y="0"/>
          <a:chExt cx="0" cy="0"/>
        </a:xfrm>
      </p:grpSpPr>
      <p:sp>
        <p:nvSpPr>
          <p:cNvPr id="73" name="Google Shape;73;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7"/>
        <p:cNvGrpSpPr/>
        <p:nvPr/>
      </p:nvGrpSpPr>
      <p:grpSpPr>
        <a:xfrm>
          <a:off x="0" y="0"/>
          <a:ext cx="0" cy="0"/>
          <a:chOff x="0" y="0"/>
          <a:chExt cx="0" cy="0"/>
        </a:xfrm>
      </p:grpSpPr>
      <p:sp>
        <p:nvSpPr>
          <p:cNvPr id="78" name="Google Shape;78;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84"/>
        <p:cNvGrpSpPr/>
        <p:nvPr/>
      </p:nvGrpSpPr>
      <p:grpSpPr>
        <a:xfrm>
          <a:off x="0" y="0"/>
          <a:ext cx="0" cy="0"/>
          <a:chOff x="0" y="0"/>
          <a:chExt cx="0" cy="0"/>
        </a:xfrm>
      </p:grpSpPr>
      <p:sp>
        <p:nvSpPr>
          <p:cNvPr id="85" name="Google Shape;85;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Computer Networks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E11729AC-FBB6-50BF-140F-6DFFE9DCD4C4}"/>
              </a:ext>
            </a:extLst>
          </p:cNvPr>
          <p:cNvSpPr>
            <a:spLocks noGrp="1"/>
          </p:cNvSpPr>
          <p:nvPr>
            <p:ph type="sldNum" sz="quarter" idx="10"/>
          </p:nvPr>
        </p:nvSpPr>
        <p:spPr/>
        <p:txBody>
          <a:bodyPr/>
          <a:lstStyle>
            <a:lvl1pPr>
              <a:defRPr/>
            </a:lvl1pPr>
          </a:lstStyle>
          <a:p>
            <a:r>
              <a:rPr lang="en-US" altLang="en-US"/>
              <a:t>12.</a:t>
            </a:r>
            <a:fld id="{79B5908F-1003-4FE2-9619-748025AA9679}" type="slidenum">
              <a:rPr lang="en-US" altLang="en-US"/>
              <a:pPr/>
              <a:t>‹#›</a:t>
            </a:fld>
            <a:endParaRPr lang="en-US" altLang="en-US"/>
          </a:p>
        </p:txBody>
      </p:sp>
    </p:spTree>
    <p:extLst>
      <p:ext uri="{BB962C8B-B14F-4D97-AF65-F5344CB8AC3E}">
        <p14:creationId xmlns:p14="http://schemas.microsoft.com/office/powerpoint/2010/main" val="2599178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IN"/>
              <a:t>Computer Networks               </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s://www.lucidchart.com/pages/er-diagrams" TargetMode="External"/><Relationship Id="rId2" Type="http://schemas.openxmlformats.org/officeDocument/2006/relationships/hyperlink" Target="https://www.tutorialspoint.com/What-is-Data-Dictionary" TargetMode="External"/><Relationship Id="rId1" Type="http://schemas.openxmlformats.org/officeDocument/2006/relationships/slideLayout" Target="../slideLayouts/slideLayout13.xml"/><Relationship Id="rId4" Type="http://schemas.openxmlformats.org/officeDocument/2006/relationships/hyperlink" Target="https://www.datanamic.com/support/lt-dez006-what-is-an-erd.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p:nvPr/>
        </p:nvSpPr>
        <p:spPr>
          <a:xfrm>
            <a:off x="947786" y="2932386"/>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dirty="0">
                <a:solidFill>
                  <a:srgbClr val="0070C0"/>
                </a:solidFill>
                <a:latin typeface="Times New Roman"/>
                <a:ea typeface="Times New Roman"/>
                <a:cs typeface="Times New Roman"/>
                <a:sym typeface="Times New Roman"/>
              </a:rPr>
              <a:t>Software Project </a:t>
            </a:r>
            <a:r>
              <a:rPr lang="en-US" sz="2400" b="1" dirty="0" smtClean="0">
                <a:solidFill>
                  <a:srgbClr val="0070C0"/>
                </a:solidFill>
                <a:latin typeface="Times New Roman"/>
                <a:ea typeface="Times New Roman"/>
                <a:cs typeface="Times New Roman"/>
                <a:sym typeface="Times New Roman"/>
              </a:rPr>
              <a:t>Estimation</a:t>
            </a:r>
          </a:p>
          <a:p>
            <a:pPr marL="0" marR="0" lvl="0" indent="0" algn="ctr" rtl="0">
              <a:lnSpc>
                <a:spcPct val="100000"/>
              </a:lnSpc>
              <a:spcBef>
                <a:spcPts val="400"/>
              </a:spcBef>
              <a:spcAft>
                <a:spcPts val="0"/>
              </a:spcAft>
              <a:buClr>
                <a:srgbClr val="000000"/>
              </a:buClr>
              <a:buSzPts val="2000"/>
              <a:buFont typeface="Arial"/>
              <a:buNone/>
            </a:pPr>
            <a:endParaRPr lang="en-US" sz="2400" b="1"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dirty="0" smtClean="0">
                <a:solidFill>
                  <a:srgbClr val="0070C0"/>
                </a:solidFill>
                <a:latin typeface="Times New Roman"/>
                <a:ea typeface="Times New Roman"/>
                <a:cs typeface="Times New Roman"/>
                <a:sym typeface="Times New Roman"/>
              </a:rPr>
              <a:t>Prepared By:</a:t>
            </a:r>
            <a:br>
              <a:rPr lang="en-US" sz="2400" b="1" dirty="0" smtClean="0">
                <a:solidFill>
                  <a:srgbClr val="0070C0"/>
                </a:solidFill>
                <a:latin typeface="Times New Roman"/>
                <a:ea typeface="Times New Roman"/>
                <a:cs typeface="Times New Roman"/>
                <a:sym typeface="Times New Roman"/>
              </a:rPr>
            </a:br>
            <a:r>
              <a:rPr lang="en-US" sz="2400" b="1" dirty="0" smtClean="0">
                <a:solidFill>
                  <a:srgbClr val="0070C0"/>
                </a:solidFill>
                <a:latin typeface="Times New Roman"/>
                <a:ea typeface="Times New Roman"/>
                <a:cs typeface="Times New Roman"/>
                <a:sym typeface="Times New Roman"/>
              </a:rPr>
              <a:t>Dr. </a:t>
            </a:r>
            <a:r>
              <a:rPr lang="en-US" sz="2400" b="1" dirty="0" err="1" smtClean="0">
                <a:solidFill>
                  <a:srgbClr val="0070C0"/>
                </a:solidFill>
                <a:latin typeface="Times New Roman"/>
                <a:ea typeface="Times New Roman"/>
                <a:cs typeface="Times New Roman"/>
                <a:sym typeface="Times New Roman"/>
              </a:rPr>
              <a:t>Vijaita</a:t>
            </a:r>
            <a:r>
              <a:rPr lang="en-US" sz="2400" b="1" dirty="0" smtClean="0">
                <a:solidFill>
                  <a:srgbClr val="0070C0"/>
                </a:solidFill>
                <a:latin typeface="Times New Roman"/>
                <a:ea typeface="Times New Roman"/>
                <a:cs typeface="Times New Roman"/>
                <a:sym typeface="Times New Roman"/>
              </a:rPr>
              <a:t> </a:t>
            </a:r>
            <a:r>
              <a:rPr lang="en-US" sz="2400" b="1" dirty="0" err="1" smtClean="0">
                <a:solidFill>
                  <a:srgbClr val="0070C0"/>
                </a:solidFill>
                <a:latin typeface="Times New Roman"/>
                <a:ea typeface="Times New Roman"/>
                <a:cs typeface="Times New Roman"/>
                <a:sym typeface="Times New Roman"/>
              </a:rPr>
              <a:t>Kashyap</a:t>
            </a:r>
            <a:endParaRPr lang="en-US" sz="2400" b="1"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36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xmlns="" id="{C9F80F3F-71B9-9667-D443-B755FD9B5632}"/>
              </a:ext>
            </a:extLst>
          </p:cNvPr>
          <p:cNvSpPr txBox="1"/>
          <p:nvPr/>
        </p:nvSpPr>
        <p:spPr>
          <a:xfrm>
            <a:off x="1398799" y="2102069"/>
            <a:ext cx="6346401" cy="1436291"/>
          </a:xfrm>
          <a:prstGeom prst="rect">
            <a:avLst/>
          </a:prstGeom>
          <a:noFill/>
        </p:spPr>
        <p:txBody>
          <a:bodyPr wrap="square">
            <a:spAutoFit/>
          </a:bodyPr>
          <a:lstStyle/>
          <a:p>
            <a:pPr marL="0" marR="0" lvl="0" indent="0" algn="ctr" rtl="0">
              <a:lnSpc>
                <a:spcPct val="100000"/>
              </a:lnSpc>
              <a:spcBef>
                <a:spcPts val="400"/>
              </a:spcBef>
              <a:spcAft>
                <a:spcPts val="0"/>
              </a:spcAft>
              <a:buClr>
                <a:srgbClr val="000000"/>
              </a:buClr>
              <a:buSzPts val="2000"/>
              <a:buFont typeface="Arial"/>
              <a:buNone/>
            </a:pPr>
            <a:r>
              <a:rPr lang="en-US" sz="2800" b="1" dirty="0">
                <a:solidFill>
                  <a:schemeClr val="dk1"/>
                </a:solidFill>
                <a:latin typeface="Times New Roman"/>
                <a:ea typeface="Times New Roman"/>
                <a:cs typeface="Times New Roman"/>
                <a:sym typeface="Times New Roman"/>
              </a:rPr>
              <a:t>Object Oriented Software Engineering (OOSE)</a:t>
            </a: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dirty="0">
                <a:solidFill>
                  <a:schemeClr val="dk1"/>
                </a:solidFill>
                <a:latin typeface="Times New Roman"/>
                <a:ea typeface="Times New Roman"/>
                <a:cs typeface="Times New Roman"/>
                <a:sym typeface="Times New Roman"/>
              </a:rPr>
              <a:t>22CS017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p:nvPr/>
        </p:nvSpPr>
        <p:spPr>
          <a:xfrm>
            <a:off x="381786" y="292407"/>
            <a:ext cx="6019560" cy="897645"/>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3000"/>
              <a:buFont typeface="Arial"/>
              <a:buNone/>
            </a:pPr>
            <a:r>
              <a:rPr lang="en-US" sz="3200" b="1" i="0" u="none" strike="noStrike" cap="none" dirty="0">
                <a:solidFill>
                  <a:srgbClr val="000000"/>
                </a:solidFill>
                <a:latin typeface="Times New Roman"/>
                <a:ea typeface="Times New Roman"/>
                <a:cs typeface="Times New Roman"/>
                <a:sym typeface="Times New Roman"/>
              </a:rPr>
              <a:t>Index</a:t>
            </a:r>
          </a:p>
          <a:p>
            <a:pPr marL="0" marR="0" lvl="0" indent="0" rtl="0">
              <a:lnSpc>
                <a:spcPct val="100000"/>
              </a:lnSpc>
              <a:spcBef>
                <a:spcPts val="0"/>
              </a:spcBef>
              <a:spcAft>
                <a:spcPts val="0"/>
              </a:spcAft>
              <a:buClr>
                <a:srgbClr val="000000"/>
              </a:buClr>
              <a:buSzPts val="3000"/>
              <a:buFont typeface="Arial"/>
              <a:buNone/>
            </a:pPr>
            <a:endParaRPr sz="3200" b="0" i="0" u="none" strike="noStrike" cap="none" dirty="0">
              <a:solidFill>
                <a:srgbClr val="000000"/>
              </a:solidFill>
              <a:latin typeface="Arial"/>
              <a:ea typeface="Arial"/>
              <a:cs typeface="Arial"/>
              <a:sym typeface="Arial"/>
            </a:endParaRPr>
          </a:p>
        </p:txBody>
      </p:sp>
      <p:sp>
        <p:nvSpPr>
          <p:cNvPr id="104" name="Google Shape;104;p2"/>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dirty="0">
              <a:solidFill>
                <a:srgbClr val="000000"/>
              </a:solidFill>
              <a:latin typeface="Calibri"/>
              <a:ea typeface="Calibri"/>
              <a:cs typeface="Calibri"/>
              <a:sym typeface="Calibri"/>
            </a:endParaRPr>
          </a:p>
        </p:txBody>
      </p:sp>
      <p:sp>
        <p:nvSpPr>
          <p:cNvPr id="105" name="Google Shape;105;p2"/>
          <p:cNvSpPr txBox="1">
            <a:spLocks noGrp="1"/>
          </p:cNvSpPr>
          <p:nvPr>
            <p:ph type="body" idx="1"/>
          </p:nvPr>
        </p:nvSpPr>
        <p:spPr>
          <a:xfrm>
            <a:off x="556152" y="1306107"/>
            <a:ext cx="7826002" cy="4039737"/>
          </a:xfrm>
          <a:prstGeom prst="rect">
            <a:avLst/>
          </a:prstGeom>
          <a:noFill/>
          <a:ln>
            <a:noFill/>
          </a:ln>
        </p:spPr>
        <p:txBody>
          <a:bodyPr spcFirstLastPara="1" wrap="square" lIns="0" tIns="0" rIns="0" bIns="0" anchor="t" anchorCtr="0">
            <a:noAutofit/>
          </a:bodyPr>
          <a:lstStyle/>
          <a:p>
            <a:pPr marL="342900">
              <a:lnSpc>
                <a:spcPct val="150000"/>
              </a:lnSpc>
              <a:spcBef>
                <a:spcPts val="0"/>
              </a:spcBef>
              <a:buSzPts val="2800"/>
            </a:pPr>
            <a:r>
              <a:rPr lang="en-IN" sz="24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What is Estimation</a:t>
            </a:r>
          </a:p>
          <a:p>
            <a:pPr marL="342900">
              <a:lnSpc>
                <a:spcPct val="150000"/>
              </a:lnSpc>
              <a:spcBef>
                <a:spcPts val="0"/>
              </a:spcBef>
              <a:buSzPts val="2800"/>
            </a:pPr>
            <a:r>
              <a:rPr lang="en-US" sz="2400" b="1" i="0" dirty="0" smtClean="0">
                <a:solidFill>
                  <a:schemeClr val="tx1"/>
                </a:solidFill>
                <a:effectLst/>
                <a:latin typeface="Times New Roman" panose="02020603050405020304" pitchFamily="18" charset="0"/>
                <a:cs typeface="Times New Roman" panose="02020603050405020304" pitchFamily="18" charset="0"/>
              </a:rPr>
              <a:t>COCOMO </a:t>
            </a:r>
            <a:r>
              <a:rPr lang="en-US" sz="2400" b="1" i="0" dirty="0">
                <a:solidFill>
                  <a:schemeClr val="tx1"/>
                </a:solidFill>
                <a:effectLst/>
                <a:latin typeface="Times New Roman" panose="02020603050405020304" pitchFamily="18" charset="0"/>
                <a:cs typeface="Times New Roman" panose="02020603050405020304" pitchFamily="18" charset="0"/>
              </a:rPr>
              <a:t>Model </a:t>
            </a:r>
            <a:endParaRPr lang="en-US" sz="2400" b="1" i="0" dirty="0" smtClean="0">
              <a:solidFill>
                <a:schemeClr val="tx1"/>
              </a:solidFill>
              <a:effectLst/>
              <a:latin typeface="Times New Roman" panose="02020603050405020304" pitchFamily="18" charset="0"/>
              <a:cs typeface="Times New Roman" panose="02020603050405020304" pitchFamily="18" charset="0"/>
            </a:endParaRPr>
          </a:p>
          <a:p>
            <a:pPr marL="342900">
              <a:lnSpc>
                <a:spcPct val="150000"/>
              </a:lnSpc>
              <a:spcBef>
                <a:spcPts val="0"/>
              </a:spcBef>
              <a:buSzPts val="2800"/>
            </a:pPr>
            <a:r>
              <a:rPr lang="en-IN" sz="2400" b="1" dirty="0">
                <a:solidFill>
                  <a:schemeClr val="tx1"/>
                </a:solidFill>
                <a:latin typeface="Times New Roman" panose="02020603050405020304" pitchFamily="18" charset="0"/>
                <a:cs typeface="Times New Roman" panose="02020603050405020304" pitchFamily="18" charset="0"/>
              </a:rPr>
              <a:t>Estimation of Object-Oriented </a:t>
            </a:r>
            <a:r>
              <a:rPr lang="en-IN" sz="2400" b="1" dirty="0" smtClean="0">
                <a:solidFill>
                  <a:schemeClr val="tx1"/>
                </a:solidFill>
                <a:latin typeface="Times New Roman" panose="02020603050405020304" pitchFamily="18" charset="0"/>
                <a:cs typeface="Times New Roman" panose="02020603050405020304" pitchFamily="18" charset="0"/>
              </a:rPr>
              <a:t>Projects</a:t>
            </a:r>
          </a:p>
          <a:p>
            <a:pPr marL="342900">
              <a:lnSpc>
                <a:spcPct val="150000"/>
              </a:lnSpc>
              <a:spcBef>
                <a:spcPts val="0"/>
              </a:spcBef>
              <a:buSzPts val="2800"/>
            </a:pPr>
            <a:r>
              <a:rPr lang="en-IN" sz="2400" b="1" dirty="0" smtClean="0">
                <a:solidFill>
                  <a:schemeClr val="tx1"/>
                </a:solidFill>
                <a:latin typeface="Times New Roman" panose="02020603050405020304" pitchFamily="18" charset="0"/>
                <a:cs typeface="Times New Roman" panose="02020603050405020304" pitchFamily="18" charset="0"/>
              </a:rPr>
              <a:t>Practice </a:t>
            </a:r>
            <a:r>
              <a:rPr lang="en-IN" sz="2400" b="1" dirty="0">
                <a:solidFill>
                  <a:schemeClr val="tx1"/>
                </a:solidFill>
                <a:latin typeface="Times New Roman" panose="02020603050405020304" pitchFamily="18" charset="0"/>
                <a:cs typeface="Times New Roman" panose="02020603050405020304" pitchFamily="18" charset="0"/>
              </a:rPr>
              <a:t>Questions</a:t>
            </a:r>
          </a:p>
          <a:p>
            <a:pPr marL="0" indent="0">
              <a:lnSpc>
                <a:spcPct val="150000"/>
              </a:lnSpc>
              <a:spcBef>
                <a:spcPts val="0"/>
              </a:spcBef>
              <a:buSzPts val="2800"/>
              <a:buNone/>
            </a:pPr>
            <a:r>
              <a:rPr lang="en-US" sz="2400" b="1" i="0" dirty="0">
                <a:solidFill>
                  <a:schemeClr val="tx1"/>
                </a:solidFill>
                <a:effectLst/>
                <a:latin typeface="Times New Roman" panose="02020603050405020304" pitchFamily="18" charset="0"/>
                <a:cs typeface="Times New Roman" panose="02020603050405020304" pitchFamily="18" charset="0"/>
              </a:rPr>
              <a:t> </a:t>
            </a:r>
            <a:endParaRPr lang="en-US" altLang="en-US" sz="2400" b="1" baseline="0" dirty="0">
              <a:solidFill>
                <a:schemeClr val="tx1"/>
              </a:solidFill>
              <a:latin typeface="Times New Roman" panose="02020603050405020304" pitchFamily="18" charset="0"/>
              <a:cs typeface="Times New Roman" panose="02020603050405020304" pitchFamily="18" charset="0"/>
            </a:endParaRPr>
          </a:p>
          <a:p>
            <a:pPr marL="342900" marR="0" lvl="0" algn="l" rtl="0">
              <a:lnSpc>
                <a:spcPct val="150000"/>
              </a:lnSpc>
              <a:spcBef>
                <a:spcPts val="0"/>
              </a:spcBef>
              <a:spcAft>
                <a:spcPts val="0"/>
              </a:spcAft>
              <a:buClr>
                <a:schemeClr val="dk1"/>
              </a:buClr>
              <a:buSzPts val="2800"/>
              <a:buAutoNum type="arabicPeriod"/>
            </a:pPr>
            <a:endParaRPr lang="en-IN" sz="2000" dirty="0">
              <a:latin typeface="Times New Roman" panose="02020603050405020304" pitchFamily="18" charset="0"/>
              <a:ea typeface="Times New Roman"/>
              <a:cs typeface="Times New Roman" panose="02020603050405020304" pitchFamily="18" charset="0"/>
              <a:sym typeface="Times New Roman"/>
            </a:endParaRPr>
          </a:p>
          <a:p>
            <a:pPr marL="342900" marR="0" lvl="0" algn="l" rtl="0">
              <a:lnSpc>
                <a:spcPct val="150000"/>
              </a:lnSpc>
              <a:spcBef>
                <a:spcPts val="0"/>
              </a:spcBef>
              <a:spcAft>
                <a:spcPts val="0"/>
              </a:spcAft>
              <a:buClr>
                <a:schemeClr val="dk1"/>
              </a:buClr>
              <a:buSzPts val="2800"/>
              <a:buAutoNum type="arabicPeriod"/>
            </a:pPr>
            <a:endParaRPr lang="en-IN" sz="2000" dirty="0">
              <a:latin typeface="Times New Roman" panose="02020603050405020304" pitchFamily="18" charset="0"/>
              <a:ea typeface="Times New Roman"/>
              <a:cs typeface="Times New Roman" panose="02020603050405020304" pitchFamily="18" charset="0"/>
              <a:sym typeface="Times New Roman"/>
            </a:endParaRPr>
          </a:p>
          <a:p>
            <a:pPr marL="342900" marR="0" lvl="0" algn="l" rtl="0">
              <a:lnSpc>
                <a:spcPct val="150000"/>
              </a:lnSpc>
              <a:spcBef>
                <a:spcPts val="0"/>
              </a:spcBef>
              <a:spcAft>
                <a:spcPts val="0"/>
              </a:spcAft>
              <a:buClr>
                <a:schemeClr val="dk1"/>
              </a:buClr>
              <a:buSzPts val="2800"/>
              <a:buAutoNum type="arabicPeriod"/>
            </a:pPr>
            <a:endParaRPr lang="en-US" sz="1800" dirty="0">
              <a:latin typeface="Times New Roman" panose="02020603050405020304" pitchFamily="18" charset="0"/>
              <a:ea typeface="Times New Roman"/>
              <a:cs typeface="Times New Roman" panose="02020603050405020304" pitchFamily="18" charset="0"/>
              <a:sym typeface="Times New Roman"/>
            </a:endParaRPr>
          </a:p>
          <a:p>
            <a:pPr marL="342900" marR="0" lvl="0" indent="-342900" algn="l" rtl="0">
              <a:lnSpc>
                <a:spcPct val="150000"/>
              </a:lnSpc>
              <a:spcBef>
                <a:spcPts val="0"/>
              </a:spcBef>
              <a:spcAft>
                <a:spcPts val="0"/>
              </a:spcAft>
              <a:buClr>
                <a:schemeClr val="dk1"/>
              </a:buClr>
              <a:buSzPts val="2800"/>
              <a:buFont typeface="Times New Roman"/>
              <a:buAutoNum type="arabicPeriod"/>
            </a:pP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953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panose="02020603050405020304" pitchFamily="18" charset="0"/>
                <a:cs typeface="Times" panose="02020603050405020304" pitchFamily="18" charset="0"/>
              </a:rPr>
              <a:t/>
            </a:r>
            <a:br>
              <a:rPr lang="en-IN" b="1" dirty="0" smtClean="0">
                <a:latin typeface="Times" panose="02020603050405020304" pitchFamily="18" charset="0"/>
                <a:cs typeface="Times" panose="02020603050405020304" pitchFamily="18" charset="0"/>
              </a:rPr>
            </a:br>
            <a:r>
              <a:rPr lang="en-IN" b="1" dirty="0" smtClean="0">
                <a:latin typeface="Times" panose="02020603050405020304" pitchFamily="18" charset="0"/>
                <a:cs typeface="Times" panose="02020603050405020304" pitchFamily="18" charset="0"/>
              </a:rPr>
              <a:t>What </a:t>
            </a:r>
            <a:r>
              <a:rPr lang="en-IN" b="1" dirty="0">
                <a:latin typeface="Times" panose="02020603050405020304" pitchFamily="18" charset="0"/>
                <a:cs typeface="Times" panose="02020603050405020304" pitchFamily="18" charset="0"/>
              </a:rPr>
              <a:t>is Estimation</a:t>
            </a:r>
            <a:br>
              <a:rPr lang="en-IN" b="1" dirty="0">
                <a:latin typeface="Times" panose="02020603050405020304" pitchFamily="18" charset="0"/>
                <a:cs typeface="Times" panose="02020603050405020304" pitchFamily="18" charset="0"/>
              </a:rPr>
            </a:br>
            <a:endParaRPr lang="en-US" b="1" dirty="0"/>
          </a:p>
        </p:txBody>
      </p:sp>
      <p:sp>
        <p:nvSpPr>
          <p:cNvPr id="4" name="Footer Placeholder 3"/>
          <p:cNvSpPr>
            <a:spLocks noGrp="1"/>
          </p:cNvSpPr>
          <p:nvPr>
            <p:ph type="ftr" idx="11"/>
          </p:nvPr>
        </p:nvSpPr>
        <p:spPr/>
        <p:txBody>
          <a:bodyPr/>
          <a:lstStyle/>
          <a:p>
            <a:r>
              <a:rPr lang="en-IN" smtClean="0"/>
              <a:t>Computer Networks               </a:t>
            </a:r>
            <a:endParaRPr lang="en-IN"/>
          </a:p>
        </p:txBody>
      </p:sp>
      <p:sp>
        <p:nvSpPr>
          <p:cNvPr id="5" name="Rectangle 4"/>
          <p:cNvSpPr/>
          <p:nvPr/>
        </p:nvSpPr>
        <p:spPr>
          <a:xfrm>
            <a:off x="477520" y="1544321"/>
            <a:ext cx="7782560" cy="1938992"/>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Empirical estimation models are mathematical models used to estimate the effort, time, and cost required to complete software development projects. These models are derived from historical project data and provide a systematic way to predict resources and timelines.</a:t>
            </a:r>
          </a:p>
        </p:txBody>
      </p:sp>
    </p:spTree>
    <p:extLst>
      <p:ext uri="{BB962C8B-B14F-4D97-AF65-F5344CB8AC3E}">
        <p14:creationId xmlns:p14="http://schemas.microsoft.com/office/powerpoint/2010/main" val="3716096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553200" cy="914040"/>
          </a:xfrm>
        </p:spPr>
        <p:txBody>
          <a:bodyPr/>
          <a:lstStyle/>
          <a:p>
            <a:pPr algn="l"/>
            <a:r>
              <a:rPr lang="en-US" sz="2800" b="1" dirty="0">
                <a:latin typeface="Times New Roman Bold" panose="02020503050405090304" charset="0"/>
                <a:cs typeface="Times New Roman Bold" panose="02020503050405090304" charset="0"/>
              </a:rPr>
              <a:t>Empirical Based Estimation – </a:t>
            </a:r>
            <a:br>
              <a:rPr lang="en-US" sz="2800" b="1" dirty="0">
                <a:latin typeface="Times New Roman Bold" panose="02020503050405090304" charset="0"/>
                <a:cs typeface="Times New Roman Bold" panose="02020503050405090304" charset="0"/>
              </a:rPr>
            </a:br>
            <a:r>
              <a:rPr lang="en-US" sz="2800" b="1" dirty="0">
                <a:latin typeface="Times New Roman Bold" panose="02020503050405090304" charset="0"/>
                <a:cs typeface="Times New Roman Bold" panose="02020503050405090304" charset="0"/>
              </a:rPr>
              <a:t>COCOMO Model</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4</a:t>
            </a:fld>
            <a:endParaRPr lang="en-US"/>
          </a:p>
        </p:txBody>
      </p:sp>
      <p:sp>
        <p:nvSpPr>
          <p:cNvPr id="7" name="Date Placeholder 3">
            <a:extLst>
              <a:ext uri="{FF2B5EF4-FFF2-40B4-BE49-F238E27FC236}">
                <a16:creationId xmlns:a16="http://schemas.microsoft.com/office/drawing/2014/main" xmlns=""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5" name="Content Placeholder 2">
            <a:extLst>
              <a:ext uri="{FF2B5EF4-FFF2-40B4-BE49-F238E27FC236}">
                <a16:creationId xmlns:a16="http://schemas.microsoft.com/office/drawing/2014/main" xmlns="" id="{67BF7B44-B5D3-7F44-F4B6-0C2A482B419C}"/>
              </a:ext>
            </a:extLst>
          </p:cNvPr>
          <p:cNvSpPr>
            <a:spLocks noGrp="1"/>
          </p:cNvSpPr>
          <p:nvPr>
            <p:ph idx="1"/>
          </p:nvPr>
        </p:nvSpPr>
        <p:spPr>
          <a:xfrm>
            <a:off x="243840" y="1163457"/>
            <a:ext cx="8229600" cy="5216525"/>
          </a:xfrm>
        </p:spPr>
        <p:txBody>
          <a:bodyPr>
            <a:normAutofit fontScale="92500" lnSpcReduction="20000"/>
          </a:bodyPr>
          <a:lstStyle/>
          <a:p>
            <a:pPr algn="just">
              <a:lnSpc>
                <a:spcPct val="150000"/>
              </a:lnSpc>
            </a:pPr>
            <a:r>
              <a:rPr lang="en-IN" sz="1800" dirty="0">
                <a:latin typeface="Times" panose="02020603050405020304" pitchFamily="18" charset="0"/>
                <a:cs typeface="Times" panose="02020603050405020304" pitchFamily="18" charset="0"/>
              </a:rPr>
              <a:t>COCOMO (Constructive Cost Model) is a regression model based on LOC, </a:t>
            </a:r>
            <a:r>
              <a:rPr lang="en-IN" sz="1800" dirty="0" err="1">
                <a:latin typeface="Times" panose="02020603050405020304" pitchFamily="18" charset="0"/>
                <a:cs typeface="Times" panose="02020603050405020304" pitchFamily="18" charset="0"/>
              </a:rPr>
              <a:t>i.e</a:t>
            </a:r>
            <a:r>
              <a:rPr lang="en-IN" sz="1800" dirty="0">
                <a:latin typeface="Times" panose="02020603050405020304" pitchFamily="18" charset="0"/>
                <a:cs typeface="Times" panose="02020603050405020304" pitchFamily="18" charset="0"/>
              </a:rPr>
              <a:t> </a:t>
            </a:r>
            <a:r>
              <a:rPr lang="en-IN" sz="1800" b="1" dirty="0">
                <a:latin typeface="Times" panose="02020603050405020304" pitchFamily="18" charset="0"/>
                <a:cs typeface="Times" panose="02020603050405020304" pitchFamily="18" charset="0"/>
              </a:rPr>
              <a:t>number of Lines of Code</a:t>
            </a:r>
            <a:r>
              <a:rPr lang="en-IN" sz="1800" dirty="0">
                <a:latin typeface="Times" panose="02020603050405020304" pitchFamily="18" charset="0"/>
                <a:cs typeface="Times" panose="02020603050405020304" pitchFamily="18" charset="0"/>
              </a:rPr>
              <a:t>. It is a procedural cost estimate model for software projects and often used as a process of reliably predicting the various parameters associated with making a project such as size, effort, cost, time and quality. It was proposed by Barry Boehm in 1970 and is based on the study of 63 projects, which make it one of the best-documented models.</a:t>
            </a:r>
          </a:p>
          <a:p>
            <a:pPr algn="just">
              <a:lnSpc>
                <a:spcPct val="150000"/>
              </a:lnSpc>
            </a:pPr>
            <a:r>
              <a:rPr lang="en-IN" sz="1800" dirty="0">
                <a:latin typeface="Times" panose="02020603050405020304" pitchFamily="18" charset="0"/>
                <a:cs typeface="Times" panose="02020603050405020304" pitchFamily="18" charset="0"/>
              </a:rPr>
              <a:t>The key parameters which define the quality of any software products, which are also an outcome of the COCOMO model are:</a:t>
            </a:r>
          </a:p>
          <a:p>
            <a:pPr marL="400050" indent="-400050" algn="just">
              <a:lnSpc>
                <a:spcPct val="150000"/>
              </a:lnSpc>
              <a:buFont typeface="+mj-lt"/>
              <a:buAutoNum type="romanLcPeriod"/>
            </a:pPr>
            <a:r>
              <a:rPr lang="en-IN" sz="1800" b="1" dirty="0">
                <a:latin typeface="Times" panose="02020603050405020304" pitchFamily="18" charset="0"/>
                <a:cs typeface="Times" panose="02020603050405020304" pitchFamily="18" charset="0"/>
              </a:rPr>
              <a:t>Effort:</a:t>
            </a:r>
            <a:r>
              <a:rPr lang="en-IN" sz="1800" dirty="0">
                <a:latin typeface="Times" panose="02020603050405020304" pitchFamily="18" charset="0"/>
                <a:cs typeface="Times" panose="02020603050405020304" pitchFamily="18" charset="0"/>
              </a:rPr>
              <a:t> Amount of </a:t>
            </a:r>
            <a:r>
              <a:rPr lang="en-IN" sz="1800" dirty="0" err="1">
                <a:latin typeface="Times" panose="02020603050405020304" pitchFamily="18" charset="0"/>
                <a:cs typeface="Times" panose="02020603050405020304" pitchFamily="18" charset="0"/>
              </a:rPr>
              <a:t>labor</a:t>
            </a:r>
            <a:r>
              <a:rPr lang="en-IN" sz="1800" dirty="0">
                <a:latin typeface="Times" panose="02020603050405020304" pitchFamily="18" charset="0"/>
                <a:cs typeface="Times" panose="02020603050405020304" pitchFamily="18" charset="0"/>
              </a:rPr>
              <a:t> that will be required to complete a task. It is measured in person-months units.</a:t>
            </a:r>
          </a:p>
          <a:p>
            <a:pPr marL="400050" indent="-400050" algn="just">
              <a:lnSpc>
                <a:spcPct val="150000"/>
              </a:lnSpc>
              <a:buFont typeface="+mj-lt"/>
              <a:buAutoNum type="romanLcPeriod"/>
            </a:pPr>
            <a:r>
              <a:rPr lang="en-IN" sz="1800" b="1" dirty="0">
                <a:latin typeface="Times" panose="02020603050405020304" pitchFamily="18" charset="0"/>
                <a:cs typeface="Times" panose="02020603050405020304" pitchFamily="18" charset="0"/>
              </a:rPr>
              <a:t>Schedule:</a:t>
            </a:r>
            <a:r>
              <a:rPr lang="en-IN" sz="1800" dirty="0">
                <a:latin typeface="Times" panose="02020603050405020304" pitchFamily="18" charset="0"/>
                <a:cs typeface="Times" panose="02020603050405020304" pitchFamily="18" charset="0"/>
              </a:rPr>
              <a:t> Simply means the amount of time required for the completion of the job, which is, of course, proportional to the effort put. It is measured in the units of time such as weeks, months.</a:t>
            </a:r>
          </a:p>
          <a:p>
            <a:pPr algn="just">
              <a:lnSpc>
                <a:spcPct val="150000"/>
              </a:lnSpc>
              <a:buNone/>
            </a:pPr>
            <a:endParaRPr lang="en-US" sz="18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904936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COCOMO Model</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5</a:t>
            </a:fld>
            <a:endParaRPr lang="en-US"/>
          </a:p>
        </p:txBody>
      </p:sp>
      <p:sp>
        <p:nvSpPr>
          <p:cNvPr id="7" name="Date Placeholder 3">
            <a:extLst>
              <a:ext uri="{FF2B5EF4-FFF2-40B4-BE49-F238E27FC236}">
                <a16:creationId xmlns:a16="http://schemas.microsoft.com/office/drawing/2014/main" xmlns=""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5" name="Content Placeholder 2">
            <a:extLst>
              <a:ext uri="{FF2B5EF4-FFF2-40B4-BE49-F238E27FC236}">
                <a16:creationId xmlns:a16="http://schemas.microsoft.com/office/drawing/2014/main" xmlns="" id="{67BF7B44-B5D3-7F44-F4B6-0C2A482B419C}"/>
              </a:ext>
            </a:extLst>
          </p:cNvPr>
          <p:cNvSpPr>
            <a:spLocks noGrp="1"/>
          </p:cNvSpPr>
          <p:nvPr>
            <p:ph idx="1"/>
          </p:nvPr>
        </p:nvSpPr>
        <p:spPr>
          <a:xfrm>
            <a:off x="304800" y="870857"/>
            <a:ext cx="8229600" cy="5216525"/>
          </a:xfrm>
        </p:spPr>
        <p:txBody>
          <a:bodyPr>
            <a:normAutofit/>
          </a:bodyPr>
          <a:lstStyle/>
          <a:p>
            <a:pPr algn="just">
              <a:lnSpc>
                <a:spcPct val="150000"/>
              </a:lnSpc>
            </a:pPr>
            <a:r>
              <a:rPr lang="en-IN" sz="1800" dirty="0">
                <a:latin typeface="Times New Roman" panose="02020603050405020304" pitchFamily="18" charset="0"/>
                <a:cs typeface="Times New Roman" panose="02020603050405020304" pitchFamily="18" charset="0"/>
              </a:rPr>
              <a:t>Different models of COCOMO have been proposed to predict the cost estimation at different levels, based on the amount of accuracy and correctness required. All of these models can be applied to a variety of projects, whose characteristics determine the value of constant to be used in subsequent calculations. </a:t>
            </a:r>
          </a:p>
          <a:p>
            <a:pPr algn="just">
              <a:lnSpc>
                <a:spcPct val="150000"/>
              </a:lnSpc>
              <a:buNone/>
            </a:pPr>
            <a:r>
              <a:rPr lang="en-IN" sz="2000" b="1" dirty="0">
                <a:solidFill>
                  <a:srgbClr val="C00000"/>
                </a:solidFill>
                <a:latin typeface="Times New Roman" panose="02020603050405020304" pitchFamily="18" charset="0"/>
                <a:cs typeface="Times New Roman" panose="02020603050405020304" pitchFamily="18" charset="0"/>
              </a:rPr>
              <a:t>SOFWATRE PROJECT TYPES:</a:t>
            </a:r>
          </a:p>
          <a:p>
            <a:pPr algn="just">
              <a:lnSpc>
                <a:spcPct val="150000"/>
              </a:lnSpc>
            </a:pPr>
            <a:r>
              <a:rPr lang="en-IN" sz="1800" b="1" dirty="0">
                <a:solidFill>
                  <a:srgbClr val="3A30FA"/>
                </a:solidFill>
                <a:latin typeface="Times New Roman" panose="02020603050405020304" pitchFamily="18" charset="0"/>
                <a:cs typeface="Times New Roman" panose="02020603050405020304" pitchFamily="18" charset="0"/>
              </a:rPr>
              <a:t>Organic –</a:t>
            </a:r>
            <a:r>
              <a:rPr lang="en-IN" sz="1800" dirty="0">
                <a:solidFill>
                  <a:srgbClr val="3A30FA"/>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software project is said to be an organic type if the team size required is adequately small, the problem is well understood and has been solved in the past and also the team members have a nominal experience regarding the problem.</a:t>
            </a:r>
          </a:p>
          <a:p>
            <a:pPr algn="just">
              <a:lnSpc>
                <a:spcPct val="15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9571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COCOMO Model</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6</a:t>
            </a:fld>
            <a:endParaRPr lang="en-US"/>
          </a:p>
        </p:txBody>
      </p:sp>
      <p:sp>
        <p:nvSpPr>
          <p:cNvPr id="7" name="Date Placeholder 3">
            <a:extLst>
              <a:ext uri="{FF2B5EF4-FFF2-40B4-BE49-F238E27FC236}">
                <a16:creationId xmlns:a16="http://schemas.microsoft.com/office/drawing/2014/main" xmlns=""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5" name="Content Placeholder 2">
            <a:extLst>
              <a:ext uri="{FF2B5EF4-FFF2-40B4-BE49-F238E27FC236}">
                <a16:creationId xmlns:a16="http://schemas.microsoft.com/office/drawing/2014/main" xmlns="" id="{67BF7B44-B5D3-7F44-F4B6-0C2A482B419C}"/>
              </a:ext>
            </a:extLst>
          </p:cNvPr>
          <p:cNvSpPr>
            <a:spLocks noGrp="1"/>
          </p:cNvSpPr>
          <p:nvPr>
            <p:ph idx="1"/>
          </p:nvPr>
        </p:nvSpPr>
        <p:spPr>
          <a:xfrm>
            <a:off x="304800" y="870857"/>
            <a:ext cx="8229600" cy="5216525"/>
          </a:xfrm>
        </p:spPr>
        <p:txBody>
          <a:bodyPr>
            <a:normAutofit lnSpcReduction="10000"/>
          </a:bodyPr>
          <a:lstStyle/>
          <a:p>
            <a:pPr algn="just">
              <a:lnSpc>
                <a:spcPct val="150000"/>
              </a:lnSpc>
            </a:pPr>
            <a:r>
              <a:rPr lang="en-IN" sz="1800" b="1" dirty="0">
                <a:solidFill>
                  <a:srgbClr val="3A30FA"/>
                </a:solidFill>
                <a:latin typeface="Times New Roman" panose="02020603050405020304" pitchFamily="18" charset="0"/>
                <a:cs typeface="Times New Roman" panose="02020603050405020304" pitchFamily="18" charset="0"/>
              </a:rPr>
              <a:t>Semi-detached –</a:t>
            </a:r>
            <a:r>
              <a:rPr lang="en-IN" sz="1800" dirty="0">
                <a:solidFill>
                  <a:srgbClr val="3A30FA"/>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software project is said to be a Semi-detached type if the vital characteristics such as team-size, experience, knowledge of the various programming environment lie in between that of organic and Embedded. The projects classified as Semi-Detached are comparatively less familiar and difficult to develop compared to the organic ones and require more experience and better guidance and creativity. </a:t>
            </a:r>
          </a:p>
          <a:p>
            <a:pPr algn="just">
              <a:lnSpc>
                <a:spcPct val="150000"/>
              </a:lnSpc>
            </a:pPr>
            <a:r>
              <a:rPr lang="en-IN" sz="1800" b="1" dirty="0">
                <a:solidFill>
                  <a:srgbClr val="3A30FA"/>
                </a:solidFill>
                <a:latin typeface="Times New Roman" panose="02020603050405020304" pitchFamily="18" charset="0"/>
                <a:cs typeface="Times New Roman" panose="02020603050405020304" pitchFamily="18" charset="0"/>
              </a:rPr>
              <a:t>Embedded –</a:t>
            </a:r>
            <a:r>
              <a:rPr lang="en-IN" sz="1800" dirty="0">
                <a:solidFill>
                  <a:srgbClr val="3A30FA"/>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software project with requiring the highest level of complexity, creativity, and experience requirement fall under this category. Such software requires a larger team size than the other two models and also the developers need to be sufficiently experienced and creative to develop such complex models.</a:t>
            </a:r>
          </a:p>
          <a:p>
            <a:pPr algn="just"/>
            <a:endParaRPr lang="en-IN" sz="1800" dirty="0">
              <a:latin typeface="Times New Roman" panose="02020603050405020304" pitchFamily="18" charset="0"/>
              <a:cs typeface="Times New Roman" panose="02020603050405020304" pitchFamily="18" charset="0"/>
            </a:endParaRPr>
          </a:p>
          <a:p>
            <a:pPr marL="0" indent="0" algn="just">
              <a:buNone/>
            </a:pPr>
            <a:r>
              <a:rPr lang="en-IN" sz="1800" i="1" dirty="0">
                <a:latin typeface="Times New Roman" panose="02020603050405020304" pitchFamily="18" charset="0"/>
                <a:cs typeface="Times New Roman" panose="02020603050405020304" pitchFamily="18" charset="0"/>
              </a:rPr>
              <a:t>All the above system types utilize different values of the constants used in Effort Calculations.</a:t>
            </a:r>
          </a:p>
          <a:p>
            <a:pPr algn="just">
              <a:lnSpc>
                <a:spcPct val="15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489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COCOMO Model</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7</a:t>
            </a:fld>
            <a:endParaRPr lang="en-US"/>
          </a:p>
        </p:txBody>
      </p:sp>
      <p:pic>
        <p:nvPicPr>
          <p:cNvPr id="8" name="Picture 7">
            <a:extLst>
              <a:ext uri="{FF2B5EF4-FFF2-40B4-BE49-F238E27FC236}">
                <a16:creationId xmlns:a16="http://schemas.microsoft.com/office/drawing/2014/main" xmlns="" id="{92224AD7-FB95-3EA4-66B0-D2F9CC1096F9}"/>
              </a:ext>
            </a:extLst>
          </p:cNvPr>
          <p:cNvPicPr>
            <a:picLocks noChangeAspect="1"/>
          </p:cNvPicPr>
          <p:nvPr/>
        </p:nvPicPr>
        <p:blipFill>
          <a:blip r:embed="rId2"/>
          <a:stretch>
            <a:fillRect/>
          </a:stretch>
        </p:blipFill>
        <p:spPr>
          <a:xfrm>
            <a:off x="357158" y="928670"/>
            <a:ext cx="7897566" cy="5204782"/>
          </a:xfrm>
          <a:prstGeom prst="rect">
            <a:avLst/>
          </a:prstGeom>
        </p:spPr>
      </p:pic>
      <p:sp>
        <p:nvSpPr>
          <p:cNvPr id="10" name="TextBox 9"/>
          <p:cNvSpPr txBox="1"/>
          <p:nvPr/>
        </p:nvSpPr>
        <p:spPr>
          <a:xfrm>
            <a:off x="3000364" y="6286520"/>
            <a:ext cx="3049233" cy="307777"/>
          </a:xfrm>
          <a:prstGeom prst="rect">
            <a:avLst/>
          </a:prstGeom>
          <a:noFill/>
        </p:spPr>
        <p:txBody>
          <a:bodyPr wrap="none" rtlCol="0">
            <a:spAutoFit/>
          </a:bodyPr>
          <a:lstStyle/>
          <a:p>
            <a:r>
              <a:rPr lang="en-US" dirty="0" smtClean="0"/>
              <a:t>Figure 1: </a:t>
            </a:r>
            <a:r>
              <a:rPr lang="en-US" dirty="0"/>
              <a:t>Graph of COCOMO Model</a:t>
            </a:r>
          </a:p>
        </p:txBody>
      </p:sp>
    </p:spTree>
    <p:extLst>
      <p:ext uri="{BB962C8B-B14F-4D97-AF65-F5344CB8AC3E}">
        <p14:creationId xmlns:p14="http://schemas.microsoft.com/office/powerpoint/2010/main" val="2203123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COCOMO Model Types</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8</a:t>
            </a:fld>
            <a:endParaRPr lang="en-US"/>
          </a:p>
        </p:txBody>
      </p:sp>
      <p:sp>
        <p:nvSpPr>
          <p:cNvPr id="7" name="Date Placeholder 3">
            <a:extLst>
              <a:ext uri="{FF2B5EF4-FFF2-40B4-BE49-F238E27FC236}">
                <a16:creationId xmlns:a16="http://schemas.microsoft.com/office/drawing/2014/main" xmlns=""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5" name="Content Placeholder 2">
            <a:extLst>
              <a:ext uri="{FF2B5EF4-FFF2-40B4-BE49-F238E27FC236}">
                <a16:creationId xmlns:a16="http://schemas.microsoft.com/office/drawing/2014/main" xmlns="" id="{67BF7B44-B5D3-7F44-F4B6-0C2A482B419C}"/>
              </a:ext>
            </a:extLst>
          </p:cNvPr>
          <p:cNvSpPr>
            <a:spLocks noGrp="1"/>
          </p:cNvSpPr>
          <p:nvPr>
            <p:ph idx="1"/>
          </p:nvPr>
        </p:nvSpPr>
        <p:spPr>
          <a:xfrm>
            <a:off x="304800" y="870857"/>
            <a:ext cx="8229600" cy="5216525"/>
          </a:xfrm>
        </p:spPr>
        <p:txBody>
          <a:bodyPr>
            <a:normAutofit/>
          </a:bodyPr>
          <a:lstStyle/>
          <a:p>
            <a:pPr algn="just">
              <a:lnSpc>
                <a:spcPct val="150000"/>
              </a:lnSpc>
            </a:pPr>
            <a:r>
              <a:rPr lang="en-IN" sz="1800" dirty="0">
                <a:latin typeface="Times" panose="02020603050405020304" pitchFamily="18" charset="0"/>
                <a:cs typeface="Times" panose="02020603050405020304" pitchFamily="18" charset="0"/>
              </a:rPr>
              <a:t>COCOMO consists of a hierarchy of three increasingly detailed and accurate forms:</a:t>
            </a:r>
          </a:p>
          <a:p>
            <a:pPr lvl="1" algn="just">
              <a:lnSpc>
                <a:spcPct val="150000"/>
              </a:lnSpc>
              <a:buFont typeface="+mj-lt"/>
              <a:buAutoNum type="arabicPeriod"/>
            </a:pPr>
            <a:r>
              <a:rPr lang="en-IN" sz="1800" dirty="0">
                <a:latin typeface="Times" panose="02020603050405020304" pitchFamily="18" charset="0"/>
                <a:cs typeface="Times" panose="02020603050405020304" pitchFamily="18" charset="0"/>
              </a:rPr>
              <a:t>Basic COCOMO Model</a:t>
            </a:r>
          </a:p>
          <a:p>
            <a:pPr lvl="1" algn="just">
              <a:lnSpc>
                <a:spcPct val="150000"/>
              </a:lnSpc>
              <a:buFont typeface="+mj-lt"/>
              <a:buAutoNum type="arabicPeriod"/>
            </a:pPr>
            <a:r>
              <a:rPr lang="en-IN" sz="1800" dirty="0">
                <a:latin typeface="Times" panose="02020603050405020304" pitchFamily="18" charset="0"/>
                <a:cs typeface="Times" panose="02020603050405020304" pitchFamily="18" charset="0"/>
              </a:rPr>
              <a:t>Intermediate COCOMO Model</a:t>
            </a:r>
          </a:p>
          <a:p>
            <a:pPr lvl="1" algn="just">
              <a:lnSpc>
                <a:spcPct val="150000"/>
              </a:lnSpc>
              <a:buFont typeface="+mj-lt"/>
              <a:buAutoNum type="arabicPeriod"/>
            </a:pPr>
            <a:r>
              <a:rPr lang="en-IN" sz="1800" dirty="0">
                <a:latin typeface="Times" panose="02020603050405020304" pitchFamily="18" charset="0"/>
                <a:cs typeface="Times" panose="02020603050405020304" pitchFamily="18" charset="0"/>
              </a:rPr>
              <a:t>Detailed COCOMO Model</a:t>
            </a:r>
          </a:p>
          <a:p>
            <a:pPr algn="just">
              <a:lnSpc>
                <a:spcPct val="150000"/>
              </a:lnSpc>
            </a:pPr>
            <a:r>
              <a:rPr lang="en-IN" sz="1800" dirty="0">
                <a:latin typeface="Times" panose="02020603050405020304" pitchFamily="18" charset="0"/>
                <a:cs typeface="Times" panose="02020603050405020304" pitchFamily="18" charset="0"/>
              </a:rPr>
              <a:t>The first level, </a:t>
            </a:r>
            <a:r>
              <a:rPr lang="en-IN" sz="1800" b="1" dirty="0">
                <a:solidFill>
                  <a:srgbClr val="C00000"/>
                </a:solidFill>
                <a:latin typeface="Times" panose="02020603050405020304" pitchFamily="18" charset="0"/>
                <a:cs typeface="Times" panose="02020603050405020304" pitchFamily="18" charset="0"/>
              </a:rPr>
              <a:t>Basic COCOMO</a:t>
            </a:r>
            <a:r>
              <a:rPr lang="en-IN" sz="1800" dirty="0">
                <a:solidFill>
                  <a:srgbClr val="C00000"/>
                </a:solidFill>
                <a:latin typeface="Times" panose="02020603050405020304" pitchFamily="18" charset="0"/>
                <a:cs typeface="Times" panose="02020603050405020304" pitchFamily="18" charset="0"/>
              </a:rPr>
              <a:t> </a:t>
            </a:r>
            <a:r>
              <a:rPr lang="en-IN" sz="1800" dirty="0">
                <a:latin typeface="Times" panose="02020603050405020304" pitchFamily="18" charset="0"/>
                <a:cs typeface="Times" panose="02020603050405020304" pitchFamily="18" charset="0"/>
              </a:rPr>
              <a:t>can be used for quick and slightly rough calculations of Software Costs. Its accuracy is somewhat restricted due to the absence of sufficient factor considerations.</a:t>
            </a:r>
          </a:p>
          <a:p>
            <a:pPr algn="just">
              <a:lnSpc>
                <a:spcPct val="150000"/>
              </a:lnSpc>
            </a:pPr>
            <a:r>
              <a:rPr lang="en-IN" sz="1800" b="1" dirty="0">
                <a:solidFill>
                  <a:srgbClr val="C00000"/>
                </a:solidFill>
                <a:latin typeface="Times" panose="02020603050405020304" pitchFamily="18" charset="0"/>
                <a:cs typeface="Times" panose="02020603050405020304" pitchFamily="18" charset="0"/>
              </a:rPr>
              <a:t>Intermediate COCOMO </a:t>
            </a:r>
            <a:r>
              <a:rPr lang="en-IN" sz="1800" dirty="0">
                <a:latin typeface="Times" panose="02020603050405020304" pitchFamily="18" charset="0"/>
                <a:cs typeface="Times" panose="02020603050405020304" pitchFamily="18" charset="0"/>
              </a:rPr>
              <a:t>takes these Cost Drivers into account and </a:t>
            </a:r>
            <a:r>
              <a:rPr lang="en-IN" sz="1800" b="1" dirty="0">
                <a:solidFill>
                  <a:srgbClr val="C00000"/>
                </a:solidFill>
                <a:latin typeface="Times" panose="02020603050405020304" pitchFamily="18" charset="0"/>
                <a:cs typeface="Times" panose="02020603050405020304" pitchFamily="18" charset="0"/>
              </a:rPr>
              <a:t>Detailed COCOMO</a:t>
            </a:r>
            <a:r>
              <a:rPr lang="en-IN" sz="1800" b="1" dirty="0">
                <a:latin typeface="Times" panose="02020603050405020304" pitchFamily="18" charset="0"/>
                <a:cs typeface="Times" panose="02020603050405020304" pitchFamily="18" charset="0"/>
              </a:rPr>
              <a:t> </a:t>
            </a:r>
            <a:r>
              <a:rPr lang="en-IN" sz="1800" dirty="0">
                <a:latin typeface="Times" panose="02020603050405020304" pitchFamily="18" charset="0"/>
                <a:cs typeface="Times" panose="02020603050405020304" pitchFamily="18" charset="0"/>
              </a:rPr>
              <a:t>additionally accounts for the influence of individual project phases, </a:t>
            </a:r>
            <a:r>
              <a:rPr lang="en-IN" sz="1800" dirty="0" err="1">
                <a:latin typeface="Times" panose="02020603050405020304" pitchFamily="18" charset="0"/>
                <a:cs typeface="Times" panose="02020603050405020304" pitchFamily="18" charset="0"/>
              </a:rPr>
              <a:t>i.e</a:t>
            </a:r>
            <a:r>
              <a:rPr lang="en-IN" sz="1800" dirty="0">
                <a:latin typeface="Times" panose="02020603050405020304" pitchFamily="18" charset="0"/>
                <a:cs typeface="Times" panose="02020603050405020304" pitchFamily="18" charset="0"/>
              </a:rPr>
              <a:t> in case of detailed, it accounts for both these cost drivers and also calculations are performed phase wise henceforth producing a more accurate result. </a:t>
            </a:r>
          </a:p>
          <a:p>
            <a:pPr algn="just">
              <a:lnSpc>
                <a:spcPct val="150000"/>
              </a:lnSpc>
            </a:pPr>
            <a:endParaRPr lang="en-US" sz="18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540324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Basic Model - Estimation of Effort</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9</a:t>
            </a:fld>
            <a:endParaRPr lang="en-US"/>
          </a:p>
        </p:txBody>
      </p:sp>
      <p:pic>
        <p:nvPicPr>
          <p:cNvPr id="8" name="Picture 7">
            <a:extLst>
              <a:ext uri="{FF2B5EF4-FFF2-40B4-BE49-F238E27FC236}">
                <a16:creationId xmlns:a16="http://schemas.microsoft.com/office/drawing/2014/main" xmlns="" id="{3552C276-EE69-B8EC-7F0C-E97E09332D1A}"/>
              </a:ext>
            </a:extLst>
          </p:cNvPr>
          <p:cNvPicPr>
            <a:picLocks noChangeAspect="1"/>
          </p:cNvPicPr>
          <p:nvPr/>
        </p:nvPicPr>
        <p:blipFill>
          <a:blip r:embed="rId2"/>
          <a:stretch>
            <a:fillRect/>
          </a:stretch>
        </p:blipFill>
        <p:spPr>
          <a:xfrm>
            <a:off x="685800" y="1108614"/>
            <a:ext cx="4071018" cy="2069193"/>
          </a:xfrm>
          <a:prstGeom prst="rect">
            <a:avLst/>
          </a:prstGeom>
        </p:spPr>
      </p:pic>
      <p:sp>
        <p:nvSpPr>
          <p:cNvPr id="10" name="TextBox 9">
            <a:extLst>
              <a:ext uri="{FF2B5EF4-FFF2-40B4-BE49-F238E27FC236}">
                <a16:creationId xmlns:a16="http://schemas.microsoft.com/office/drawing/2014/main" xmlns="" id="{64BF8916-3A5C-747D-0F4E-C7CAF421F77D}"/>
              </a:ext>
            </a:extLst>
          </p:cNvPr>
          <p:cNvSpPr txBox="1"/>
          <p:nvPr/>
        </p:nvSpPr>
        <p:spPr>
          <a:xfrm>
            <a:off x="4876800" y="1066800"/>
            <a:ext cx="4071018" cy="5355312"/>
          </a:xfrm>
          <a:prstGeom prst="rect">
            <a:avLst/>
          </a:prstGeom>
          <a:noFill/>
        </p:spPr>
        <p:txBody>
          <a:bodyPr wrap="square">
            <a:spAutoFit/>
          </a:bodyPr>
          <a:lstStyle/>
          <a:p>
            <a:pPr marL="285750" indent="-285750" algn="just">
              <a:buFont typeface="Arial" panose="020B0604020202020204" pitchFamily="34" charset="0"/>
              <a:buChar char="•"/>
            </a:pPr>
            <a:r>
              <a:rPr lang="en-IN" b="0" i="0" u="none" strike="noStrike" dirty="0">
                <a:effectLst/>
                <a:latin typeface="Times New Roman" panose="02020603050405020304" pitchFamily="18" charset="0"/>
                <a:cs typeface="Times New Roman" panose="02020603050405020304" pitchFamily="18" charset="0"/>
              </a:rPr>
              <a:t>The above formula is used for the cost estimation of for the basic COCOMO model, and also is used in the subsequent models. </a:t>
            </a:r>
          </a:p>
          <a:p>
            <a:pPr marL="285750" indent="-285750" algn="just">
              <a:buFont typeface="Arial" panose="020B0604020202020204" pitchFamily="34" charset="0"/>
              <a:buChar char="•"/>
            </a:pPr>
            <a:endParaRPr lang="en-IN" b="0" i="0" u="none" strike="noStrike" dirty="0">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0" i="0" u="none" strike="noStrike" dirty="0">
                <a:effectLst/>
                <a:latin typeface="Times New Roman" panose="02020603050405020304" pitchFamily="18" charset="0"/>
                <a:cs typeface="Times New Roman" panose="02020603050405020304" pitchFamily="18" charset="0"/>
              </a:rPr>
              <a:t>The constant values </a:t>
            </a:r>
            <a:r>
              <a:rPr lang="en-IN" b="0" i="1" u="none" strike="noStrike" dirty="0">
                <a:solidFill>
                  <a:srgbClr val="C00000"/>
                </a:solidFill>
                <a:effectLst/>
                <a:latin typeface="Times New Roman" panose="02020603050405020304" pitchFamily="18" charset="0"/>
                <a:cs typeface="Times New Roman" panose="02020603050405020304" pitchFamily="18" charset="0"/>
              </a:rPr>
              <a:t>a, b, c </a:t>
            </a:r>
            <a:r>
              <a:rPr lang="en-IN" b="0" i="0" u="none" strike="noStrike" dirty="0">
                <a:effectLst/>
                <a:latin typeface="Times New Roman" panose="02020603050405020304" pitchFamily="18" charset="0"/>
                <a:cs typeface="Times New Roman" panose="02020603050405020304" pitchFamily="18" charset="0"/>
              </a:rPr>
              <a:t>and </a:t>
            </a:r>
            <a:r>
              <a:rPr lang="en-IN" b="0" i="1" u="none" strike="noStrike" dirty="0">
                <a:solidFill>
                  <a:srgbClr val="C00000"/>
                </a:solidFill>
                <a:effectLst/>
                <a:latin typeface="Times New Roman" panose="02020603050405020304" pitchFamily="18" charset="0"/>
                <a:cs typeface="Times New Roman" panose="02020603050405020304" pitchFamily="18" charset="0"/>
              </a:rPr>
              <a:t>d</a:t>
            </a:r>
            <a:r>
              <a:rPr lang="en-IN" b="0" i="0" u="none" strike="noStrike" dirty="0">
                <a:effectLst/>
                <a:latin typeface="Times New Roman" panose="02020603050405020304" pitchFamily="18" charset="0"/>
                <a:cs typeface="Times New Roman" panose="02020603050405020304" pitchFamily="18" charset="0"/>
              </a:rPr>
              <a:t> for the </a:t>
            </a:r>
            <a:r>
              <a:rPr lang="en-IN" dirty="0">
                <a:latin typeface="Times New Roman" panose="02020603050405020304" pitchFamily="18" charset="0"/>
                <a:cs typeface="Times New Roman" panose="02020603050405020304" pitchFamily="18" charset="0"/>
              </a:rPr>
              <a:t>B</a:t>
            </a:r>
            <a:r>
              <a:rPr lang="en-IN" b="0" i="0" u="none" strike="noStrike" dirty="0">
                <a:effectLst/>
                <a:latin typeface="Times New Roman" panose="02020603050405020304" pitchFamily="18" charset="0"/>
                <a:cs typeface="Times New Roman" panose="02020603050405020304" pitchFamily="18" charset="0"/>
              </a:rPr>
              <a:t>asic Model for the different categories of system</a:t>
            </a:r>
            <a:r>
              <a:rPr lang="en-IN" dirty="0">
                <a:latin typeface="Times New Roman" panose="02020603050405020304" pitchFamily="18" charset="0"/>
                <a:cs typeface="Times New Roman" panose="02020603050405020304" pitchFamily="18" charset="0"/>
              </a:rPr>
              <a:t> are given in table.</a:t>
            </a:r>
          </a:p>
          <a:p>
            <a:pPr marL="285750" indent="-285750" algn="just">
              <a:buFont typeface="Arial" panose="020B0604020202020204" pitchFamily="34" charset="0"/>
              <a:buChar char="•"/>
            </a:pPr>
            <a:endParaRPr lang="en-IN" b="0" i="0" u="none" strike="noStrike" dirty="0">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0" i="0" u="none" strike="noStrike" dirty="0">
                <a:effectLst/>
                <a:latin typeface="Times New Roman" panose="02020603050405020304" pitchFamily="18" charset="0"/>
                <a:cs typeface="Times New Roman" panose="02020603050405020304" pitchFamily="18" charset="0"/>
              </a:rPr>
              <a:t>The effort is measured in Person-Months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a:t>
            </a:r>
            <a:r>
              <a:rPr lang="en-IN" b="0" i="0" u="none" strike="noStrike" dirty="0">
                <a:effectLst/>
                <a:latin typeface="Times New Roman" panose="02020603050405020304" pitchFamily="18" charset="0"/>
                <a:cs typeface="Times New Roman" panose="02020603050405020304" pitchFamily="18" charset="0"/>
              </a:rPr>
              <a:t>s evident from the formula is dependent on Kilo-Lines of code (KLOC).</a:t>
            </a:r>
          </a:p>
          <a:p>
            <a:pPr marL="285750" indent="-285750" algn="just">
              <a:buFont typeface="Arial" panose="020B0604020202020204" pitchFamily="34" charset="0"/>
              <a:buChar char="•"/>
            </a:pPr>
            <a:endParaRPr lang="en-IN" b="0" i="0" u="none" strike="noStrike" dirty="0">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0" i="0" u="none" strike="noStrike" dirty="0">
                <a:effectLst/>
                <a:latin typeface="Times New Roman" panose="02020603050405020304" pitchFamily="18" charset="0"/>
                <a:cs typeface="Times New Roman" panose="02020603050405020304" pitchFamily="18" charset="0"/>
              </a:rPr>
              <a:t>The development time is measured in months.</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A9C62DE0-A8B0-B184-914F-5537FE795F66}"/>
              </a:ext>
            </a:extLst>
          </p:cNvPr>
          <p:cNvPicPr>
            <a:picLocks noChangeAspect="1"/>
          </p:cNvPicPr>
          <p:nvPr/>
        </p:nvPicPr>
        <p:blipFill>
          <a:blip r:embed="rId3"/>
          <a:stretch>
            <a:fillRect/>
          </a:stretch>
        </p:blipFill>
        <p:spPr>
          <a:xfrm>
            <a:off x="723087" y="3407229"/>
            <a:ext cx="3935999" cy="2451100"/>
          </a:xfrm>
          <a:prstGeom prst="rect">
            <a:avLst/>
          </a:prstGeom>
        </p:spPr>
      </p:pic>
    </p:spTree>
    <p:extLst>
      <p:ext uri="{BB962C8B-B14F-4D97-AF65-F5344CB8AC3E}">
        <p14:creationId xmlns:p14="http://schemas.microsoft.com/office/powerpoint/2010/main" val="1594136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Basic Model - Estimation of Effort</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10</a:t>
            </a:fld>
            <a:endParaRPr lang="en-US"/>
          </a:p>
        </p:txBody>
      </p:sp>
      <p:sp>
        <p:nvSpPr>
          <p:cNvPr id="3" name="TextBox 2">
            <a:extLst>
              <a:ext uri="{FF2B5EF4-FFF2-40B4-BE49-F238E27FC236}">
                <a16:creationId xmlns:a16="http://schemas.microsoft.com/office/drawing/2014/main" xmlns="" id="{D1B627D7-6922-A591-FF1F-2A3678A150C8}"/>
              </a:ext>
            </a:extLst>
          </p:cNvPr>
          <p:cNvSpPr txBox="1"/>
          <p:nvPr/>
        </p:nvSpPr>
        <p:spPr>
          <a:xfrm>
            <a:off x="152400" y="852026"/>
            <a:ext cx="8991600" cy="5443734"/>
          </a:xfrm>
          <a:prstGeom prst="rect">
            <a:avLst/>
          </a:prstGeom>
          <a:noFill/>
        </p:spPr>
        <p:txBody>
          <a:bodyPr wrap="square">
            <a:spAutoFit/>
          </a:bodyPr>
          <a:lstStyle/>
          <a:p>
            <a:pPr algn="just">
              <a:lnSpc>
                <a:spcPct val="150000"/>
              </a:lnSpc>
            </a:pPr>
            <a:r>
              <a:rPr lang="en-IN" sz="1800" b="1" i="1" u="none" strike="noStrike" dirty="0">
                <a:solidFill>
                  <a:srgbClr val="333333"/>
                </a:solidFill>
                <a:effectLst/>
                <a:latin typeface="Times New Roman" panose="02020603050405020304" pitchFamily="18" charset="0"/>
                <a:cs typeface="Times New Roman" panose="02020603050405020304" pitchFamily="18" charset="0"/>
              </a:rPr>
              <a:t>Example1:</a:t>
            </a:r>
            <a:r>
              <a:rPr lang="en-IN" sz="1800" b="0" i="1" u="none" strike="noStrike" dirty="0">
                <a:solidFill>
                  <a:srgbClr val="333333"/>
                </a:solidFill>
                <a:effectLst/>
                <a:latin typeface="Times New Roman" panose="02020603050405020304" pitchFamily="18" charset="0"/>
                <a:cs typeface="Times New Roman" panose="02020603050405020304" pitchFamily="18" charset="0"/>
              </a:rPr>
              <a:t> Suppose a project was estimated to be 400 KLOC. Calculate the effort and development time for each of the three model i.e., organic, semi-detached &amp; embedded.</a:t>
            </a:r>
          </a:p>
          <a:p>
            <a:pPr algn="just">
              <a:lnSpc>
                <a:spcPct val="150000"/>
              </a:lnSpc>
            </a:pPr>
            <a:r>
              <a:rPr lang="en-IN" sz="1800" b="1" i="0" u="none" strike="noStrike" dirty="0">
                <a:solidFill>
                  <a:srgbClr val="333333"/>
                </a:solidFill>
                <a:effectLst/>
                <a:latin typeface="Times New Roman" panose="02020603050405020304" pitchFamily="18" charset="0"/>
                <a:cs typeface="Times New Roman" panose="02020603050405020304" pitchFamily="18" charset="0"/>
              </a:rPr>
              <a:t>Solution:</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 The basic COCOMO equation takes the form:</a:t>
            </a:r>
          </a:p>
          <a:p>
            <a:pPr algn="just">
              <a:lnSpc>
                <a:spcPct val="150000"/>
              </a:lnSpc>
            </a:pPr>
            <a:r>
              <a:rPr lang="en-IN" sz="1800" b="0" i="0" u="none" strike="noStrike" dirty="0">
                <a:solidFill>
                  <a:srgbClr val="333333"/>
                </a:solidFill>
                <a:effectLst/>
                <a:latin typeface="Times New Roman" panose="02020603050405020304" pitchFamily="18" charset="0"/>
                <a:cs typeface="Times New Roman" panose="02020603050405020304" pitchFamily="18" charset="0"/>
              </a:rPr>
              <a:t>  Estimated Size of project= 400 KLOC</a:t>
            </a:r>
          </a:p>
          <a:p>
            <a:pPr algn="just">
              <a:lnSpc>
                <a:spcPct val="150000"/>
              </a:lnSpc>
            </a:pPr>
            <a:r>
              <a:rPr lang="en-IN" sz="1800" b="1" i="0" u="none" strike="noStrike" dirty="0">
                <a:solidFill>
                  <a:srgbClr val="333333"/>
                </a:solidFill>
                <a:effectLst/>
                <a:latin typeface="Times New Roman" panose="02020603050405020304" pitchFamily="18" charset="0"/>
                <a:cs typeface="Times New Roman" panose="02020603050405020304" pitchFamily="18" charset="0"/>
              </a:rPr>
              <a:t>(</a:t>
            </a:r>
            <a:r>
              <a:rPr lang="en-IN" sz="1800" b="1" i="0" u="none" strike="noStrike" dirty="0" err="1">
                <a:solidFill>
                  <a:srgbClr val="333333"/>
                </a:solidFill>
                <a:effectLst/>
                <a:latin typeface="Times New Roman" panose="02020603050405020304" pitchFamily="18" charset="0"/>
                <a:cs typeface="Times New Roman" panose="02020603050405020304" pitchFamily="18" charset="0"/>
              </a:rPr>
              <a:t>i</a:t>
            </a:r>
            <a:r>
              <a:rPr lang="en-IN" sz="1800" b="1" i="0" u="none" strike="noStrike" dirty="0">
                <a:solidFill>
                  <a:srgbClr val="333333"/>
                </a:solidFill>
                <a:effectLst/>
                <a:latin typeface="Times New Roman" panose="02020603050405020304" pitchFamily="18" charset="0"/>
                <a:cs typeface="Times New Roman" panose="02020603050405020304" pitchFamily="18" charset="0"/>
              </a:rPr>
              <a:t>)Organic Mode</a:t>
            </a:r>
            <a:endParaRPr lang="en-IN" sz="1800" b="0" i="0" u="none" strike="noStrike" dirty="0">
              <a:solidFill>
                <a:srgbClr val="333333"/>
              </a:solidFill>
              <a:effectLst/>
              <a:latin typeface="Times New Roman" panose="02020603050405020304" pitchFamily="18" charset="0"/>
              <a:cs typeface="Times New Roman" panose="02020603050405020304" pitchFamily="18" charset="0"/>
            </a:endParaRPr>
          </a:p>
          <a:p>
            <a:pPr algn="just">
              <a:lnSpc>
                <a:spcPct val="150000"/>
              </a:lnSpc>
            </a:pPr>
            <a:r>
              <a:rPr lang="en-IN" sz="1800" dirty="0">
                <a:solidFill>
                  <a:srgbClr val="333333"/>
                </a:solidFill>
                <a:latin typeface="Times New Roman" panose="02020603050405020304" pitchFamily="18" charset="0"/>
                <a:cs typeface="Times New Roman" panose="02020603050405020304" pitchFamily="18" charset="0"/>
              </a:rPr>
              <a:t>	</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E = 2.4 × (400)</a:t>
            </a:r>
            <a:r>
              <a:rPr lang="en-IN" sz="1800" b="0" i="0" u="none" strike="noStrike" baseline="30000" dirty="0">
                <a:solidFill>
                  <a:srgbClr val="333333"/>
                </a:solidFill>
                <a:effectLst/>
                <a:latin typeface="Times New Roman" panose="02020603050405020304" pitchFamily="18" charset="0"/>
                <a:cs typeface="Times New Roman" panose="02020603050405020304" pitchFamily="18" charset="0"/>
              </a:rPr>
              <a:t>1.05</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 = 1295.31 PM</a:t>
            </a:r>
          </a:p>
          <a:p>
            <a:pPr algn="just">
              <a:lnSpc>
                <a:spcPct val="150000"/>
              </a:lnSpc>
            </a:pPr>
            <a:r>
              <a:rPr lang="en-IN" sz="1800" b="0" i="0" u="none" strike="noStrike" dirty="0">
                <a:solidFill>
                  <a:srgbClr val="333333"/>
                </a:solidFill>
                <a:effectLst/>
                <a:latin typeface="Times New Roman" panose="02020603050405020304" pitchFamily="18" charset="0"/>
                <a:cs typeface="Times New Roman" panose="02020603050405020304" pitchFamily="18" charset="0"/>
              </a:rPr>
              <a:t>                D = 2.5 × (1295.31)</a:t>
            </a:r>
            <a:r>
              <a:rPr lang="en-IN" sz="1800" b="0" i="0" u="none" strike="noStrike" baseline="30000" dirty="0">
                <a:solidFill>
                  <a:srgbClr val="333333"/>
                </a:solidFill>
                <a:effectLst/>
                <a:latin typeface="Times New Roman" panose="02020603050405020304" pitchFamily="18" charset="0"/>
                <a:cs typeface="Times New Roman" panose="02020603050405020304" pitchFamily="18" charset="0"/>
              </a:rPr>
              <a:t>0.38</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=38.07 PM</a:t>
            </a:r>
          </a:p>
          <a:p>
            <a:pPr algn="just">
              <a:lnSpc>
                <a:spcPct val="150000"/>
              </a:lnSpc>
            </a:pPr>
            <a:r>
              <a:rPr lang="en-IN" sz="1800" b="1" i="0" u="none" strike="noStrike" dirty="0">
                <a:solidFill>
                  <a:srgbClr val="333333"/>
                </a:solidFill>
                <a:effectLst/>
                <a:latin typeface="Times New Roman" panose="02020603050405020304" pitchFamily="18" charset="0"/>
                <a:cs typeface="Times New Roman" panose="02020603050405020304" pitchFamily="18" charset="0"/>
              </a:rPr>
              <a:t>(ii)Semidetached Mode</a:t>
            </a:r>
            <a:endParaRPr lang="en-IN" sz="1800" b="0" i="0" u="none" strike="noStrike" dirty="0">
              <a:solidFill>
                <a:srgbClr val="333333"/>
              </a:solidFill>
              <a:effectLst/>
              <a:latin typeface="Times New Roman" panose="02020603050405020304" pitchFamily="18" charset="0"/>
              <a:cs typeface="Times New Roman" panose="02020603050405020304" pitchFamily="18" charset="0"/>
            </a:endParaRPr>
          </a:p>
          <a:p>
            <a:pPr algn="just">
              <a:lnSpc>
                <a:spcPct val="150000"/>
              </a:lnSpc>
            </a:pPr>
            <a:r>
              <a:rPr lang="en-IN" sz="1800" dirty="0">
                <a:solidFill>
                  <a:srgbClr val="333333"/>
                </a:solidFill>
                <a:latin typeface="Times New Roman" panose="02020603050405020304" pitchFamily="18" charset="0"/>
                <a:cs typeface="Times New Roman" panose="02020603050405020304" pitchFamily="18" charset="0"/>
              </a:rPr>
              <a:t>	</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E = 3.0 × (400)</a:t>
            </a:r>
            <a:r>
              <a:rPr lang="en-IN" sz="1800" b="0" i="0" u="none" strike="noStrike" baseline="30000" dirty="0">
                <a:solidFill>
                  <a:srgbClr val="333333"/>
                </a:solidFill>
                <a:effectLst/>
                <a:latin typeface="Times New Roman" panose="02020603050405020304" pitchFamily="18" charset="0"/>
                <a:cs typeface="Times New Roman" panose="02020603050405020304" pitchFamily="18" charset="0"/>
              </a:rPr>
              <a:t>1.12</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=2462.79 PM</a:t>
            </a:r>
          </a:p>
          <a:p>
            <a:pPr algn="just">
              <a:lnSpc>
                <a:spcPct val="150000"/>
              </a:lnSpc>
            </a:pPr>
            <a:r>
              <a:rPr lang="en-IN" sz="1800" dirty="0">
                <a:solidFill>
                  <a:srgbClr val="333333"/>
                </a:solidFill>
                <a:latin typeface="Times New Roman" panose="02020603050405020304" pitchFamily="18" charset="0"/>
                <a:cs typeface="Times New Roman" panose="02020603050405020304" pitchFamily="18" charset="0"/>
              </a:rPr>
              <a:t>	</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D = 2.5 × (2462.79)</a:t>
            </a:r>
            <a:r>
              <a:rPr lang="en-IN" sz="1800" b="0" i="0" u="none" strike="noStrike" baseline="30000" dirty="0">
                <a:solidFill>
                  <a:srgbClr val="333333"/>
                </a:solidFill>
                <a:effectLst/>
                <a:latin typeface="Times New Roman" panose="02020603050405020304" pitchFamily="18" charset="0"/>
                <a:cs typeface="Times New Roman" panose="02020603050405020304" pitchFamily="18" charset="0"/>
              </a:rPr>
              <a:t>0.35</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=38.45 PM</a:t>
            </a:r>
          </a:p>
          <a:p>
            <a:pPr algn="just">
              <a:lnSpc>
                <a:spcPct val="150000"/>
              </a:lnSpc>
            </a:pPr>
            <a:r>
              <a:rPr lang="en-IN" sz="1800" b="1" i="0" u="none" strike="noStrike" dirty="0">
                <a:solidFill>
                  <a:srgbClr val="333333"/>
                </a:solidFill>
                <a:effectLst/>
                <a:latin typeface="Times New Roman" panose="02020603050405020304" pitchFamily="18" charset="0"/>
                <a:cs typeface="Times New Roman" panose="02020603050405020304" pitchFamily="18" charset="0"/>
              </a:rPr>
              <a:t>(iii) Embedded Mode</a:t>
            </a:r>
            <a:endParaRPr lang="en-IN" sz="1800" b="0" i="0" u="none" strike="noStrike" dirty="0">
              <a:solidFill>
                <a:srgbClr val="333333"/>
              </a:solidFill>
              <a:effectLst/>
              <a:latin typeface="Times New Roman" panose="02020603050405020304" pitchFamily="18" charset="0"/>
              <a:cs typeface="Times New Roman" panose="02020603050405020304" pitchFamily="18" charset="0"/>
            </a:endParaRPr>
          </a:p>
          <a:p>
            <a:pPr algn="just">
              <a:lnSpc>
                <a:spcPct val="150000"/>
              </a:lnSpc>
            </a:pPr>
            <a:r>
              <a:rPr lang="en-IN" sz="1800" dirty="0">
                <a:solidFill>
                  <a:srgbClr val="333333"/>
                </a:solidFill>
                <a:latin typeface="Times New Roman" panose="02020603050405020304" pitchFamily="18" charset="0"/>
                <a:cs typeface="Times New Roman" panose="02020603050405020304" pitchFamily="18" charset="0"/>
              </a:rPr>
              <a:t>	</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E = 3.6 × (400)</a:t>
            </a:r>
            <a:r>
              <a:rPr lang="en-IN" sz="1800" b="0" i="0" u="none" strike="noStrike" baseline="30000" dirty="0">
                <a:solidFill>
                  <a:srgbClr val="333333"/>
                </a:solidFill>
                <a:effectLst/>
                <a:latin typeface="Times New Roman" panose="02020603050405020304" pitchFamily="18" charset="0"/>
                <a:cs typeface="Times New Roman" panose="02020603050405020304" pitchFamily="18" charset="0"/>
              </a:rPr>
              <a:t>1.20</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 = 4772.81 PM</a:t>
            </a:r>
          </a:p>
          <a:p>
            <a:pPr algn="just">
              <a:lnSpc>
                <a:spcPct val="150000"/>
              </a:lnSpc>
            </a:pPr>
            <a:r>
              <a:rPr lang="en-IN" sz="1800" b="0" i="0" u="none" strike="noStrike" dirty="0">
                <a:solidFill>
                  <a:srgbClr val="333333"/>
                </a:solidFill>
                <a:effectLst/>
                <a:latin typeface="Times New Roman" panose="02020603050405020304" pitchFamily="18" charset="0"/>
                <a:cs typeface="Times New Roman" panose="02020603050405020304" pitchFamily="18" charset="0"/>
              </a:rPr>
              <a:t>                D = 2.5 × (4772.8)</a:t>
            </a:r>
            <a:r>
              <a:rPr lang="en-IN" sz="1800" b="0" i="0" u="none" strike="noStrike" baseline="30000" dirty="0">
                <a:solidFill>
                  <a:srgbClr val="333333"/>
                </a:solidFill>
                <a:effectLst/>
                <a:latin typeface="Times New Roman" panose="02020603050405020304" pitchFamily="18" charset="0"/>
                <a:cs typeface="Times New Roman" panose="02020603050405020304" pitchFamily="18" charset="0"/>
              </a:rPr>
              <a:t>0.32</a:t>
            </a:r>
            <a:r>
              <a:rPr lang="en-IN" sz="1800" b="0" i="0" u="none" strike="noStrike" dirty="0">
                <a:solidFill>
                  <a:srgbClr val="333333"/>
                </a:solidFill>
                <a:effectLst/>
                <a:latin typeface="Times New Roman" panose="02020603050405020304" pitchFamily="18" charset="0"/>
                <a:cs typeface="Times New Roman" panose="02020603050405020304" pitchFamily="18" charset="0"/>
              </a:rPr>
              <a:t> = 38 PM</a:t>
            </a:r>
          </a:p>
        </p:txBody>
      </p:sp>
      <p:pic>
        <p:nvPicPr>
          <p:cNvPr id="4" name="Picture 3">
            <a:extLst>
              <a:ext uri="{FF2B5EF4-FFF2-40B4-BE49-F238E27FC236}">
                <a16:creationId xmlns:a16="http://schemas.microsoft.com/office/drawing/2014/main" xmlns="" id="{7EDA5CBE-D9B0-F2BB-E345-4118803818D3}"/>
              </a:ext>
            </a:extLst>
          </p:cNvPr>
          <p:cNvPicPr>
            <a:picLocks noChangeAspect="1"/>
          </p:cNvPicPr>
          <p:nvPr/>
        </p:nvPicPr>
        <p:blipFill rotWithShape="1">
          <a:blip r:embed="rId2"/>
          <a:srcRect r="38232" b="32051"/>
          <a:stretch/>
        </p:blipFill>
        <p:spPr>
          <a:xfrm>
            <a:off x="6096000" y="1870614"/>
            <a:ext cx="2514600" cy="1405986"/>
          </a:xfrm>
          <a:prstGeom prst="rect">
            <a:avLst/>
          </a:prstGeom>
        </p:spPr>
      </p:pic>
    </p:spTree>
    <p:extLst>
      <p:ext uri="{BB962C8B-B14F-4D97-AF65-F5344CB8AC3E}">
        <p14:creationId xmlns:p14="http://schemas.microsoft.com/office/powerpoint/2010/main" val="992631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Basic Model - Estimation of Effort</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11</a:t>
            </a:fld>
            <a:endParaRPr lang="en-US"/>
          </a:p>
        </p:txBody>
      </p:sp>
      <p:sp>
        <p:nvSpPr>
          <p:cNvPr id="7" name="Date Placeholder 3">
            <a:extLst>
              <a:ext uri="{FF2B5EF4-FFF2-40B4-BE49-F238E27FC236}">
                <a16:creationId xmlns:a16="http://schemas.microsoft.com/office/drawing/2014/main" xmlns=""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5" name="Content Placeholder 2">
            <a:extLst>
              <a:ext uri="{FF2B5EF4-FFF2-40B4-BE49-F238E27FC236}">
                <a16:creationId xmlns:a16="http://schemas.microsoft.com/office/drawing/2014/main" xmlns="" id="{8F44F373-D5F5-730C-AE29-B4AF03E03842}"/>
              </a:ext>
            </a:extLst>
          </p:cNvPr>
          <p:cNvSpPr>
            <a:spLocks noGrp="1"/>
          </p:cNvSpPr>
          <p:nvPr>
            <p:ph idx="1"/>
          </p:nvPr>
        </p:nvSpPr>
        <p:spPr>
          <a:xfrm>
            <a:off x="381000" y="990600"/>
            <a:ext cx="8534400" cy="4525963"/>
          </a:xfrm>
        </p:spPr>
        <p:txBody>
          <a:bodyPr/>
          <a:lstStyle/>
          <a:p>
            <a:pPr marL="0" indent="0">
              <a:lnSpc>
                <a:spcPct val="150000"/>
              </a:lnSpc>
              <a:buNone/>
            </a:pPr>
            <a:r>
              <a:rPr lang="en-IN" sz="1800" b="1" i="1" dirty="0">
                <a:latin typeface="Times" panose="02020603050405020304" pitchFamily="18" charset="0"/>
                <a:cs typeface="Times" panose="02020603050405020304" pitchFamily="18" charset="0"/>
              </a:rPr>
              <a:t>Example 2:</a:t>
            </a:r>
            <a:r>
              <a:rPr lang="en-IN" sz="1800" i="1" dirty="0">
                <a:latin typeface="Times" panose="02020603050405020304" pitchFamily="18" charset="0"/>
                <a:cs typeface="Times" panose="02020603050405020304" pitchFamily="18" charset="0"/>
              </a:rPr>
              <a:t> A project size of 200 KLOC is to be developed. Software development team has average experience on similar type of projects. The project schedule is not very tight. Calculate the Effort, development time, average staff size, and productivity of the project.</a:t>
            </a:r>
          </a:p>
          <a:p>
            <a:pPr marL="0" indent="0">
              <a:lnSpc>
                <a:spcPct val="150000"/>
              </a:lnSpc>
              <a:buNone/>
            </a:pPr>
            <a:endParaRPr lang="en-IN" sz="1800" b="1" dirty="0">
              <a:latin typeface="Times" panose="02020603050405020304" pitchFamily="18" charset="0"/>
              <a:cs typeface="Times" panose="02020603050405020304" pitchFamily="18" charset="0"/>
            </a:endParaRPr>
          </a:p>
          <a:p>
            <a:pPr marL="0" indent="0">
              <a:lnSpc>
                <a:spcPct val="150000"/>
              </a:lnSpc>
              <a:buNone/>
            </a:pPr>
            <a:r>
              <a:rPr lang="en-IN" sz="1800" b="1" dirty="0">
                <a:latin typeface="Times" panose="02020603050405020304" pitchFamily="18" charset="0"/>
                <a:cs typeface="Times" panose="02020603050405020304" pitchFamily="18" charset="0"/>
              </a:rPr>
              <a:t>Solution:</a:t>
            </a:r>
            <a:r>
              <a:rPr lang="en-IN" sz="1800" dirty="0">
                <a:latin typeface="Times" panose="02020603050405020304" pitchFamily="18" charset="0"/>
                <a:cs typeface="Times" panose="02020603050405020304" pitchFamily="18" charset="0"/>
              </a:rPr>
              <a:t> The </a:t>
            </a:r>
            <a:r>
              <a:rPr lang="en-IN" sz="1800" dirty="0">
                <a:solidFill>
                  <a:srgbClr val="C00000"/>
                </a:solidFill>
                <a:latin typeface="Times" panose="02020603050405020304" pitchFamily="18" charset="0"/>
                <a:cs typeface="Times" panose="02020603050405020304" pitchFamily="18" charset="0"/>
              </a:rPr>
              <a:t>semidetached</a:t>
            </a:r>
            <a:r>
              <a:rPr lang="en-IN" sz="1800" dirty="0">
                <a:latin typeface="Times" panose="02020603050405020304" pitchFamily="18" charset="0"/>
                <a:cs typeface="Times" panose="02020603050405020304" pitchFamily="18" charset="0"/>
              </a:rPr>
              <a:t> mode is the most appropriate mode, keeping in view the size, schedule and experience of development time. </a:t>
            </a:r>
          </a:p>
          <a:p>
            <a:pPr marL="0" indent="0">
              <a:lnSpc>
                <a:spcPct val="150000"/>
              </a:lnSpc>
              <a:buNone/>
            </a:pPr>
            <a:r>
              <a:rPr lang="en-IN" sz="1800" dirty="0">
                <a:latin typeface="Times" panose="02020603050405020304" pitchFamily="18" charset="0"/>
                <a:cs typeface="Times" panose="02020603050405020304" pitchFamily="18" charset="0"/>
              </a:rPr>
              <a:t>E = 3.0×(200)</a:t>
            </a:r>
            <a:r>
              <a:rPr lang="en-IN" sz="1800" baseline="30000" dirty="0">
                <a:latin typeface="Times" panose="02020603050405020304" pitchFamily="18" charset="0"/>
                <a:cs typeface="Times" panose="02020603050405020304" pitchFamily="18" charset="0"/>
              </a:rPr>
              <a:t>1.12</a:t>
            </a:r>
            <a:r>
              <a:rPr lang="en-IN" sz="1800" dirty="0">
                <a:latin typeface="Times" panose="02020603050405020304" pitchFamily="18" charset="0"/>
                <a:cs typeface="Times" panose="02020603050405020304" pitchFamily="18" charset="0"/>
              </a:rPr>
              <a:t> = 1133.12 PM</a:t>
            </a:r>
            <a:br>
              <a:rPr lang="en-IN" sz="1800" dirty="0">
                <a:latin typeface="Times" panose="02020603050405020304" pitchFamily="18" charset="0"/>
                <a:cs typeface="Times" panose="02020603050405020304" pitchFamily="18" charset="0"/>
              </a:rPr>
            </a:br>
            <a:r>
              <a:rPr lang="en-IN" sz="1800" dirty="0">
                <a:latin typeface="Times" panose="02020603050405020304" pitchFamily="18" charset="0"/>
                <a:cs typeface="Times" panose="02020603050405020304" pitchFamily="18" charset="0"/>
              </a:rPr>
              <a:t>D = 2.5× (1133.12)</a:t>
            </a:r>
            <a:r>
              <a:rPr lang="en-IN" sz="1800" baseline="30000" dirty="0">
                <a:latin typeface="Times" panose="02020603050405020304" pitchFamily="18" charset="0"/>
                <a:cs typeface="Times" panose="02020603050405020304" pitchFamily="18" charset="0"/>
              </a:rPr>
              <a:t>0.35</a:t>
            </a:r>
            <a:r>
              <a:rPr lang="en-IN" sz="1800" dirty="0">
                <a:latin typeface="Times" panose="02020603050405020304" pitchFamily="18" charset="0"/>
                <a:cs typeface="Times" panose="02020603050405020304" pitchFamily="18" charset="0"/>
              </a:rPr>
              <a:t> = 29.3 PM</a:t>
            </a:r>
          </a:p>
          <a:p>
            <a:endParaRPr lang="en-US" dirty="0">
              <a:latin typeface="Times" panose="02020603050405020304" pitchFamily="18" charset="0"/>
              <a:cs typeface="Times" panose="02020603050405020304" pitchFamily="18" charset="0"/>
            </a:endParaRPr>
          </a:p>
        </p:txBody>
      </p:sp>
      <p:pic>
        <p:nvPicPr>
          <p:cNvPr id="8" name="Picture 7">
            <a:extLst>
              <a:ext uri="{FF2B5EF4-FFF2-40B4-BE49-F238E27FC236}">
                <a16:creationId xmlns:a16="http://schemas.microsoft.com/office/drawing/2014/main" xmlns="" id="{711DA62D-9011-08AD-7E52-BDD6484D2174}"/>
              </a:ext>
            </a:extLst>
          </p:cNvPr>
          <p:cNvPicPr>
            <a:picLocks noChangeAspect="1"/>
          </p:cNvPicPr>
          <p:nvPr/>
        </p:nvPicPr>
        <p:blipFill>
          <a:blip r:embed="rId2"/>
          <a:stretch>
            <a:fillRect/>
          </a:stretch>
        </p:blipFill>
        <p:spPr>
          <a:xfrm>
            <a:off x="3946071" y="4028440"/>
            <a:ext cx="4740729" cy="2251588"/>
          </a:xfrm>
          <a:prstGeom prst="rect">
            <a:avLst/>
          </a:prstGeom>
        </p:spPr>
      </p:pic>
    </p:spTree>
    <p:extLst>
      <p:ext uri="{BB962C8B-B14F-4D97-AF65-F5344CB8AC3E}">
        <p14:creationId xmlns:p14="http://schemas.microsoft.com/office/powerpoint/2010/main" val="941174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Intermediate Model - Estimation of Effort</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12</a:t>
            </a:fld>
            <a:endParaRPr lang="en-US"/>
          </a:p>
        </p:txBody>
      </p:sp>
      <p:sp>
        <p:nvSpPr>
          <p:cNvPr id="7" name="Date Placeholder 3">
            <a:extLst>
              <a:ext uri="{FF2B5EF4-FFF2-40B4-BE49-F238E27FC236}">
                <a16:creationId xmlns:a16="http://schemas.microsoft.com/office/drawing/2014/main" xmlns=""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TextBox 9">
            <a:extLst>
              <a:ext uri="{FF2B5EF4-FFF2-40B4-BE49-F238E27FC236}">
                <a16:creationId xmlns:a16="http://schemas.microsoft.com/office/drawing/2014/main" xmlns="" id="{64BF8916-3A5C-747D-0F4E-C7CAF421F77D}"/>
              </a:ext>
            </a:extLst>
          </p:cNvPr>
          <p:cNvSpPr txBox="1"/>
          <p:nvPr/>
        </p:nvSpPr>
        <p:spPr>
          <a:xfrm>
            <a:off x="228600" y="1066800"/>
            <a:ext cx="8719218" cy="406265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basic COCOMO model assumes that the effort is only a function of the number of lines of code and some constants evaluated according to the different software systems.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However, in reality, no system’s effort and schedule can be solely calculated on the basis of Lines of Code.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that, various other factors such as reliability, experience, capability.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factors are known as </a:t>
            </a:r>
            <a:r>
              <a:rPr lang="en-US" sz="2000" dirty="0">
                <a:solidFill>
                  <a:srgbClr val="C00000"/>
                </a:solidFill>
                <a:latin typeface="Times New Roman" panose="02020603050405020304" pitchFamily="18" charset="0"/>
                <a:cs typeface="Times New Roman" panose="02020603050405020304" pitchFamily="18" charset="0"/>
              </a:rPr>
              <a:t>Cost Drivers </a:t>
            </a:r>
          </a:p>
          <a:p>
            <a:pPr marL="285750" indent="-285750" algn="just">
              <a:lnSpc>
                <a:spcPct val="150000"/>
              </a:lnSpc>
              <a:buFont typeface="Arial" panose="020B0604020202020204" pitchFamily="34" charset="0"/>
              <a:buChar char="•"/>
            </a:pPr>
            <a:r>
              <a:rPr lang="en-US" sz="2000" dirty="0">
                <a:solidFill>
                  <a:srgbClr val="C00000"/>
                </a:solidFill>
                <a:latin typeface="Times New Roman" panose="02020603050405020304" pitchFamily="18" charset="0"/>
                <a:cs typeface="Times New Roman" panose="02020603050405020304" pitchFamily="18" charset="0"/>
              </a:rPr>
              <a:t>T</a:t>
            </a:r>
            <a:r>
              <a:rPr lang="en-US" sz="2000" dirty="0">
                <a:latin typeface="Times New Roman" panose="02020603050405020304" pitchFamily="18" charset="0"/>
                <a:cs typeface="Times New Roman" panose="02020603050405020304" pitchFamily="18" charset="0"/>
              </a:rPr>
              <a:t>he Intermediate Model utilizes 15 such drivers for cost estimation.</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2512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Intermediate Model - Estimation of Effort</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13</a:t>
            </a:fld>
            <a:endParaRPr lang="en-US"/>
          </a:p>
        </p:txBody>
      </p:sp>
      <p:pic>
        <p:nvPicPr>
          <p:cNvPr id="2050" name="Picture 2">
            <a:extLst>
              <a:ext uri="{FF2B5EF4-FFF2-40B4-BE49-F238E27FC236}">
                <a16:creationId xmlns:a16="http://schemas.microsoft.com/office/drawing/2014/main" xmlns="" id="{B1A2BD06-C5B4-361C-AB03-576C558EBD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 y="861660"/>
            <a:ext cx="8676640" cy="5661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985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Intermediate Model - Estimation of Effort</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14</a:t>
            </a:fld>
            <a:endParaRPr lang="en-US"/>
          </a:p>
        </p:txBody>
      </p:sp>
      <p:pic>
        <p:nvPicPr>
          <p:cNvPr id="3" name="Content Placeholder 4">
            <a:extLst>
              <a:ext uri="{FF2B5EF4-FFF2-40B4-BE49-F238E27FC236}">
                <a16:creationId xmlns:a16="http://schemas.microsoft.com/office/drawing/2014/main" xmlns="" id="{6D6AA721-C47A-C8E0-189F-F4EED56E10EF}"/>
              </a:ext>
            </a:extLst>
          </p:cNvPr>
          <p:cNvPicPr>
            <a:picLocks noGrp="1" noChangeAspect="1"/>
          </p:cNvPicPr>
          <p:nvPr>
            <p:ph idx="1"/>
          </p:nvPr>
        </p:nvPicPr>
        <p:blipFill>
          <a:blip r:embed="rId2"/>
          <a:stretch>
            <a:fillRect/>
          </a:stretch>
        </p:blipFill>
        <p:spPr>
          <a:xfrm>
            <a:off x="284480" y="914040"/>
            <a:ext cx="8593717" cy="5564508"/>
          </a:xfrm>
          <a:prstGeom prst="rect">
            <a:avLst/>
          </a:prstGeom>
        </p:spPr>
      </p:pic>
    </p:spTree>
    <p:extLst>
      <p:ext uri="{BB962C8B-B14F-4D97-AF65-F5344CB8AC3E}">
        <p14:creationId xmlns:p14="http://schemas.microsoft.com/office/powerpoint/2010/main" val="1306187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2800" b="1" dirty="0">
                <a:latin typeface="Times New Roman Bold" panose="02020503050405090304" charset="0"/>
                <a:cs typeface="Times New Roman Bold" panose="02020503050405090304" charset="0"/>
              </a:rPr>
              <a:t>Intermediate Model - Estimation of Effort</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15</a:t>
            </a:fld>
            <a:endParaRPr lang="en-US"/>
          </a:p>
        </p:txBody>
      </p:sp>
      <p:sp>
        <p:nvSpPr>
          <p:cNvPr id="7" name="Date Placeholder 3">
            <a:extLst>
              <a:ext uri="{FF2B5EF4-FFF2-40B4-BE49-F238E27FC236}">
                <a16:creationId xmlns:a16="http://schemas.microsoft.com/office/drawing/2014/main" xmlns=""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TextBox 9">
            <a:extLst>
              <a:ext uri="{FF2B5EF4-FFF2-40B4-BE49-F238E27FC236}">
                <a16:creationId xmlns:a16="http://schemas.microsoft.com/office/drawing/2014/main" xmlns="" id="{64BF8916-3A5C-747D-0F4E-C7CAF421F77D}"/>
              </a:ext>
            </a:extLst>
          </p:cNvPr>
          <p:cNvSpPr txBox="1"/>
          <p:nvPr/>
        </p:nvSpPr>
        <p:spPr>
          <a:xfrm>
            <a:off x="212391" y="937915"/>
            <a:ext cx="8719218" cy="5655394"/>
          </a:xfrm>
          <a:prstGeom prst="rect">
            <a:avLst/>
          </a:prstGeom>
          <a:noFill/>
        </p:spPr>
        <p:txBody>
          <a:bodyPr wrap="square">
            <a:spAutoFit/>
          </a:bodyPr>
          <a:lstStyle/>
          <a:p>
            <a:pPr>
              <a:lnSpc>
                <a:spcPct val="150000"/>
              </a:lnSpc>
            </a:pPr>
            <a:r>
              <a:rPr lang="en-IN" sz="2000" b="1" i="1" u="none" strike="noStrike" dirty="0">
                <a:effectLst/>
                <a:latin typeface="Times New Roman" panose="02020603050405020304" pitchFamily="18" charset="0"/>
                <a:cs typeface="Times New Roman" panose="02020603050405020304" pitchFamily="18" charset="0"/>
              </a:rPr>
              <a:t>Example:</a:t>
            </a:r>
            <a:r>
              <a:rPr lang="en-IN" sz="2000" b="0" i="1" u="none" strike="noStrike" dirty="0">
                <a:effectLst/>
                <a:latin typeface="Times New Roman" panose="02020603050405020304" pitchFamily="18" charset="0"/>
                <a:cs typeface="Times New Roman" panose="02020603050405020304" pitchFamily="18" charset="0"/>
              </a:rPr>
              <a:t> For a given project was estimated with a size of 300 KLOC. Calculate the Effort, Scheduled time for development by considering developer having very high application experience and very low experience in programming.</a:t>
            </a:r>
          </a:p>
          <a:p>
            <a:pPr>
              <a:lnSpc>
                <a:spcPct val="150000"/>
              </a:lnSpc>
            </a:pPr>
            <a:r>
              <a:rPr lang="en-IN" sz="1800" b="1" i="0" u="none" strike="noStrike" dirty="0">
                <a:effectLst/>
                <a:latin typeface="Times New Roman" panose="02020603050405020304" pitchFamily="18" charset="0"/>
                <a:cs typeface="Times New Roman" panose="02020603050405020304" pitchFamily="18" charset="0"/>
              </a:rPr>
              <a:t>Solution:</a:t>
            </a:r>
            <a:endParaRPr lang="en-IN" sz="1800" b="0" i="0" u="none" strike="noStrike" dirty="0">
              <a:effectLst/>
              <a:latin typeface="Times New Roman" panose="02020603050405020304" pitchFamily="18" charset="0"/>
              <a:cs typeface="Times New Roman" panose="02020603050405020304" pitchFamily="18" charset="0"/>
            </a:endParaRPr>
          </a:p>
          <a:p>
            <a:pPr>
              <a:lnSpc>
                <a:spcPct val="150000"/>
              </a:lnSpc>
            </a:pPr>
            <a:r>
              <a:rPr lang="en-IN" sz="1800" b="0" i="0" u="none" strike="noStrike" dirty="0">
                <a:effectLst/>
                <a:latin typeface="Times New Roman" panose="02020603050405020304" pitchFamily="18" charset="0"/>
                <a:cs typeface="Times New Roman" panose="02020603050405020304" pitchFamily="18" charset="0"/>
              </a:rPr>
              <a:t>Given the estimated size of the project is: 300 KLOC</a:t>
            </a:r>
          </a:p>
          <a:p>
            <a:pPr>
              <a:lnSpc>
                <a:spcPct val="150000"/>
              </a:lnSpc>
            </a:pPr>
            <a:endParaRPr lang="en-IN" sz="1100" b="0" i="0" u="none" strike="noStrike" dirty="0">
              <a:effectLst/>
              <a:latin typeface="Times New Roman" panose="02020603050405020304" pitchFamily="18" charset="0"/>
              <a:cs typeface="Times New Roman" panose="02020603050405020304" pitchFamily="18" charset="0"/>
            </a:endParaRPr>
          </a:p>
          <a:p>
            <a:pPr>
              <a:lnSpc>
                <a:spcPct val="150000"/>
              </a:lnSpc>
            </a:pPr>
            <a:r>
              <a:rPr lang="en-IN" sz="1800" b="0" i="0" u="none" strike="noStrike" dirty="0">
                <a:effectLst/>
                <a:latin typeface="Times New Roman" panose="02020603050405020304" pitchFamily="18" charset="0"/>
                <a:cs typeface="Times New Roman" panose="02020603050405020304" pitchFamily="18" charset="0"/>
              </a:rPr>
              <a:t>Developer having highly application experience: 0.82 (as per cost driver table)</a:t>
            </a:r>
            <a:endParaRPr lang="en-IN" sz="1800" dirty="0">
              <a:latin typeface="Times New Roman" panose="02020603050405020304" pitchFamily="18" charset="0"/>
              <a:cs typeface="Times New Roman" panose="02020603050405020304" pitchFamily="18" charset="0"/>
            </a:endParaRPr>
          </a:p>
          <a:p>
            <a:pPr>
              <a:lnSpc>
                <a:spcPct val="150000"/>
              </a:lnSpc>
            </a:pPr>
            <a:endParaRPr lang="en-IN" sz="1100" b="0" i="0" u="none" strike="noStrike" dirty="0">
              <a:effectLst/>
              <a:latin typeface="Times New Roman" panose="02020603050405020304" pitchFamily="18" charset="0"/>
              <a:cs typeface="Times New Roman" panose="02020603050405020304" pitchFamily="18" charset="0"/>
            </a:endParaRPr>
          </a:p>
          <a:p>
            <a:pPr>
              <a:lnSpc>
                <a:spcPct val="150000"/>
              </a:lnSpc>
            </a:pPr>
            <a:r>
              <a:rPr lang="en-IN" sz="1800" b="0" i="0" u="none" strike="noStrike" dirty="0">
                <a:effectLst/>
                <a:latin typeface="Times New Roman" panose="02020603050405020304" pitchFamily="18" charset="0"/>
                <a:cs typeface="Times New Roman" panose="02020603050405020304" pitchFamily="18" charset="0"/>
              </a:rPr>
              <a:t>Developer having very low experience in programming: 1.14 (as per cost driver table)</a:t>
            </a:r>
          </a:p>
          <a:p>
            <a:pPr>
              <a:lnSpc>
                <a:spcPct val="150000"/>
              </a:lnSpc>
            </a:pPr>
            <a:endParaRPr lang="en-IN" sz="1100" b="0" i="0" u="none" strike="noStrike" dirty="0">
              <a:effectLst/>
              <a:latin typeface="Times New Roman" panose="02020603050405020304" pitchFamily="18" charset="0"/>
              <a:cs typeface="Times New Roman" panose="02020603050405020304" pitchFamily="18" charset="0"/>
            </a:endParaRPr>
          </a:p>
          <a:p>
            <a:pPr>
              <a:lnSpc>
                <a:spcPct val="150000"/>
              </a:lnSpc>
            </a:pPr>
            <a:r>
              <a:rPr lang="en-IN" sz="1800" b="1" i="0" u="none" strike="noStrike" dirty="0">
                <a:effectLst/>
                <a:latin typeface="Times New Roman" panose="02020603050405020304" pitchFamily="18" charset="0"/>
                <a:cs typeface="Times New Roman" panose="02020603050405020304" pitchFamily="18" charset="0"/>
              </a:rPr>
              <a:t>EAF</a:t>
            </a:r>
            <a:r>
              <a:rPr lang="en-IN" sz="1800" b="0" i="0" u="none" strike="noStrike" dirty="0">
                <a:effectLst/>
                <a:latin typeface="Times New Roman" panose="02020603050405020304" pitchFamily="18" charset="0"/>
                <a:cs typeface="Times New Roman" panose="02020603050405020304" pitchFamily="18" charset="0"/>
              </a:rPr>
              <a:t> = 0.82×1.14 = 0.9348</a:t>
            </a:r>
          </a:p>
          <a:p>
            <a:pPr>
              <a:lnSpc>
                <a:spcPct val="150000"/>
              </a:lnSpc>
            </a:pPr>
            <a:endParaRPr lang="en-IN" sz="1100" b="0" i="0" u="none" strike="noStrike" dirty="0">
              <a:effectLst/>
              <a:latin typeface="Times New Roman" panose="02020603050405020304" pitchFamily="18" charset="0"/>
              <a:cs typeface="Times New Roman" panose="02020603050405020304" pitchFamily="18" charset="0"/>
            </a:endParaRPr>
          </a:p>
          <a:p>
            <a:pPr>
              <a:lnSpc>
                <a:spcPct val="150000"/>
              </a:lnSpc>
            </a:pPr>
            <a:r>
              <a:rPr lang="en-IN" sz="1800" b="1" i="0" u="none" strike="noStrike" dirty="0">
                <a:effectLst/>
                <a:latin typeface="Times New Roman" panose="02020603050405020304" pitchFamily="18" charset="0"/>
                <a:cs typeface="Times New Roman" panose="02020603050405020304" pitchFamily="18" charset="0"/>
              </a:rPr>
              <a:t>Effort (E)</a:t>
            </a:r>
            <a:r>
              <a:rPr lang="en-IN" sz="1800" b="0" i="0" u="none" strike="noStrike" dirty="0">
                <a:effectLst/>
                <a:latin typeface="Times New Roman" panose="02020603050405020304" pitchFamily="18" charset="0"/>
                <a:cs typeface="Times New Roman" panose="02020603050405020304" pitchFamily="18" charset="0"/>
              </a:rPr>
              <a:t> = a× (KLOC)</a:t>
            </a:r>
            <a:r>
              <a:rPr lang="en-IN" sz="1800" b="0" i="0" u="none" strike="noStrike" baseline="30000" dirty="0">
                <a:effectLst/>
                <a:latin typeface="Times New Roman" panose="02020603050405020304" pitchFamily="18" charset="0"/>
                <a:cs typeface="Times New Roman" panose="02020603050405020304" pitchFamily="18" charset="0"/>
              </a:rPr>
              <a:t>b </a:t>
            </a:r>
            <a:r>
              <a:rPr lang="en-IN" sz="1800" b="0" i="0" u="none" strike="noStrike" dirty="0">
                <a:effectLst/>
                <a:latin typeface="Times New Roman" panose="02020603050405020304" pitchFamily="18" charset="0"/>
                <a:cs typeface="Times New Roman" panose="02020603050405020304" pitchFamily="18" charset="0"/>
              </a:rPr>
              <a:t>×EAF = 3.0× (300)</a:t>
            </a:r>
            <a:r>
              <a:rPr lang="en-IN" sz="1800" b="0" i="0" u="none" strike="noStrike" baseline="30000" dirty="0">
                <a:effectLst/>
                <a:latin typeface="Times New Roman" panose="02020603050405020304" pitchFamily="18" charset="0"/>
                <a:cs typeface="Times New Roman" panose="02020603050405020304" pitchFamily="18" charset="0"/>
              </a:rPr>
              <a:t>1.12 </a:t>
            </a:r>
            <a:r>
              <a:rPr lang="en-IN" sz="1800" b="0" i="0" u="none" strike="noStrike" dirty="0">
                <a:effectLst/>
                <a:latin typeface="Times New Roman" panose="02020603050405020304" pitchFamily="18" charset="0"/>
                <a:cs typeface="Times New Roman" panose="02020603050405020304" pitchFamily="18" charset="0"/>
              </a:rPr>
              <a:t>×0.9348 = 1668.07 MM</a:t>
            </a:r>
          </a:p>
          <a:p>
            <a:pPr>
              <a:lnSpc>
                <a:spcPct val="150000"/>
              </a:lnSpc>
            </a:pPr>
            <a:endParaRPr lang="en-IN" sz="1100" b="0" i="0" u="none" strike="noStrike" dirty="0">
              <a:effectLst/>
              <a:latin typeface="Times New Roman" panose="02020603050405020304" pitchFamily="18" charset="0"/>
              <a:cs typeface="Times New Roman" panose="02020603050405020304" pitchFamily="18" charset="0"/>
            </a:endParaRPr>
          </a:p>
          <a:p>
            <a:pPr>
              <a:lnSpc>
                <a:spcPct val="150000"/>
              </a:lnSpc>
            </a:pPr>
            <a:r>
              <a:rPr lang="en-IN" sz="1800" b="1" i="0" u="none" strike="noStrike" dirty="0">
                <a:effectLst/>
                <a:latin typeface="Times New Roman" panose="02020603050405020304" pitchFamily="18" charset="0"/>
                <a:cs typeface="Times New Roman" panose="02020603050405020304" pitchFamily="18" charset="0"/>
              </a:rPr>
              <a:t>Scheduled Time (D) </a:t>
            </a:r>
            <a:r>
              <a:rPr lang="en-IN" sz="1800" b="0" i="0" u="none" strike="noStrike" dirty="0">
                <a:effectLst/>
                <a:latin typeface="Times New Roman" panose="02020603050405020304" pitchFamily="18" charset="0"/>
                <a:cs typeface="Times New Roman" panose="02020603050405020304" pitchFamily="18" charset="0"/>
              </a:rPr>
              <a:t>= c× (E)</a:t>
            </a:r>
            <a:r>
              <a:rPr lang="en-IN" sz="1800" b="0" i="0" u="none" strike="noStrike" baseline="30000" dirty="0">
                <a:effectLst/>
                <a:latin typeface="Times New Roman" panose="02020603050405020304" pitchFamily="18" charset="0"/>
                <a:cs typeface="Times New Roman" panose="02020603050405020304" pitchFamily="18" charset="0"/>
              </a:rPr>
              <a:t>d</a:t>
            </a:r>
            <a:r>
              <a:rPr lang="en-IN" sz="1800" b="1" i="0" u="none" strike="noStrike" baseline="30000" dirty="0">
                <a:effectLst/>
                <a:latin typeface="Times New Roman" panose="02020603050405020304" pitchFamily="18" charset="0"/>
                <a:cs typeface="Times New Roman" panose="02020603050405020304" pitchFamily="18" charset="0"/>
              </a:rPr>
              <a:t> </a:t>
            </a:r>
            <a:r>
              <a:rPr lang="en-IN" sz="1800" b="0" i="0" u="none" strike="noStrike" dirty="0">
                <a:effectLst/>
                <a:latin typeface="Times New Roman" panose="02020603050405020304" pitchFamily="18" charset="0"/>
                <a:cs typeface="Times New Roman" panose="02020603050405020304" pitchFamily="18" charset="0"/>
              </a:rPr>
              <a:t> = 2.5× (1668.07)</a:t>
            </a:r>
            <a:r>
              <a:rPr lang="en-IN" sz="1800" b="0" i="0" u="none" strike="noStrike" baseline="30000" dirty="0">
                <a:effectLst/>
                <a:latin typeface="Times New Roman" panose="02020603050405020304" pitchFamily="18" charset="0"/>
                <a:cs typeface="Times New Roman" panose="02020603050405020304" pitchFamily="18" charset="0"/>
              </a:rPr>
              <a:t>0.35</a:t>
            </a:r>
            <a:r>
              <a:rPr lang="en-IN" sz="1800" b="0" i="0" u="none" strike="noStrike" dirty="0">
                <a:effectLst/>
                <a:latin typeface="Times New Roman" panose="02020603050405020304" pitchFamily="18" charset="0"/>
                <a:cs typeface="Times New Roman" panose="02020603050405020304" pitchFamily="18" charset="0"/>
              </a:rPr>
              <a:t> = 33.55 Months(M)</a:t>
            </a:r>
          </a:p>
        </p:txBody>
      </p:sp>
    </p:spTree>
    <p:extLst>
      <p:ext uri="{BB962C8B-B14F-4D97-AF65-F5344CB8AC3E}">
        <p14:creationId xmlns:p14="http://schemas.microsoft.com/office/powerpoint/2010/main" val="3530521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268720" cy="914040"/>
          </a:xfrm>
        </p:spPr>
        <p:txBody>
          <a:bodyPr/>
          <a:lstStyle/>
          <a:p>
            <a:pPr algn="l"/>
            <a:r>
              <a:rPr lang="en-US" sz="2800" b="1" dirty="0">
                <a:latin typeface="Times New Roman Bold" panose="02020503050405090304" charset="0"/>
                <a:cs typeface="Times New Roman Bold" panose="02020503050405090304" charset="0"/>
              </a:rPr>
              <a:t>Detailed Model - Estimation of Effort</a:t>
            </a:r>
          </a:p>
        </p:txBody>
      </p:sp>
      <p:sp>
        <p:nvSpPr>
          <p:cNvPr id="6" name="Slide Number Placeholder 5"/>
          <p:cNvSpPr>
            <a:spLocks noGrp="1"/>
          </p:cNvSpPr>
          <p:nvPr>
            <p:ph type="sldNum" sz="quarter" idx="12"/>
          </p:nvPr>
        </p:nvSpPr>
        <p:spPr>
          <a:xfrm>
            <a:off x="6553200" y="6629400"/>
            <a:ext cx="2133600" cy="178955"/>
          </a:xfrm>
          <a:prstGeom prst="rect">
            <a:avLst/>
          </a:prstGeom>
        </p:spPr>
        <p:txBody>
          <a:bodyPr vert="horz" wrap="square" lIns="91440" tIns="45720" rIns="91440" bIns="45720" numCol="1" anchor="ctr" anchorCtr="0" compatLnSpc="1"/>
          <a:lstStyle>
            <a:defPPr>
              <a:defRPr lang="en-US"/>
            </a:defPPr>
            <a:lvl1pPr algn="r"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8BD8F058-9003-4658-AA47-7D4800AF7EA2}" type="slidenum">
              <a:rPr lang="en-US" smtClean="0"/>
              <a:pPr/>
              <a:t>16</a:t>
            </a:fld>
            <a:endParaRPr lang="en-US"/>
          </a:p>
        </p:txBody>
      </p:sp>
      <p:sp>
        <p:nvSpPr>
          <p:cNvPr id="7" name="Date Placeholder 3">
            <a:extLst>
              <a:ext uri="{FF2B5EF4-FFF2-40B4-BE49-F238E27FC236}">
                <a16:creationId xmlns:a16="http://schemas.microsoft.com/office/drawing/2014/main" xmlns="" id="{FAA57292-450D-AA4B-3F8D-EAFF97EB5970}"/>
              </a:ext>
            </a:extLst>
          </p:cNvPr>
          <p:cNvSpPr>
            <a:spLocks noGrp="1"/>
          </p:cNvSpPr>
          <p:nvPr>
            <p:ph type="dt" sz="half" idx="10"/>
          </p:nvPr>
        </p:nvSpPr>
        <p:spPr>
          <a:xfrm>
            <a:off x="152400" y="6629400"/>
            <a:ext cx="2286000" cy="178954"/>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chemeClr val="bg1"/>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10" name="TextBox 9">
            <a:extLst>
              <a:ext uri="{FF2B5EF4-FFF2-40B4-BE49-F238E27FC236}">
                <a16:creationId xmlns:a16="http://schemas.microsoft.com/office/drawing/2014/main" xmlns="" id="{64BF8916-3A5C-747D-0F4E-C7CAF421F77D}"/>
              </a:ext>
            </a:extLst>
          </p:cNvPr>
          <p:cNvSpPr txBox="1"/>
          <p:nvPr/>
        </p:nvSpPr>
        <p:spPr>
          <a:xfrm>
            <a:off x="212391" y="937915"/>
            <a:ext cx="8719218" cy="5362815"/>
          </a:xfrm>
          <a:prstGeom prst="rect">
            <a:avLst/>
          </a:prstGeom>
          <a:noFill/>
        </p:spPr>
        <p:txBody>
          <a:bodyPr wrap="square">
            <a:spAutoFit/>
          </a:bodyPr>
          <a:lstStyle/>
          <a:p>
            <a:pPr marL="285750" indent="-285750" algn="just" fontAlgn="base">
              <a:lnSpc>
                <a:spcPct val="150000"/>
              </a:lnSpc>
              <a:buFont typeface="Arial" panose="020B0604020202020204" pitchFamily="34" charset="0"/>
              <a:buChar char="•"/>
            </a:pPr>
            <a:r>
              <a:rPr lang="en-IN" sz="1800" b="0" i="0" u="none" strike="noStrike" dirty="0">
                <a:effectLst/>
                <a:latin typeface="Times New Roman" panose="02020603050405020304" pitchFamily="18" charset="0"/>
                <a:cs typeface="Times New Roman" panose="02020603050405020304" pitchFamily="18" charset="0"/>
              </a:rPr>
              <a:t>Detailed COCOMO incorporates all characteristics of the intermediate version with an assessment of the cost driver’s impact on each step of the software engineering process.</a:t>
            </a:r>
          </a:p>
          <a:p>
            <a:pPr marL="285750" indent="-285750" algn="just" fontAlgn="base">
              <a:lnSpc>
                <a:spcPct val="150000"/>
              </a:lnSpc>
              <a:buFont typeface="Arial" panose="020B0604020202020204" pitchFamily="34" charset="0"/>
              <a:buChar char="•"/>
            </a:pPr>
            <a:r>
              <a:rPr lang="en-IN" sz="1800" b="0" i="0" u="none" strike="noStrike" dirty="0">
                <a:effectLst/>
                <a:latin typeface="Times New Roman" panose="02020603050405020304" pitchFamily="18" charset="0"/>
                <a:cs typeface="Times New Roman" panose="02020603050405020304" pitchFamily="18" charset="0"/>
              </a:rPr>
              <a:t>The detailed model uses different effort multipliers for each cost driver attribute. </a:t>
            </a:r>
          </a:p>
          <a:p>
            <a:pPr marL="285750" indent="-285750" algn="just" fontAlgn="base">
              <a:lnSpc>
                <a:spcPct val="150000"/>
              </a:lnSpc>
              <a:buFont typeface="Arial" panose="020B0604020202020204" pitchFamily="34" charset="0"/>
              <a:buChar char="•"/>
            </a:pPr>
            <a:r>
              <a:rPr lang="en-IN" sz="1800" b="0" i="0" u="none" strike="noStrike" dirty="0">
                <a:effectLst/>
                <a:latin typeface="Times New Roman" panose="02020603050405020304" pitchFamily="18" charset="0"/>
                <a:cs typeface="Times New Roman" panose="02020603050405020304" pitchFamily="18" charset="0"/>
              </a:rPr>
              <a:t>In detailed COCOMO, the whole software is divided into different modules and then we apply COCOMO in different modules to estimate effort and then sum the effort.</a:t>
            </a:r>
          </a:p>
          <a:p>
            <a:pPr marL="285750" indent="-285750" algn="just" fontAlgn="base">
              <a:lnSpc>
                <a:spcPct val="150000"/>
              </a:lnSpc>
              <a:buFont typeface="Arial" panose="020B0604020202020204" pitchFamily="34" charset="0"/>
              <a:buChar char="•"/>
            </a:pPr>
            <a:r>
              <a:rPr lang="en-IN" sz="1800" b="0" i="0" u="none" strike="noStrike" dirty="0">
                <a:effectLst/>
                <a:latin typeface="Times New Roman" panose="02020603050405020304" pitchFamily="18" charset="0"/>
                <a:cs typeface="Times New Roman" panose="02020603050405020304" pitchFamily="18" charset="0"/>
              </a:rPr>
              <a:t>The Six phases of detailed COCOMO are:</a:t>
            </a:r>
          </a:p>
          <a:p>
            <a:pPr lvl="1" algn="just">
              <a:lnSpc>
                <a:spcPct val="150000"/>
              </a:lnSpc>
              <a:buFont typeface="+mj-lt"/>
              <a:buAutoNum type="arabicPeriod"/>
            </a:pPr>
            <a:r>
              <a:rPr lang="en-IN" sz="1800" b="0" i="0" u="none" strike="noStrike" dirty="0">
                <a:effectLst/>
                <a:latin typeface="Times New Roman" panose="02020603050405020304" pitchFamily="18" charset="0"/>
                <a:cs typeface="Times New Roman" panose="02020603050405020304" pitchFamily="18" charset="0"/>
              </a:rPr>
              <a:t> Planning and requirements</a:t>
            </a:r>
          </a:p>
          <a:p>
            <a:pPr lvl="1" algn="just">
              <a:lnSpc>
                <a:spcPct val="150000"/>
              </a:lnSpc>
              <a:buFont typeface="+mj-lt"/>
              <a:buAutoNum type="arabicPeriod"/>
            </a:pPr>
            <a:r>
              <a:rPr lang="en-IN" sz="1800" b="0" i="0" u="none" strike="noStrike" dirty="0">
                <a:effectLst/>
                <a:latin typeface="Times New Roman" panose="02020603050405020304" pitchFamily="18" charset="0"/>
                <a:cs typeface="Times New Roman" panose="02020603050405020304" pitchFamily="18" charset="0"/>
              </a:rPr>
              <a:t> System design</a:t>
            </a:r>
          </a:p>
          <a:p>
            <a:pPr lvl="1" algn="just">
              <a:lnSpc>
                <a:spcPct val="150000"/>
              </a:lnSpc>
              <a:buFont typeface="+mj-lt"/>
              <a:buAutoNum type="arabicPeriod"/>
            </a:pPr>
            <a:r>
              <a:rPr lang="en-IN" sz="1800" b="0" i="0" u="none" strike="noStrike" dirty="0">
                <a:effectLst/>
                <a:latin typeface="Times New Roman" panose="02020603050405020304" pitchFamily="18" charset="0"/>
                <a:cs typeface="Times New Roman" panose="02020603050405020304" pitchFamily="18" charset="0"/>
              </a:rPr>
              <a:t> Detailed design</a:t>
            </a:r>
          </a:p>
          <a:p>
            <a:pPr lvl="1" algn="just">
              <a:lnSpc>
                <a:spcPct val="150000"/>
              </a:lnSpc>
              <a:buFont typeface="+mj-lt"/>
              <a:buAutoNum type="arabicPeriod"/>
            </a:pPr>
            <a:r>
              <a:rPr lang="en-IN" sz="1800" b="0" i="0" u="none" strike="noStrike" dirty="0">
                <a:effectLst/>
                <a:latin typeface="Times New Roman" panose="02020603050405020304" pitchFamily="18" charset="0"/>
                <a:cs typeface="Times New Roman" panose="02020603050405020304" pitchFamily="18" charset="0"/>
              </a:rPr>
              <a:t> Module code and test</a:t>
            </a:r>
          </a:p>
          <a:p>
            <a:pPr lvl="1" algn="just">
              <a:lnSpc>
                <a:spcPct val="150000"/>
              </a:lnSpc>
              <a:buFont typeface="+mj-lt"/>
              <a:buAutoNum type="arabicPeriod"/>
            </a:pPr>
            <a:r>
              <a:rPr lang="en-IN" sz="1800" b="0" i="0" u="none" strike="noStrike" dirty="0">
                <a:effectLst/>
                <a:latin typeface="Times New Roman" panose="02020603050405020304" pitchFamily="18" charset="0"/>
                <a:cs typeface="Times New Roman" panose="02020603050405020304" pitchFamily="18" charset="0"/>
              </a:rPr>
              <a:t> Integration and test</a:t>
            </a:r>
          </a:p>
          <a:p>
            <a:pPr lvl="1" algn="just">
              <a:lnSpc>
                <a:spcPct val="150000"/>
              </a:lnSpc>
              <a:buFont typeface="+mj-lt"/>
              <a:buAutoNum type="arabicPeriod"/>
            </a:pPr>
            <a:r>
              <a:rPr lang="en-IN" sz="1800" b="0" i="0" u="none" strike="noStrike" dirty="0">
                <a:effectLst/>
                <a:latin typeface="Times New Roman" panose="02020603050405020304" pitchFamily="18" charset="0"/>
                <a:cs typeface="Times New Roman" panose="02020603050405020304" pitchFamily="18" charset="0"/>
              </a:rPr>
              <a:t> Cost Constructive model</a:t>
            </a:r>
          </a:p>
          <a:p>
            <a:pPr algn="just">
              <a:lnSpc>
                <a:spcPct val="150000"/>
              </a:lnSpc>
            </a:pPr>
            <a:endParaRPr lang="en-IN" b="0" i="1" u="none" strike="noStrike"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5721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21120" cy="914040"/>
          </a:xfrm>
        </p:spPr>
        <p:txBody>
          <a:bodyPr/>
          <a:lstStyle/>
          <a:p>
            <a:r>
              <a:rPr b="1" dirty="0"/>
              <a:t>Estimation of Object-Oriented Projects</a:t>
            </a:r>
          </a:p>
        </p:txBody>
      </p:sp>
      <p:sp>
        <p:nvSpPr>
          <p:cNvPr id="3" name="Content Placeholder 2"/>
          <p:cNvSpPr>
            <a:spLocks noGrp="1"/>
          </p:cNvSpPr>
          <p:nvPr>
            <p:ph idx="1"/>
          </p:nvPr>
        </p:nvSpPr>
        <p:spPr>
          <a:xfrm>
            <a:off x="284480" y="1035560"/>
            <a:ext cx="8229240" cy="5527800"/>
          </a:xfrm>
        </p:spPr>
        <p:txBody>
          <a:bodyPr>
            <a:normAutofit/>
          </a:bodyPr>
          <a:lstStyle/>
          <a:p>
            <a:pPr marL="114300" indent="0" algn="just">
              <a:buNone/>
            </a:pPr>
            <a:r>
              <a:rPr lang="en-US" sz="2000" dirty="0">
                <a:latin typeface="Times New Roman" panose="02020603050405020304" pitchFamily="18" charset="0"/>
                <a:cs typeface="Times New Roman" panose="02020603050405020304" pitchFamily="18" charset="0"/>
              </a:rPr>
              <a:t>Object-oriented (OO) software estimation involves additional complexity due to the modular and reusable nature of objects. Standard estimation methods include:</a:t>
            </a:r>
          </a:p>
          <a:p>
            <a:pPr marL="114300" indent="0" algn="just">
              <a:buNone/>
            </a:pPr>
            <a:endParaRPr lang="en-US" sz="2000" dirty="0" smtClean="0">
              <a:latin typeface="Times New Roman" panose="02020603050405020304" pitchFamily="18" charset="0"/>
              <a:cs typeface="Times New Roman" panose="02020603050405020304" pitchFamily="18" charset="0"/>
            </a:endParaRPr>
          </a:p>
          <a:p>
            <a:pPr marL="114300" indent="0" algn="just">
              <a:buNone/>
            </a:pPr>
            <a:r>
              <a:rPr sz="2000" dirty="0" smtClean="0">
                <a:latin typeface="Times New Roman" panose="02020603050405020304" pitchFamily="18" charset="0"/>
                <a:cs typeface="Times New Roman" panose="02020603050405020304" pitchFamily="18" charset="0"/>
              </a:rPr>
              <a:t>Approaches</a:t>
            </a:r>
            <a:r>
              <a:rPr sz="2000" dirty="0">
                <a:latin typeface="Times New Roman" panose="02020603050405020304" pitchFamily="18" charset="0"/>
                <a:cs typeface="Times New Roman" panose="02020603050405020304" pitchFamily="18" charset="0"/>
              </a:rPr>
              <a:t>:</a:t>
            </a:r>
          </a:p>
          <a:p>
            <a:pPr algn="just"/>
            <a:r>
              <a:rPr lang="en-US" sz="2000" b="1" dirty="0">
                <a:latin typeface="Times New Roman" panose="02020603050405020304" pitchFamily="18" charset="0"/>
                <a:cs typeface="Times New Roman" panose="02020603050405020304" pitchFamily="18" charset="0"/>
              </a:rPr>
              <a:t>Object Points</a:t>
            </a:r>
            <a:r>
              <a:rPr lang="en-US" sz="2000" dirty="0">
                <a:latin typeface="Times New Roman" panose="02020603050405020304" pitchFamily="18" charset="0"/>
                <a:cs typeface="Times New Roman" panose="02020603050405020304" pitchFamily="18" charset="0"/>
              </a:rPr>
              <a:t> – Counts screens, reports, and third-party components.</a:t>
            </a:r>
          </a:p>
          <a:p>
            <a:pPr algn="just"/>
            <a:r>
              <a:rPr lang="en-US" sz="2000" b="1" dirty="0">
                <a:latin typeface="Times New Roman" panose="02020603050405020304" pitchFamily="18" charset="0"/>
                <a:cs typeface="Times New Roman" panose="02020603050405020304" pitchFamily="18" charset="0"/>
              </a:rPr>
              <a:t>Use Case Points (UCP)</a:t>
            </a:r>
            <a:r>
              <a:rPr lang="en-US" sz="2000" dirty="0">
                <a:latin typeface="Times New Roman" panose="02020603050405020304" pitchFamily="18" charset="0"/>
                <a:cs typeface="Times New Roman" panose="02020603050405020304" pitchFamily="18" charset="0"/>
              </a:rPr>
              <a:t> – Estimates based on the complexity and number of use cases.</a:t>
            </a:r>
          </a:p>
          <a:p>
            <a:pPr algn="just"/>
            <a:r>
              <a:rPr lang="en-US" sz="2000" b="1" dirty="0">
                <a:latin typeface="Times New Roman" panose="02020603050405020304" pitchFamily="18" charset="0"/>
                <a:cs typeface="Times New Roman" panose="02020603050405020304" pitchFamily="18" charset="0"/>
              </a:rPr>
              <a:t>Class Point</a:t>
            </a:r>
            <a:r>
              <a:rPr lang="en-US" sz="2000" dirty="0">
                <a:latin typeface="Times New Roman" panose="02020603050405020304" pitchFamily="18" charset="0"/>
                <a:cs typeface="Times New Roman" panose="02020603050405020304" pitchFamily="18" charset="0"/>
              </a:rPr>
              <a:t> – Estimates based on the number of classes and their complexity.</a:t>
            </a:r>
          </a:p>
        </p:txBody>
      </p:sp>
    </p:spTree>
    <p:extLst>
      <p:ext uri="{BB962C8B-B14F-4D97-AF65-F5344CB8AC3E}">
        <p14:creationId xmlns:p14="http://schemas.microsoft.com/office/powerpoint/2010/main" val="3235712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Use Case Point Estimation</a:t>
            </a:r>
          </a:p>
        </p:txBody>
      </p:sp>
      <p:sp>
        <p:nvSpPr>
          <p:cNvPr id="3" name="Content Placeholder 2"/>
          <p:cNvSpPr>
            <a:spLocks noGrp="1"/>
          </p:cNvSpPr>
          <p:nvPr>
            <p:ph idx="1"/>
          </p:nvPr>
        </p:nvSpPr>
        <p:spPr>
          <a:xfrm>
            <a:off x="457200" y="1137920"/>
            <a:ext cx="8229240" cy="5293360"/>
          </a:xfrm>
        </p:spPr>
        <p:txBody>
          <a:bodyPr>
            <a:normAutofit/>
          </a:bodyPr>
          <a:lstStyle/>
          <a:p>
            <a:r>
              <a:rPr lang="en-US" sz="1800" b="1" dirty="0">
                <a:latin typeface="Times New Roman" panose="02020603050405020304" pitchFamily="18" charset="0"/>
                <a:cs typeface="Times New Roman" panose="02020603050405020304" pitchFamily="18" charset="0"/>
              </a:rPr>
              <a:t>Unadjusted Use Case Weight (UUCW)</a:t>
            </a:r>
            <a:r>
              <a:rPr lang="en-US" sz="1800" dirty="0">
                <a:latin typeface="Times New Roman" panose="02020603050405020304" pitchFamily="18" charset="0"/>
                <a:cs typeface="Times New Roman" panose="02020603050405020304" pitchFamily="18" charset="0"/>
              </a:rPr>
              <a:t>: Sum of the complexity weights for all use cases.</a:t>
            </a:r>
          </a:p>
          <a:p>
            <a:r>
              <a:rPr lang="en-US" sz="1800" b="1" dirty="0">
                <a:latin typeface="Times New Roman" panose="02020603050405020304" pitchFamily="18" charset="0"/>
                <a:cs typeface="Times New Roman" panose="02020603050405020304" pitchFamily="18" charset="0"/>
              </a:rPr>
              <a:t>Unadjusted Actor Weight (UAW)</a:t>
            </a:r>
            <a:r>
              <a:rPr lang="en-US" sz="1800" dirty="0">
                <a:latin typeface="Times New Roman" panose="02020603050405020304" pitchFamily="18" charset="0"/>
                <a:cs typeface="Times New Roman" panose="02020603050405020304" pitchFamily="18" charset="0"/>
              </a:rPr>
              <a:t>: Sum of actor complexity weights.</a:t>
            </a:r>
          </a:p>
          <a:p>
            <a:r>
              <a:rPr lang="en-US" sz="1800" b="1" dirty="0">
                <a:latin typeface="Times New Roman" panose="02020603050405020304" pitchFamily="18" charset="0"/>
                <a:cs typeface="Times New Roman" panose="02020603050405020304" pitchFamily="18" charset="0"/>
              </a:rPr>
              <a:t>Technical Complexity Factor (TCF)</a:t>
            </a:r>
            <a:r>
              <a:rPr lang="en-US" sz="1800" dirty="0">
                <a:latin typeface="Times New Roman" panose="02020603050405020304" pitchFamily="18" charset="0"/>
                <a:cs typeface="Times New Roman" panose="02020603050405020304" pitchFamily="18" charset="0"/>
              </a:rPr>
              <a:t>: Adjusts effort based on technical challenges.</a:t>
            </a:r>
          </a:p>
          <a:p>
            <a:r>
              <a:rPr lang="en-US" sz="1800" b="1" dirty="0">
                <a:latin typeface="Times New Roman" panose="02020603050405020304" pitchFamily="18" charset="0"/>
                <a:cs typeface="Times New Roman" panose="02020603050405020304" pitchFamily="18" charset="0"/>
              </a:rPr>
              <a:t>Environmental Factor (EF)</a:t>
            </a:r>
            <a:r>
              <a:rPr lang="en-US" sz="1800" dirty="0">
                <a:latin typeface="Times New Roman" panose="02020603050405020304" pitchFamily="18" charset="0"/>
                <a:cs typeface="Times New Roman" panose="02020603050405020304" pitchFamily="18" charset="0"/>
              </a:rPr>
              <a:t>: Considers team skills and tools.</a:t>
            </a:r>
          </a:p>
          <a:p>
            <a:pPr marL="114300" indent="0">
              <a:buNone/>
            </a:pPr>
            <a:endParaRPr lang="en-US" sz="1800" dirty="0" smtClean="0">
              <a:latin typeface="Times New Roman" panose="02020603050405020304" pitchFamily="18" charset="0"/>
              <a:cs typeface="Times New Roman" panose="02020603050405020304" pitchFamily="18" charset="0"/>
            </a:endParaRPr>
          </a:p>
          <a:p>
            <a:pPr marL="114300" indent="0">
              <a:buNone/>
            </a:pPr>
            <a:r>
              <a:rPr sz="1800" dirty="0" smtClean="0">
                <a:latin typeface="Times New Roman" panose="02020603050405020304" pitchFamily="18" charset="0"/>
                <a:cs typeface="Times New Roman" panose="02020603050405020304" pitchFamily="18" charset="0"/>
              </a:rPr>
              <a:t>Effort </a:t>
            </a:r>
            <a:r>
              <a:rPr sz="1800" dirty="0">
                <a:latin typeface="Times New Roman" panose="02020603050405020304" pitchFamily="18" charset="0"/>
                <a:cs typeface="Times New Roman" panose="02020603050405020304" pitchFamily="18" charset="0"/>
              </a:rPr>
              <a:t>Calculation Formula:</a:t>
            </a:r>
          </a:p>
          <a:p>
            <a:pPr marL="114300" indent="0">
              <a:buNone/>
            </a:pPr>
            <a:r>
              <a:rPr lang="en-US" sz="1800" b="1" dirty="0" smtClean="0">
                <a:latin typeface="Times New Roman" panose="02020603050405020304" pitchFamily="18" charset="0"/>
                <a:cs typeface="Times New Roman" panose="02020603050405020304" pitchFamily="18" charset="0"/>
              </a:rPr>
              <a:t>                                        </a:t>
            </a:r>
            <a:r>
              <a:rPr sz="1800" b="1" dirty="0" smtClean="0">
                <a:latin typeface="Times New Roman" panose="02020603050405020304" pitchFamily="18" charset="0"/>
                <a:cs typeface="Times New Roman" panose="02020603050405020304" pitchFamily="18" charset="0"/>
              </a:rPr>
              <a:t>Effort </a:t>
            </a:r>
            <a:r>
              <a:rPr sz="1800" b="1" dirty="0">
                <a:latin typeface="Times New Roman" panose="02020603050405020304" pitchFamily="18" charset="0"/>
                <a:cs typeface="Times New Roman" panose="02020603050405020304" pitchFamily="18" charset="0"/>
              </a:rPr>
              <a:t>(PM) = (UUCW + UAW) × TCF × EF</a:t>
            </a:r>
          </a:p>
          <a:p>
            <a:r>
              <a:rPr sz="1800" dirty="0">
                <a:latin typeface="Times New Roman" panose="02020603050405020304" pitchFamily="18" charset="0"/>
                <a:cs typeface="Times New Roman" panose="02020603050405020304" pitchFamily="18" charset="0"/>
              </a:rPr>
              <a:t>Components:</a:t>
            </a:r>
          </a:p>
          <a:p>
            <a:pPr marL="630238" indent="-173038"/>
            <a:r>
              <a:rPr sz="1800" dirty="0" smtClean="0">
                <a:latin typeface="Times New Roman" panose="02020603050405020304" pitchFamily="18" charset="0"/>
                <a:cs typeface="Times New Roman" panose="02020603050405020304" pitchFamily="18" charset="0"/>
              </a:rPr>
              <a:t>UUCW</a:t>
            </a:r>
            <a:r>
              <a:rPr sz="1800" dirty="0">
                <a:latin typeface="Times New Roman" panose="02020603050405020304" pitchFamily="18" charset="0"/>
                <a:cs typeface="Times New Roman" panose="02020603050405020304" pitchFamily="18" charset="0"/>
              </a:rPr>
              <a:t>: Unadjusted Use Case Weight</a:t>
            </a:r>
          </a:p>
          <a:p>
            <a:pPr marL="630238" indent="-173038"/>
            <a:r>
              <a:rPr sz="1800" dirty="0" smtClean="0">
                <a:latin typeface="Times New Roman" panose="02020603050405020304" pitchFamily="18" charset="0"/>
                <a:cs typeface="Times New Roman" panose="02020603050405020304" pitchFamily="18" charset="0"/>
              </a:rPr>
              <a:t>UAW</a:t>
            </a:r>
            <a:r>
              <a:rPr sz="1800" dirty="0">
                <a:latin typeface="Times New Roman" panose="02020603050405020304" pitchFamily="18" charset="0"/>
                <a:cs typeface="Times New Roman" panose="02020603050405020304" pitchFamily="18" charset="0"/>
              </a:rPr>
              <a:t>: Unadjusted Actor Weight</a:t>
            </a:r>
          </a:p>
          <a:p>
            <a:pPr marL="630238" indent="-173038"/>
            <a:r>
              <a:rPr sz="1800" dirty="0" smtClean="0">
                <a:latin typeface="Times New Roman" panose="02020603050405020304" pitchFamily="18" charset="0"/>
                <a:cs typeface="Times New Roman" panose="02020603050405020304" pitchFamily="18" charset="0"/>
              </a:rPr>
              <a:t>TCF</a:t>
            </a:r>
            <a:r>
              <a:rPr sz="1800" dirty="0">
                <a:latin typeface="Times New Roman" panose="02020603050405020304" pitchFamily="18" charset="0"/>
                <a:cs typeface="Times New Roman" panose="02020603050405020304" pitchFamily="18" charset="0"/>
              </a:rPr>
              <a:t>: Technical Complexity Factor</a:t>
            </a:r>
          </a:p>
          <a:p>
            <a:pPr marL="630238" indent="-173038"/>
            <a:r>
              <a:rPr sz="1800" dirty="0" smtClean="0">
                <a:latin typeface="Times New Roman" panose="02020603050405020304" pitchFamily="18" charset="0"/>
                <a:cs typeface="Times New Roman" panose="02020603050405020304" pitchFamily="18" charset="0"/>
              </a:rPr>
              <a:t>EF</a:t>
            </a:r>
            <a:r>
              <a:rPr sz="1800" dirty="0">
                <a:latin typeface="Times New Roman" panose="02020603050405020304" pitchFamily="18" charset="0"/>
                <a:cs typeface="Times New Roman" panose="02020603050405020304" pitchFamily="18" charset="0"/>
              </a:rPr>
              <a:t>: Environmental Factor</a:t>
            </a:r>
          </a:p>
        </p:txBody>
      </p:sp>
    </p:spTree>
    <p:extLst>
      <p:ext uri="{BB962C8B-B14F-4D97-AF65-F5344CB8AC3E}">
        <p14:creationId xmlns:p14="http://schemas.microsoft.com/office/powerpoint/2010/main" val="1908254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Class Point Estimation</a:t>
            </a:r>
          </a:p>
        </p:txBody>
      </p:sp>
      <p:sp>
        <p:nvSpPr>
          <p:cNvPr id="3" name="Content Placeholder 2"/>
          <p:cNvSpPr>
            <a:spLocks noGrp="1"/>
          </p:cNvSpPr>
          <p:nvPr>
            <p:ph idx="1"/>
          </p:nvPr>
        </p:nvSpPr>
        <p:spPr>
          <a:xfrm>
            <a:off x="314960" y="1259080"/>
            <a:ext cx="8229240" cy="3977280"/>
          </a:xfrm>
        </p:spPr>
        <p:txBody>
          <a:bodyPr>
            <a:normAutofit/>
          </a:bodyPr>
          <a:lstStyle/>
          <a:p>
            <a:r>
              <a:rPr sz="2000" dirty="0">
                <a:latin typeface="Times New Roman" panose="02020603050405020304" pitchFamily="18" charset="0"/>
                <a:cs typeface="Times New Roman" panose="02020603050405020304" pitchFamily="18" charset="0"/>
              </a:rPr>
              <a:t>Class Complexity: Simple, Medium, Complex</a:t>
            </a:r>
          </a:p>
          <a:p>
            <a:r>
              <a:rPr sz="2000" dirty="0">
                <a:latin typeface="Times New Roman" panose="02020603050405020304" pitchFamily="18" charset="0"/>
                <a:cs typeface="Times New Roman" panose="02020603050405020304" pitchFamily="18" charset="0"/>
              </a:rPr>
              <a:t>Weight Assignment: Apply effort weights</a:t>
            </a:r>
          </a:p>
          <a:p>
            <a:r>
              <a:rPr sz="2000" dirty="0">
                <a:latin typeface="Times New Roman" panose="02020603050405020304" pitchFamily="18" charset="0"/>
                <a:cs typeface="Times New Roman" panose="02020603050405020304" pitchFamily="18" charset="0"/>
              </a:rPr>
              <a:t>Effort Calculation: Sum of class weights adjusted by complexity factors</a:t>
            </a:r>
          </a:p>
        </p:txBody>
      </p:sp>
      <p:sp>
        <p:nvSpPr>
          <p:cNvPr id="4" name="Rectangle 3"/>
          <p:cNvSpPr/>
          <p:nvPr/>
        </p:nvSpPr>
        <p:spPr>
          <a:xfrm>
            <a:off x="314960" y="3247720"/>
            <a:ext cx="8412480" cy="2246769"/>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Challenges in OO </a:t>
            </a:r>
            <a:r>
              <a:rPr lang="en-US" sz="2000" b="1" dirty="0" smtClean="0">
                <a:latin typeface="Times New Roman" panose="02020603050405020304" pitchFamily="18" charset="0"/>
                <a:cs typeface="Times New Roman" panose="02020603050405020304" pitchFamily="18" charset="0"/>
              </a:rPr>
              <a:t>Estimation</a:t>
            </a:r>
          </a:p>
          <a:p>
            <a:pPr algn="just"/>
            <a:endParaRPr lang="en-US"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Inheritance &amp; Reusability</a:t>
            </a:r>
            <a:r>
              <a:rPr lang="en-US" sz="2000" dirty="0">
                <a:latin typeface="Times New Roman" panose="02020603050405020304" pitchFamily="18" charset="0"/>
                <a:cs typeface="Times New Roman" panose="02020603050405020304" pitchFamily="18" charset="0"/>
              </a:rPr>
              <a:t> – Difficult to quantify reusable components.</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Dynamic Behavior</a:t>
            </a:r>
            <a:r>
              <a:rPr lang="en-US" sz="2000" dirty="0">
                <a:latin typeface="Times New Roman" panose="02020603050405020304" pitchFamily="18" charset="0"/>
                <a:cs typeface="Times New Roman" panose="02020603050405020304" pitchFamily="18" charset="0"/>
              </a:rPr>
              <a:t> – Hard to capture due to polymorphism and dynamic binding.</a:t>
            </a: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Component Interaction</a:t>
            </a:r>
            <a:r>
              <a:rPr lang="en-US" sz="2000" dirty="0">
                <a:latin typeface="Times New Roman" panose="02020603050405020304" pitchFamily="18" charset="0"/>
                <a:cs typeface="Times New Roman" panose="02020603050405020304" pitchFamily="18" charset="0"/>
              </a:rPr>
              <a:t> – Increased complexity in estimating component dependencies.</a:t>
            </a:r>
          </a:p>
        </p:txBody>
      </p:sp>
    </p:spTree>
    <p:extLst>
      <p:ext uri="{BB962C8B-B14F-4D97-AF65-F5344CB8AC3E}">
        <p14:creationId xmlns:p14="http://schemas.microsoft.com/office/powerpoint/2010/main" val="999355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299200" cy="914040"/>
          </a:xfrm>
        </p:spPr>
        <p:txBody>
          <a:bodyPr/>
          <a:lstStyle/>
          <a:p>
            <a:r>
              <a:rPr b="1" dirty="0"/>
              <a:t>Comparison</a:t>
            </a:r>
            <a:r>
              <a:rPr sz="2400" b="1" dirty="0"/>
              <a:t>: COCOMO vs OO Estimation</a:t>
            </a:r>
          </a:p>
        </p:txBody>
      </p:sp>
      <p:graphicFrame>
        <p:nvGraphicFramePr>
          <p:cNvPr id="4" name="Table 3"/>
          <p:cNvGraphicFramePr>
            <a:graphicFrameLocks noGrp="1"/>
          </p:cNvGraphicFramePr>
          <p:nvPr>
            <p:extLst>
              <p:ext uri="{D42A27DB-BD31-4B8C-83A1-F6EECF244321}">
                <p14:modId xmlns:p14="http://schemas.microsoft.com/office/powerpoint/2010/main" val="1097372412"/>
              </p:ext>
            </p:extLst>
          </p:nvPr>
        </p:nvGraphicFramePr>
        <p:xfrm>
          <a:off x="650238" y="1422400"/>
          <a:ext cx="7599681" cy="4368799"/>
        </p:xfrm>
        <a:graphic>
          <a:graphicData uri="http://schemas.openxmlformats.org/drawingml/2006/table">
            <a:tbl>
              <a:tblPr firstRow="1" bandRow="1">
                <a:tableStyleId>{866D8C4D-A2DB-48BA-B2CD-EECFE764FD55}</a:tableStyleId>
              </a:tblPr>
              <a:tblGrid>
                <a:gridCol w="2533227"/>
                <a:gridCol w="2533227"/>
                <a:gridCol w="2533227"/>
              </a:tblGrid>
              <a:tr h="789571">
                <a:tc>
                  <a:txBody>
                    <a:bodyPr/>
                    <a:lstStyle/>
                    <a:p>
                      <a:r>
                        <a:rPr lang="en-US" sz="1600" b="1" dirty="0">
                          <a:latin typeface="Times New Roman" panose="02020603050405020304" pitchFamily="18" charset="0"/>
                          <a:cs typeface="Times New Roman" panose="02020603050405020304" pitchFamily="18" charset="0"/>
                        </a:rPr>
                        <a:t>Feature</a:t>
                      </a:r>
                    </a:p>
                  </a:txBody>
                  <a:tcPr anchor="ctr"/>
                </a:tc>
                <a:tc>
                  <a:txBody>
                    <a:bodyPr/>
                    <a:lstStyle/>
                    <a:p>
                      <a:r>
                        <a:rPr lang="en-US" sz="1600" b="1" dirty="0">
                          <a:latin typeface="Times New Roman" panose="02020603050405020304" pitchFamily="18" charset="0"/>
                          <a:cs typeface="Times New Roman" panose="02020603050405020304" pitchFamily="18" charset="0"/>
                        </a:rPr>
                        <a:t>COCOMO Model</a:t>
                      </a:r>
                    </a:p>
                  </a:txBody>
                  <a:tcPr anchor="ctr"/>
                </a:tc>
                <a:tc>
                  <a:txBody>
                    <a:bodyPr/>
                    <a:lstStyle/>
                    <a:p>
                      <a:r>
                        <a:rPr lang="en-US" sz="1600" b="1" dirty="0">
                          <a:latin typeface="Times New Roman" panose="02020603050405020304" pitchFamily="18" charset="0"/>
                          <a:cs typeface="Times New Roman" panose="02020603050405020304" pitchFamily="18" charset="0"/>
                        </a:rPr>
                        <a:t>OO Estimation</a:t>
                      </a:r>
                    </a:p>
                  </a:txBody>
                  <a:tcPr anchor="ctr"/>
                </a:tc>
              </a:tr>
              <a:tr h="797390">
                <a:tc>
                  <a:txBody>
                    <a:bodyPr/>
                    <a:lstStyle/>
                    <a:p>
                      <a:r>
                        <a:rPr lang="en-US" sz="1600" b="1" dirty="0">
                          <a:latin typeface="Times New Roman" panose="02020603050405020304" pitchFamily="18" charset="0"/>
                          <a:cs typeface="Times New Roman" panose="02020603050405020304" pitchFamily="18" charset="0"/>
                        </a:rPr>
                        <a:t>Basis of Estimation</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US" sz="1600">
                          <a:latin typeface="Times New Roman" panose="02020603050405020304" pitchFamily="18" charset="0"/>
                          <a:cs typeface="Times New Roman" panose="02020603050405020304" pitchFamily="18" charset="0"/>
                        </a:rPr>
                        <a:t>Lines of Code (KLOC)</a:t>
                      </a:r>
                    </a:p>
                  </a:txBody>
                  <a:tcPr anchor="ctr"/>
                </a:tc>
                <a:tc>
                  <a:txBody>
                    <a:bodyPr/>
                    <a:lstStyle/>
                    <a:p>
                      <a:r>
                        <a:rPr lang="en-US" sz="1600" dirty="0">
                          <a:latin typeface="Times New Roman" panose="02020603050405020304" pitchFamily="18" charset="0"/>
                          <a:cs typeface="Times New Roman" panose="02020603050405020304" pitchFamily="18" charset="0"/>
                        </a:rPr>
                        <a:t>Objects, Use Cases, Classes</a:t>
                      </a:r>
                    </a:p>
                  </a:txBody>
                  <a:tcPr anchor="ctr"/>
                </a:tc>
              </a:tr>
              <a:tr h="797390">
                <a:tc>
                  <a:txBody>
                    <a:bodyPr/>
                    <a:lstStyle/>
                    <a:p>
                      <a:r>
                        <a:rPr lang="en-US" sz="1600" b="1" dirty="0" smtClean="0">
                          <a:latin typeface="Times New Roman" panose="02020603050405020304" pitchFamily="18" charset="0"/>
                          <a:cs typeface="Times New Roman" panose="02020603050405020304" pitchFamily="18" charset="0"/>
                        </a:rPr>
                        <a:t>Complexity Handling</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US" sz="1600" dirty="0" smtClean="0">
                          <a:latin typeface="Times New Roman" panose="02020603050405020304" pitchFamily="18" charset="0"/>
                          <a:cs typeface="Times New Roman" panose="02020603050405020304" pitchFamily="18" charset="0"/>
                        </a:rPr>
                        <a:t>Cost</a:t>
                      </a:r>
                      <a:r>
                        <a:rPr lang="en-US" sz="1600" baseline="0" dirty="0" smtClean="0">
                          <a:latin typeface="Times New Roman" panose="02020603050405020304" pitchFamily="18" charset="0"/>
                          <a:cs typeface="Times New Roman" panose="02020603050405020304" pitchFamily="18" charset="0"/>
                        </a:rPr>
                        <a:t> Drivers</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US" sz="1600" dirty="0" smtClean="0">
                          <a:latin typeface="Times New Roman" panose="02020603050405020304" pitchFamily="18" charset="0"/>
                          <a:cs typeface="Times New Roman" panose="02020603050405020304" pitchFamily="18" charset="0"/>
                        </a:rPr>
                        <a:t>Complexity factors (UCP, CP)</a:t>
                      </a:r>
                      <a:endParaRPr lang="en-US" sz="1600" dirty="0">
                        <a:latin typeface="Times New Roman" panose="02020603050405020304" pitchFamily="18" charset="0"/>
                        <a:cs typeface="Times New Roman" panose="02020603050405020304" pitchFamily="18" charset="0"/>
                      </a:endParaRPr>
                    </a:p>
                  </a:txBody>
                  <a:tcPr anchor="ctr"/>
                </a:tc>
              </a:tr>
              <a:tr h="797390">
                <a:tc>
                  <a:txBody>
                    <a:bodyPr/>
                    <a:lstStyle/>
                    <a:p>
                      <a:r>
                        <a:rPr lang="en-US" sz="1600" b="1" dirty="0" smtClean="0">
                          <a:latin typeface="Times New Roman" panose="02020603050405020304" pitchFamily="18" charset="0"/>
                          <a:cs typeface="Times New Roman" panose="02020603050405020304" pitchFamily="18" charset="0"/>
                        </a:rPr>
                        <a:t>Flexibility</a:t>
                      </a:r>
                      <a:endParaRPr lang="en-US" sz="1600" b="1"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Procedural systems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Modern OO architectures</a:t>
                      </a:r>
                      <a:endParaRPr lang="en-US" sz="1600" dirty="0">
                        <a:latin typeface="Times New Roman" panose="02020603050405020304" pitchFamily="18" charset="0"/>
                        <a:cs typeface="Times New Roman" panose="02020603050405020304" pitchFamily="18" charset="0"/>
                      </a:endParaRPr>
                    </a:p>
                  </a:txBody>
                  <a:tcPr/>
                </a:tc>
              </a:tr>
              <a:tr h="435254">
                <a:tc>
                  <a:txBody>
                    <a:bodyPr/>
                    <a:lstStyle/>
                    <a:p>
                      <a:r>
                        <a:rPr lang="en-US" sz="1600" b="1" dirty="0" smtClean="0">
                          <a:latin typeface="Times New Roman" panose="02020603050405020304" pitchFamily="18" charset="0"/>
                          <a:cs typeface="Times New Roman" panose="02020603050405020304" pitchFamily="18" charset="0"/>
                        </a:rPr>
                        <a:t>Accuracy</a:t>
                      </a:r>
                      <a:endParaRPr lang="en-US" sz="1600" b="1"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Large systems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Modular OO designs</a:t>
                      </a:r>
                      <a:endParaRPr lang="en-US" sz="1600" dirty="0">
                        <a:latin typeface="Times New Roman" panose="02020603050405020304" pitchFamily="18" charset="0"/>
                        <a:cs typeface="Times New Roman" panose="02020603050405020304" pitchFamily="18" charset="0"/>
                      </a:endParaRPr>
                    </a:p>
                  </a:txBody>
                  <a:tcPr/>
                </a:tc>
              </a:tr>
              <a:tr h="751804">
                <a:tc>
                  <a:txBody>
                    <a:bodyPr/>
                    <a:lstStyle/>
                    <a:p>
                      <a:r>
                        <a:rPr lang="en-US" sz="1600" dirty="0" smtClean="0">
                          <a:latin typeface="Times New Roman" panose="02020603050405020304" pitchFamily="18" charset="0"/>
                          <a:cs typeface="Times New Roman" panose="02020603050405020304" pitchFamily="18" charset="0"/>
                        </a:rPr>
                        <a:t>Evolution</a:t>
                      </a:r>
                      <a:endParaRPr lang="en-US" sz="1600" b="1"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Advanced (COCOMO II)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Modern methods (Use Case Points)</a:t>
                      </a:r>
                      <a:endParaRPr lang="en-US" sz="1600"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86174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3" name="Content Placeholder 2"/>
          <p:cNvSpPr>
            <a:spLocks noGrp="1"/>
          </p:cNvSpPr>
          <p:nvPr>
            <p:ph idx="1"/>
          </p:nvPr>
        </p:nvSpPr>
        <p:spPr/>
        <p:txBody>
          <a:bodyPr>
            <a:normAutofit/>
          </a:bodyPr>
          <a:lstStyle/>
          <a:p>
            <a:r>
              <a:rPr sz="2000" dirty="0">
                <a:latin typeface="Times New Roman" panose="02020603050405020304" pitchFamily="18" charset="0"/>
                <a:cs typeface="Times New Roman" panose="02020603050405020304" pitchFamily="18" charset="0"/>
              </a:rPr>
              <a:t>COCOMO Model: Ideal for procedural systems using KLOC.</a:t>
            </a:r>
          </a:p>
          <a:p>
            <a:r>
              <a:rPr sz="2000" dirty="0">
                <a:latin typeface="Times New Roman" panose="02020603050405020304" pitchFamily="18" charset="0"/>
                <a:cs typeface="Times New Roman" panose="02020603050405020304" pitchFamily="18" charset="0"/>
              </a:rPr>
              <a:t>OO Estimation: Better for object-oriented systems.</a:t>
            </a:r>
          </a:p>
          <a:p>
            <a:r>
              <a:rPr sz="2000" dirty="0">
                <a:latin typeface="Times New Roman" panose="02020603050405020304" pitchFamily="18" charset="0"/>
                <a:cs typeface="Times New Roman" panose="02020603050405020304" pitchFamily="18" charset="0"/>
              </a:rPr>
              <a:t>Accurate estimation is crucial for project success.</a:t>
            </a:r>
          </a:p>
        </p:txBody>
      </p:sp>
    </p:spTree>
    <p:extLst>
      <p:ext uri="{BB962C8B-B14F-4D97-AF65-F5344CB8AC3E}">
        <p14:creationId xmlns:p14="http://schemas.microsoft.com/office/powerpoint/2010/main" val="2645618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DDC6A74-6C13-2D2F-C608-B1486FFA7C1B}"/>
              </a:ext>
            </a:extLst>
          </p:cNvPr>
          <p:cNvSpPr txBox="1"/>
          <p:nvPr/>
        </p:nvSpPr>
        <p:spPr>
          <a:xfrm>
            <a:off x="147145" y="145656"/>
            <a:ext cx="6547944" cy="707886"/>
          </a:xfrm>
          <a:prstGeom prst="rect">
            <a:avLst/>
          </a:prstGeom>
          <a:noFill/>
        </p:spPr>
        <p:txBody>
          <a:bodyPr wrap="square">
            <a:spAutoFit/>
          </a:bodyPr>
          <a:lstStyle/>
          <a:p>
            <a:r>
              <a:rPr lang="en-IN" sz="4000" b="1" i="0" dirty="0">
                <a:solidFill>
                  <a:schemeClr val="tx1"/>
                </a:solidFill>
                <a:effectLst/>
                <a:latin typeface="Times New Roman" panose="02020603050405020304" pitchFamily="18" charset="0"/>
                <a:cs typeface="Times New Roman" panose="02020603050405020304" pitchFamily="18" charset="0"/>
              </a:rPr>
              <a:t>Practice Questions</a:t>
            </a:r>
            <a:endParaRPr lang="en-IN" sz="40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xmlns="" id="{52AF9B4E-822D-E9C7-EED8-8E084B3397AC}"/>
              </a:ext>
            </a:extLst>
          </p:cNvPr>
          <p:cNvGraphicFramePr>
            <a:graphicFrameLocks noGrp="1"/>
          </p:cNvGraphicFramePr>
          <p:nvPr>
            <p:extLst>
              <p:ext uri="{D42A27DB-BD31-4B8C-83A1-F6EECF244321}">
                <p14:modId xmlns:p14="http://schemas.microsoft.com/office/powerpoint/2010/main" val="3004674739"/>
              </p:ext>
            </p:extLst>
          </p:nvPr>
        </p:nvGraphicFramePr>
        <p:xfrm>
          <a:off x="792339" y="2229597"/>
          <a:ext cx="5902750" cy="1432560"/>
        </p:xfrm>
        <a:graphic>
          <a:graphicData uri="http://schemas.openxmlformats.org/drawingml/2006/table">
            <a:tbl>
              <a:tblPr>
                <a:tableStyleId>{866D8C4D-A2DB-48BA-B2CD-EECFE764FD55}</a:tableStyleId>
              </a:tblPr>
              <a:tblGrid>
                <a:gridCol w="1724618">
                  <a:extLst>
                    <a:ext uri="{9D8B030D-6E8A-4147-A177-3AD203B41FA5}">
                      <a16:colId xmlns:a16="http://schemas.microsoft.com/office/drawing/2014/main" xmlns="" val="1587416708"/>
                    </a:ext>
                  </a:extLst>
                </a:gridCol>
                <a:gridCol w="942680">
                  <a:extLst>
                    <a:ext uri="{9D8B030D-6E8A-4147-A177-3AD203B41FA5}">
                      <a16:colId xmlns:a16="http://schemas.microsoft.com/office/drawing/2014/main" xmlns="" val="1123706433"/>
                    </a:ext>
                  </a:extLst>
                </a:gridCol>
                <a:gridCol w="874352">
                  <a:extLst>
                    <a:ext uri="{9D8B030D-6E8A-4147-A177-3AD203B41FA5}">
                      <a16:colId xmlns:a16="http://schemas.microsoft.com/office/drawing/2014/main" xmlns="" val="581389244"/>
                    </a:ext>
                  </a:extLst>
                </a:gridCol>
                <a:gridCol w="1180550">
                  <a:extLst>
                    <a:ext uri="{9D8B030D-6E8A-4147-A177-3AD203B41FA5}">
                      <a16:colId xmlns:a16="http://schemas.microsoft.com/office/drawing/2014/main" xmlns="" val="3274674148"/>
                    </a:ext>
                  </a:extLst>
                </a:gridCol>
                <a:gridCol w="1180550">
                  <a:extLst>
                    <a:ext uri="{9D8B030D-6E8A-4147-A177-3AD203B41FA5}">
                      <a16:colId xmlns:a16="http://schemas.microsoft.com/office/drawing/2014/main" xmlns="" val="3708364652"/>
                    </a:ext>
                  </a:extLst>
                </a:gridCol>
              </a:tblGrid>
              <a:tr h="0">
                <a:tc>
                  <a:txBody>
                    <a:bodyPr/>
                    <a:lstStyle/>
                    <a:p>
                      <a:pPr algn="l" fontAlgn="t"/>
                      <a:r>
                        <a:rPr lang="en-IN" dirty="0">
                          <a:effectLst/>
                          <a:latin typeface="Times New Roman" panose="02020603050405020304" pitchFamily="18" charset="0"/>
                          <a:cs typeface="Times New Roman" panose="02020603050405020304" pitchFamily="18" charset="0"/>
                        </a:rPr>
                        <a:t>Software Product Type</a:t>
                      </a:r>
                    </a:p>
                  </a:txBody>
                  <a:tcPr/>
                </a:tc>
                <a:tc>
                  <a:txBody>
                    <a:bodyPr/>
                    <a:lstStyle/>
                    <a:p>
                      <a:pPr algn="l" fontAlgn="t"/>
                      <a:r>
                        <a:rPr lang="en-IN" b="1">
                          <a:effectLst/>
                          <a:latin typeface="Times New Roman" panose="02020603050405020304" pitchFamily="18" charset="0"/>
                          <a:cs typeface="Times New Roman" panose="02020603050405020304" pitchFamily="18" charset="0"/>
                        </a:rPr>
                        <a:t>a</a:t>
                      </a:r>
                      <a:endParaRPr lang="en-IN">
                        <a:effectLst/>
                        <a:latin typeface="Times New Roman" panose="02020603050405020304" pitchFamily="18" charset="0"/>
                        <a:cs typeface="Times New Roman" panose="02020603050405020304" pitchFamily="18" charset="0"/>
                      </a:endParaRPr>
                    </a:p>
                  </a:txBody>
                  <a:tcPr/>
                </a:tc>
                <a:tc>
                  <a:txBody>
                    <a:bodyPr/>
                    <a:lstStyle/>
                    <a:p>
                      <a:pPr algn="l" fontAlgn="t"/>
                      <a:r>
                        <a:rPr lang="en-IN" b="1">
                          <a:effectLst/>
                          <a:latin typeface="Times New Roman" panose="02020603050405020304" pitchFamily="18" charset="0"/>
                          <a:cs typeface="Times New Roman" panose="02020603050405020304" pitchFamily="18" charset="0"/>
                        </a:rPr>
                        <a:t>b</a:t>
                      </a:r>
                      <a:endParaRPr lang="en-IN">
                        <a:effectLst/>
                        <a:latin typeface="Times New Roman" panose="02020603050405020304" pitchFamily="18" charset="0"/>
                        <a:cs typeface="Times New Roman" panose="02020603050405020304" pitchFamily="18" charset="0"/>
                      </a:endParaRPr>
                    </a:p>
                  </a:txBody>
                  <a:tcPr/>
                </a:tc>
                <a:tc>
                  <a:txBody>
                    <a:bodyPr/>
                    <a:lstStyle/>
                    <a:p>
                      <a:pPr algn="l" fontAlgn="t"/>
                      <a:r>
                        <a:rPr lang="en-IN" b="1">
                          <a:effectLst/>
                          <a:latin typeface="Times New Roman" panose="02020603050405020304" pitchFamily="18" charset="0"/>
                          <a:cs typeface="Times New Roman" panose="02020603050405020304" pitchFamily="18" charset="0"/>
                        </a:rPr>
                        <a:t>c</a:t>
                      </a:r>
                      <a:endParaRPr lang="en-IN">
                        <a:effectLst/>
                        <a:latin typeface="Times New Roman" panose="02020603050405020304" pitchFamily="18" charset="0"/>
                        <a:cs typeface="Times New Roman" panose="02020603050405020304" pitchFamily="18" charset="0"/>
                      </a:endParaRPr>
                    </a:p>
                  </a:txBody>
                  <a:tcPr/>
                </a:tc>
                <a:tc>
                  <a:txBody>
                    <a:bodyPr/>
                    <a:lstStyle/>
                    <a:p>
                      <a:pPr algn="l" fontAlgn="t"/>
                      <a:r>
                        <a:rPr lang="en-IN" b="1">
                          <a:effectLst/>
                          <a:latin typeface="Times New Roman" panose="02020603050405020304" pitchFamily="18" charset="0"/>
                          <a:cs typeface="Times New Roman" panose="02020603050405020304" pitchFamily="18" charset="0"/>
                        </a:rPr>
                        <a:t>d</a:t>
                      </a:r>
                      <a:endParaRPr lang="en-IN">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161244279"/>
                  </a:ext>
                </a:extLst>
              </a:tr>
              <a:tr h="0">
                <a:tc>
                  <a:txBody>
                    <a:bodyPr/>
                    <a:lstStyle/>
                    <a:p>
                      <a:pPr algn="l" fontAlgn="t"/>
                      <a:r>
                        <a:rPr lang="en-IN" b="1">
                          <a:effectLst/>
                          <a:latin typeface="Times New Roman" panose="02020603050405020304" pitchFamily="18" charset="0"/>
                          <a:cs typeface="Times New Roman" panose="02020603050405020304" pitchFamily="18" charset="0"/>
                        </a:rPr>
                        <a:t>Organic</a:t>
                      </a:r>
                      <a:endParaRPr lang="en-IN">
                        <a:effectLst/>
                        <a:latin typeface="Times New Roman" panose="02020603050405020304" pitchFamily="18" charset="0"/>
                        <a:cs typeface="Times New Roman" panose="02020603050405020304" pitchFamily="18" charset="0"/>
                      </a:endParaRPr>
                    </a:p>
                  </a:txBody>
                  <a:tcPr/>
                </a:tc>
                <a:tc>
                  <a:txBody>
                    <a:bodyPr/>
                    <a:lstStyle/>
                    <a:p>
                      <a:pPr algn="l" fontAlgn="t"/>
                      <a:r>
                        <a:rPr lang="en-IN">
                          <a:effectLst/>
                          <a:latin typeface="Times New Roman" panose="02020603050405020304" pitchFamily="18" charset="0"/>
                          <a:cs typeface="Times New Roman" panose="02020603050405020304" pitchFamily="18" charset="0"/>
                        </a:rPr>
                        <a:t>2.4</a:t>
                      </a:r>
                    </a:p>
                  </a:txBody>
                  <a:tcPr/>
                </a:tc>
                <a:tc>
                  <a:txBody>
                    <a:bodyPr/>
                    <a:lstStyle/>
                    <a:p>
                      <a:pPr algn="l" fontAlgn="t"/>
                      <a:r>
                        <a:rPr lang="en-IN">
                          <a:effectLst/>
                          <a:latin typeface="Times New Roman" panose="02020603050405020304" pitchFamily="18" charset="0"/>
                          <a:cs typeface="Times New Roman" panose="02020603050405020304" pitchFamily="18" charset="0"/>
                        </a:rPr>
                        <a:t>1.05</a:t>
                      </a:r>
                    </a:p>
                  </a:txBody>
                  <a:tcPr/>
                </a:tc>
                <a:tc>
                  <a:txBody>
                    <a:bodyPr/>
                    <a:lstStyle/>
                    <a:p>
                      <a:pPr algn="l" fontAlgn="t"/>
                      <a:r>
                        <a:rPr lang="en-IN">
                          <a:effectLst/>
                          <a:latin typeface="Times New Roman" panose="02020603050405020304" pitchFamily="18" charset="0"/>
                          <a:cs typeface="Times New Roman" panose="02020603050405020304" pitchFamily="18" charset="0"/>
                        </a:rPr>
                        <a:t>2.5</a:t>
                      </a:r>
                    </a:p>
                  </a:txBody>
                  <a:tcPr/>
                </a:tc>
                <a:tc>
                  <a:txBody>
                    <a:bodyPr/>
                    <a:lstStyle/>
                    <a:p>
                      <a:pPr algn="l" fontAlgn="t"/>
                      <a:r>
                        <a:rPr lang="en-IN">
                          <a:effectLst/>
                          <a:latin typeface="Times New Roman" panose="02020603050405020304" pitchFamily="18" charset="0"/>
                          <a:cs typeface="Times New Roman" panose="02020603050405020304" pitchFamily="18" charset="0"/>
                        </a:rPr>
                        <a:t>0.38</a:t>
                      </a:r>
                    </a:p>
                  </a:txBody>
                  <a:tcPr/>
                </a:tc>
                <a:extLst>
                  <a:ext uri="{0D108BD9-81ED-4DB2-BD59-A6C34878D82A}">
                    <a16:rowId xmlns:a16="http://schemas.microsoft.com/office/drawing/2014/main" xmlns="" val="423400803"/>
                  </a:ext>
                </a:extLst>
              </a:tr>
              <a:tr h="0">
                <a:tc>
                  <a:txBody>
                    <a:bodyPr/>
                    <a:lstStyle/>
                    <a:p>
                      <a:pPr algn="l" fontAlgn="t"/>
                      <a:r>
                        <a:rPr lang="en-IN" b="1">
                          <a:effectLst/>
                          <a:latin typeface="Times New Roman" panose="02020603050405020304" pitchFamily="18" charset="0"/>
                          <a:cs typeface="Times New Roman" panose="02020603050405020304" pitchFamily="18" charset="0"/>
                        </a:rPr>
                        <a:t>Semi-detached</a:t>
                      </a:r>
                      <a:endParaRPr lang="en-IN">
                        <a:effectLst/>
                        <a:latin typeface="Times New Roman" panose="02020603050405020304" pitchFamily="18" charset="0"/>
                        <a:cs typeface="Times New Roman" panose="02020603050405020304" pitchFamily="18" charset="0"/>
                      </a:endParaRPr>
                    </a:p>
                  </a:txBody>
                  <a:tcPr/>
                </a:tc>
                <a:tc>
                  <a:txBody>
                    <a:bodyPr/>
                    <a:lstStyle/>
                    <a:p>
                      <a:pPr algn="l" fontAlgn="t"/>
                      <a:r>
                        <a:rPr lang="en-IN">
                          <a:effectLst/>
                          <a:latin typeface="Times New Roman" panose="02020603050405020304" pitchFamily="18" charset="0"/>
                          <a:cs typeface="Times New Roman" panose="02020603050405020304" pitchFamily="18" charset="0"/>
                        </a:rPr>
                        <a:t>3.0</a:t>
                      </a:r>
                    </a:p>
                  </a:txBody>
                  <a:tcPr/>
                </a:tc>
                <a:tc>
                  <a:txBody>
                    <a:bodyPr/>
                    <a:lstStyle/>
                    <a:p>
                      <a:pPr algn="l" fontAlgn="t"/>
                      <a:r>
                        <a:rPr lang="en-IN" dirty="0">
                          <a:effectLst/>
                          <a:latin typeface="Times New Roman" panose="02020603050405020304" pitchFamily="18" charset="0"/>
                          <a:cs typeface="Times New Roman" panose="02020603050405020304" pitchFamily="18" charset="0"/>
                        </a:rPr>
                        <a:t>1.12</a:t>
                      </a:r>
                    </a:p>
                  </a:txBody>
                  <a:tcPr/>
                </a:tc>
                <a:tc>
                  <a:txBody>
                    <a:bodyPr/>
                    <a:lstStyle/>
                    <a:p>
                      <a:pPr algn="l" fontAlgn="t"/>
                      <a:r>
                        <a:rPr lang="en-IN">
                          <a:effectLst/>
                          <a:latin typeface="Times New Roman" panose="02020603050405020304" pitchFamily="18" charset="0"/>
                          <a:cs typeface="Times New Roman" panose="02020603050405020304" pitchFamily="18" charset="0"/>
                        </a:rPr>
                        <a:t>2.5</a:t>
                      </a:r>
                    </a:p>
                  </a:txBody>
                  <a:tcPr/>
                </a:tc>
                <a:tc>
                  <a:txBody>
                    <a:bodyPr/>
                    <a:lstStyle/>
                    <a:p>
                      <a:pPr algn="l" fontAlgn="t"/>
                      <a:r>
                        <a:rPr lang="en-IN">
                          <a:effectLst/>
                          <a:latin typeface="Times New Roman" panose="02020603050405020304" pitchFamily="18" charset="0"/>
                          <a:cs typeface="Times New Roman" panose="02020603050405020304" pitchFamily="18" charset="0"/>
                        </a:rPr>
                        <a:t>0.35</a:t>
                      </a:r>
                    </a:p>
                  </a:txBody>
                  <a:tcPr/>
                </a:tc>
                <a:extLst>
                  <a:ext uri="{0D108BD9-81ED-4DB2-BD59-A6C34878D82A}">
                    <a16:rowId xmlns:a16="http://schemas.microsoft.com/office/drawing/2014/main" xmlns="" val="3924450357"/>
                  </a:ext>
                </a:extLst>
              </a:tr>
              <a:tr h="0">
                <a:tc>
                  <a:txBody>
                    <a:bodyPr/>
                    <a:lstStyle/>
                    <a:p>
                      <a:pPr algn="l" fontAlgn="t"/>
                      <a:r>
                        <a:rPr lang="en-IN" b="1">
                          <a:effectLst/>
                          <a:latin typeface="Times New Roman" panose="02020603050405020304" pitchFamily="18" charset="0"/>
                          <a:cs typeface="Times New Roman" panose="02020603050405020304" pitchFamily="18" charset="0"/>
                        </a:rPr>
                        <a:t>Embedded</a:t>
                      </a:r>
                      <a:endParaRPr lang="en-IN">
                        <a:effectLst/>
                        <a:latin typeface="Times New Roman" panose="02020603050405020304" pitchFamily="18" charset="0"/>
                        <a:cs typeface="Times New Roman" panose="02020603050405020304" pitchFamily="18" charset="0"/>
                      </a:endParaRPr>
                    </a:p>
                  </a:txBody>
                  <a:tcPr/>
                </a:tc>
                <a:tc>
                  <a:txBody>
                    <a:bodyPr/>
                    <a:lstStyle/>
                    <a:p>
                      <a:pPr algn="l" fontAlgn="t"/>
                      <a:r>
                        <a:rPr lang="en-IN">
                          <a:effectLst/>
                          <a:latin typeface="Times New Roman" panose="02020603050405020304" pitchFamily="18" charset="0"/>
                          <a:cs typeface="Times New Roman" panose="02020603050405020304" pitchFamily="18" charset="0"/>
                        </a:rPr>
                        <a:t>3.6</a:t>
                      </a:r>
                    </a:p>
                  </a:txBody>
                  <a:tcPr/>
                </a:tc>
                <a:tc>
                  <a:txBody>
                    <a:bodyPr/>
                    <a:lstStyle/>
                    <a:p>
                      <a:pPr algn="l" fontAlgn="t"/>
                      <a:r>
                        <a:rPr lang="en-IN">
                          <a:effectLst/>
                          <a:latin typeface="Times New Roman" panose="02020603050405020304" pitchFamily="18" charset="0"/>
                          <a:cs typeface="Times New Roman" panose="02020603050405020304" pitchFamily="18" charset="0"/>
                        </a:rPr>
                        <a:t>1.20</a:t>
                      </a:r>
                    </a:p>
                  </a:txBody>
                  <a:tcPr/>
                </a:tc>
                <a:tc>
                  <a:txBody>
                    <a:bodyPr/>
                    <a:lstStyle/>
                    <a:p>
                      <a:pPr algn="l" fontAlgn="t"/>
                      <a:r>
                        <a:rPr lang="en-IN">
                          <a:effectLst/>
                          <a:latin typeface="Times New Roman" panose="02020603050405020304" pitchFamily="18" charset="0"/>
                          <a:cs typeface="Times New Roman" panose="02020603050405020304" pitchFamily="18" charset="0"/>
                        </a:rPr>
                        <a:t>2.5</a:t>
                      </a:r>
                    </a:p>
                  </a:txBody>
                  <a:tcPr/>
                </a:tc>
                <a:tc>
                  <a:txBody>
                    <a:bodyPr/>
                    <a:lstStyle/>
                    <a:p>
                      <a:pPr algn="l" fontAlgn="t"/>
                      <a:r>
                        <a:rPr lang="en-IN" dirty="0">
                          <a:effectLst/>
                          <a:latin typeface="Times New Roman" panose="02020603050405020304" pitchFamily="18" charset="0"/>
                          <a:cs typeface="Times New Roman" panose="02020603050405020304" pitchFamily="18" charset="0"/>
                        </a:rPr>
                        <a:t>0.32</a:t>
                      </a:r>
                    </a:p>
                  </a:txBody>
                  <a:tcPr/>
                </a:tc>
                <a:extLst>
                  <a:ext uri="{0D108BD9-81ED-4DB2-BD59-A6C34878D82A}">
                    <a16:rowId xmlns:a16="http://schemas.microsoft.com/office/drawing/2014/main" xmlns="" val="3587341810"/>
                  </a:ext>
                </a:extLst>
              </a:tr>
            </a:tbl>
          </a:graphicData>
        </a:graphic>
      </p:graphicFrame>
      <p:sp>
        <p:nvSpPr>
          <p:cNvPr id="6" name="TextBox 5">
            <a:extLst>
              <a:ext uri="{FF2B5EF4-FFF2-40B4-BE49-F238E27FC236}">
                <a16:creationId xmlns:a16="http://schemas.microsoft.com/office/drawing/2014/main" xmlns="" id="{1361169F-C7D3-713D-5F1C-69D6620A99FB}"/>
              </a:ext>
            </a:extLst>
          </p:cNvPr>
          <p:cNvSpPr txBox="1"/>
          <p:nvPr/>
        </p:nvSpPr>
        <p:spPr>
          <a:xfrm>
            <a:off x="487680" y="1366726"/>
            <a:ext cx="8067040" cy="646331"/>
          </a:xfrm>
          <a:prstGeom prst="rect">
            <a:avLst/>
          </a:prstGeom>
          <a:noFill/>
        </p:spPr>
        <p:txBody>
          <a:bodyPr wrap="square">
            <a:spAutoFit/>
          </a:bodyPr>
          <a:lstStyle/>
          <a:p>
            <a:pPr algn="just"/>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Q1. Suppose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that a project was estimated to be 400 KLOC. Calculate effort </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&amp;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for each of 3 modes of development.</a:t>
            </a:r>
            <a:endParaRPr lang="en-IN" sz="1800" b="1" dirty="0">
              <a:solidFill>
                <a:schemeClr val="tx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1BA59F0E-0DE9-0FE2-9DEA-1D03BE8DEB80}"/>
              </a:ext>
            </a:extLst>
          </p:cNvPr>
          <p:cNvSpPr txBox="1"/>
          <p:nvPr/>
        </p:nvSpPr>
        <p:spPr>
          <a:xfrm>
            <a:off x="608030" y="3908926"/>
            <a:ext cx="7211504" cy="369332"/>
          </a:xfrm>
          <a:prstGeom prst="rect">
            <a:avLst/>
          </a:prstGeom>
          <a:noFill/>
        </p:spPr>
        <p:txBody>
          <a:bodyPr wrap="square">
            <a:spAutoFit/>
          </a:bodyPr>
          <a:lstStyle/>
          <a:p>
            <a:pPr marL="285750" indent="-285750" algn="l">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How do you estimate the cost of a project?</a:t>
            </a:r>
          </a:p>
        </p:txBody>
      </p:sp>
      <p:sp>
        <p:nvSpPr>
          <p:cNvPr id="16" name="TextBox 15">
            <a:extLst>
              <a:ext uri="{FF2B5EF4-FFF2-40B4-BE49-F238E27FC236}">
                <a16:creationId xmlns:a16="http://schemas.microsoft.com/office/drawing/2014/main" xmlns="" id="{32F91871-9CD3-E13F-7ED9-156AE357B284}"/>
              </a:ext>
            </a:extLst>
          </p:cNvPr>
          <p:cNvSpPr txBox="1"/>
          <p:nvPr/>
        </p:nvSpPr>
        <p:spPr>
          <a:xfrm>
            <a:off x="608030" y="4389831"/>
            <a:ext cx="7211504" cy="369332"/>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What are some common cost estimating tools and techniques?</a:t>
            </a:r>
          </a:p>
        </p:txBody>
      </p:sp>
      <p:sp>
        <p:nvSpPr>
          <p:cNvPr id="18" name="TextBox 17">
            <a:extLst>
              <a:ext uri="{FF2B5EF4-FFF2-40B4-BE49-F238E27FC236}">
                <a16:creationId xmlns:a16="http://schemas.microsoft.com/office/drawing/2014/main" xmlns="" id="{EBB75E3C-6235-60AF-A65A-7BE77484D43E}"/>
              </a:ext>
            </a:extLst>
          </p:cNvPr>
          <p:cNvSpPr txBox="1"/>
          <p:nvPr/>
        </p:nvSpPr>
        <p:spPr>
          <a:xfrm>
            <a:off x="608030" y="4936727"/>
            <a:ext cx="7211504" cy="369332"/>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chemeClr val="tx1"/>
                </a:solidFill>
                <a:latin typeface="Times New Roman" panose="02020603050405020304" pitchFamily="18" charset="0"/>
                <a:cs typeface="Times New Roman" panose="02020603050405020304" pitchFamily="18" charset="0"/>
              </a:rPr>
              <a:t>How do you develop a cost estimate for a new project?</a:t>
            </a:r>
          </a:p>
        </p:txBody>
      </p:sp>
    </p:spTree>
    <p:extLst>
      <p:ext uri="{BB962C8B-B14F-4D97-AF65-F5344CB8AC3E}">
        <p14:creationId xmlns:p14="http://schemas.microsoft.com/office/powerpoint/2010/main" val="985918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6806" y="895459"/>
            <a:ext cx="7813040" cy="6186309"/>
          </a:xfrm>
          <a:prstGeom prst="rect">
            <a:avLst/>
          </a:prstGeom>
        </p:spPr>
        <p:txBody>
          <a:bodyPr wrap="square">
            <a:spAutoFit/>
          </a:bodyPr>
          <a:lstStyle/>
          <a:p>
            <a:r>
              <a:rPr lang="en-US" sz="1800" b="1" dirty="0">
                <a:latin typeface="Times New Roman" panose="02020603050405020304" pitchFamily="18" charset="0"/>
                <a:cs typeface="Times New Roman" panose="02020603050405020304" pitchFamily="18" charset="0"/>
              </a:rPr>
              <a:t>What is the primary purpose of empirical estimation models?</a:t>
            </a:r>
          </a:p>
          <a:p>
            <a:r>
              <a:rPr lang="en-US" sz="1800" dirty="0">
                <a:latin typeface="Times New Roman" panose="02020603050405020304" pitchFamily="18" charset="0"/>
                <a:cs typeface="Times New Roman" panose="02020603050405020304" pitchFamily="18" charset="0"/>
              </a:rPr>
              <a:t>A) Designing user interfaces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 Estimating effort, time, and cost of software projects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 Debugging complex software systems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 Managing software repositories</a:t>
            </a:r>
          </a:p>
          <a:p>
            <a:r>
              <a:rPr lang="en-US" sz="1800" b="1" dirty="0">
                <a:latin typeface="Times New Roman" panose="02020603050405020304" pitchFamily="18" charset="0"/>
                <a:cs typeface="Times New Roman" panose="02020603050405020304" pitchFamily="18" charset="0"/>
              </a:rPr>
              <a:t>Answer:</a:t>
            </a:r>
            <a:r>
              <a:rPr lang="en-US" sz="1800" dirty="0">
                <a:latin typeface="Times New Roman" panose="02020603050405020304" pitchFamily="18" charset="0"/>
                <a:cs typeface="Times New Roman" panose="02020603050405020304" pitchFamily="18" charset="0"/>
              </a:rPr>
              <a:t> B) Estimating effort, time, and cost of software </a:t>
            </a:r>
            <a:r>
              <a:rPr lang="en-US" sz="1800" dirty="0" smtClean="0">
                <a:latin typeface="Times New Roman" panose="02020603050405020304" pitchFamily="18" charset="0"/>
                <a:cs typeface="Times New Roman" panose="02020603050405020304" pitchFamily="18" charset="0"/>
              </a:rPr>
              <a:t>projects</a:t>
            </a:r>
            <a:endParaRPr lang="en-US" sz="1800" dirty="0">
              <a:latin typeface="Times New Roman" panose="02020603050405020304" pitchFamily="18" charset="0"/>
              <a:cs typeface="Times New Roman" panose="02020603050405020304" pitchFamily="18" charset="0"/>
            </a:endParaRPr>
          </a:p>
          <a:p>
            <a:endParaRPr lang="en-US" sz="1800" dirty="0" smtClean="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In the Basic COCOMO model, what does 'KLOC' represent?</a:t>
            </a:r>
          </a:p>
          <a:p>
            <a:r>
              <a:rPr lang="en-US" sz="1800" dirty="0">
                <a:latin typeface="Times New Roman" panose="02020603050405020304" pitchFamily="18" charset="0"/>
                <a:cs typeface="Times New Roman" panose="02020603050405020304" pitchFamily="18" charset="0"/>
              </a:rPr>
              <a:t>A) Key Level Object Components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 Kernel-Level Object Code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 Thousands of Lines of Code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 Knowledge Logic of Components</a:t>
            </a:r>
          </a:p>
          <a:p>
            <a:r>
              <a:rPr lang="en-US" sz="1800" b="1" dirty="0">
                <a:latin typeface="Times New Roman" panose="02020603050405020304" pitchFamily="18" charset="0"/>
                <a:cs typeface="Times New Roman" panose="02020603050405020304" pitchFamily="18" charset="0"/>
              </a:rPr>
              <a:t>Answer:</a:t>
            </a:r>
            <a:r>
              <a:rPr lang="en-US" sz="1800" dirty="0">
                <a:latin typeface="Times New Roman" panose="02020603050405020304" pitchFamily="18" charset="0"/>
                <a:cs typeface="Times New Roman" panose="02020603050405020304" pitchFamily="18" charset="0"/>
              </a:rPr>
              <a:t> C) Thousands of Lines of Code</a:t>
            </a:r>
          </a:p>
          <a:p>
            <a:endParaRPr lang="en-US" sz="1800" dirty="0" smtClean="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Which COCOMO model category is best suited for small, simple projects?</a:t>
            </a:r>
          </a:p>
          <a:p>
            <a:r>
              <a:rPr lang="en-US" sz="1800" dirty="0">
                <a:latin typeface="Times New Roman" panose="02020603050405020304" pitchFamily="18" charset="0"/>
                <a:cs typeface="Times New Roman" panose="02020603050405020304" pitchFamily="18" charset="0"/>
              </a:rPr>
              <a:t>A) Semi-Detached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 Embedded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 Organic</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 Modular</a:t>
            </a:r>
          </a:p>
          <a:p>
            <a:r>
              <a:rPr lang="en-US" sz="1800" b="1" dirty="0">
                <a:latin typeface="Times New Roman" panose="02020603050405020304" pitchFamily="18" charset="0"/>
                <a:cs typeface="Times New Roman" panose="02020603050405020304" pitchFamily="18" charset="0"/>
              </a:rPr>
              <a:t>Answer:</a:t>
            </a:r>
            <a:r>
              <a:rPr lang="en-US" sz="1800" dirty="0">
                <a:latin typeface="Times New Roman" panose="02020603050405020304" pitchFamily="18" charset="0"/>
                <a:cs typeface="Times New Roman" panose="02020603050405020304" pitchFamily="18" charset="0"/>
              </a:rPr>
              <a:t> C) Organic</a:t>
            </a:r>
          </a:p>
          <a:p>
            <a:endParaRPr lang="en-US" sz="1800" dirty="0" smtClean="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3" name="Rectangle 2"/>
          <p:cNvSpPr/>
          <p:nvPr/>
        </p:nvSpPr>
        <p:spPr>
          <a:xfrm>
            <a:off x="136806" y="135672"/>
            <a:ext cx="4180953" cy="523220"/>
          </a:xfrm>
          <a:prstGeom prst="rect">
            <a:avLst/>
          </a:prstGeom>
        </p:spPr>
        <p:txBody>
          <a:bodyPr wrap="none">
            <a:spAutoFit/>
          </a:bodyPr>
          <a:lstStyle/>
          <a:p>
            <a:r>
              <a:rPr lang="en-IN" sz="2800" b="1" dirty="0">
                <a:solidFill>
                  <a:schemeClr val="tx1"/>
                </a:solidFill>
                <a:latin typeface="Times" panose="02020603050405020304" pitchFamily="18" charset="0"/>
                <a:cs typeface="Times" panose="02020603050405020304" pitchFamily="18" charset="0"/>
              </a:rPr>
              <a:t>Practice </a:t>
            </a:r>
            <a:r>
              <a:rPr lang="en-IN" sz="2800" b="1" dirty="0" err="1" smtClean="0">
                <a:solidFill>
                  <a:schemeClr val="tx1"/>
                </a:solidFill>
                <a:latin typeface="Times" panose="02020603050405020304" pitchFamily="18" charset="0"/>
                <a:cs typeface="Times" panose="02020603050405020304" pitchFamily="18" charset="0"/>
              </a:rPr>
              <a:t>Questions:MCQs</a:t>
            </a:r>
            <a:endParaRPr lang="en-IN" sz="2800" dirty="0">
              <a:solidFill>
                <a:schemeClr val="tx1"/>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02696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9760" y="1318141"/>
            <a:ext cx="7366000" cy="1754326"/>
          </a:xfrm>
          <a:prstGeom prst="rect">
            <a:avLst/>
          </a:prstGeom>
        </p:spPr>
        <p:txBody>
          <a:bodyPr wrap="square">
            <a:spAutoFit/>
          </a:bodyPr>
          <a:lstStyle/>
          <a:p>
            <a:r>
              <a:rPr lang="en-US" sz="1800" b="1" dirty="0">
                <a:latin typeface="Times New Roman" panose="02020603050405020304" pitchFamily="18" charset="0"/>
                <a:cs typeface="Times New Roman" panose="02020603050405020304" pitchFamily="18" charset="0"/>
              </a:rPr>
              <a:t>What is a key challenge when estimating object-oriented projects?</a:t>
            </a:r>
          </a:p>
          <a:p>
            <a:r>
              <a:rPr lang="en-US" sz="1800" dirty="0">
                <a:latin typeface="Times New Roman" panose="02020603050405020304" pitchFamily="18" charset="0"/>
                <a:cs typeface="Times New Roman" panose="02020603050405020304" pitchFamily="18" charset="0"/>
              </a:rPr>
              <a:t>A) Lack of technical resources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 Inheritance and reusability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 Limited use of algorithms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 Ignoring system documentation</a:t>
            </a:r>
          </a:p>
          <a:p>
            <a:r>
              <a:rPr lang="en-US" sz="1800" b="1" dirty="0">
                <a:latin typeface="Times New Roman" panose="02020603050405020304" pitchFamily="18" charset="0"/>
                <a:cs typeface="Times New Roman" panose="02020603050405020304" pitchFamily="18" charset="0"/>
              </a:rPr>
              <a:t>Answer:</a:t>
            </a:r>
            <a:r>
              <a:rPr lang="en-US" sz="1800" dirty="0">
                <a:latin typeface="Times New Roman" panose="02020603050405020304" pitchFamily="18" charset="0"/>
                <a:cs typeface="Times New Roman" panose="02020603050405020304" pitchFamily="18" charset="0"/>
              </a:rPr>
              <a:t> B) Inheritance and reusability</a:t>
            </a:r>
          </a:p>
        </p:txBody>
      </p:sp>
      <p:sp>
        <p:nvSpPr>
          <p:cNvPr id="3" name="Rectangle 2"/>
          <p:cNvSpPr/>
          <p:nvPr/>
        </p:nvSpPr>
        <p:spPr>
          <a:xfrm>
            <a:off x="136806" y="125512"/>
            <a:ext cx="6436713" cy="523220"/>
          </a:xfrm>
          <a:prstGeom prst="rect">
            <a:avLst/>
          </a:prstGeom>
        </p:spPr>
        <p:txBody>
          <a:bodyPr wrap="square">
            <a:spAutoFit/>
          </a:bodyPr>
          <a:lstStyle/>
          <a:p>
            <a:r>
              <a:rPr lang="en-IN" sz="2800" b="1" dirty="0">
                <a:solidFill>
                  <a:schemeClr val="tx1"/>
                </a:solidFill>
                <a:latin typeface="Times New Roman" panose="02020603050405020304" pitchFamily="18" charset="0"/>
                <a:cs typeface="Times New Roman" panose="02020603050405020304" pitchFamily="18" charset="0"/>
              </a:rPr>
              <a:t>Practice </a:t>
            </a:r>
            <a:r>
              <a:rPr lang="en-IN" sz="2800" b="1" dirty="0" smtClean="0">
                <a:solidFill>
                  <a:schemeClr val="tx1"/>
                </a:solidFill>
                <a:latin typeface="Times New Roman" panose="02020603050405020304" pitchFamily="18" charset="0"/>
                <a:cs typeface="Times New Roman" panose="02020603050405020304" pitchFamily="18" charset="0"/>
              </a:rPr>
              <a:t>Questions: MCQs               </a:t>
            </a:r>
            <a:r>
              <a:rPr lang="en-IN" sz="2000" b="1" dirty="0" err="1" smtClean="0">
                <a:solidFill>
                  <a:schemeClr val="tx1"/>
                </a:solidFill>
                <a:latin typeface="Times New Roman" panose="02020603050405020304" pitchFamily="18" charset="0"/>
                <a:cs typeface="Times New Roman" panose="02020603050405020304" pitchFamily="18" charset="0"/>
              </a:rPr>
              <a:t>Cont</a:t>
            </a:r>
            <a:r>
              <a:rPr lang="en-IN" sz="2000" b="1" dirty="0" smtClean="0">
                <a:solidFill>
                  <a:schemeClr val="tx1"/>
                </a:solidFill>
                <a:latin typeface="Times New Roman" panose="02020603050405020304" pitchFamily="18" charset="0"/>
                <a:cs typeface="Times New Roman" panose="02020603050405020304" pitchFamily="18" charset="0"/>
              </a:rPr>
              <a:t>…</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9405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2FD1171-161E-F986-41BC-4A341E039CB3}"/>
              </a:ext>
            </a:extLst>
          </p:cNvPr>
          <p:cNvSpPr txBox="1"/>
          <p:nvPr/>
        </p:nvSpPr>
        <p:spPr>
          <a:xfrm>
            <a:off x="857840" y="1843950"/>
            <a:ext cx="7626284" cy="3170099"/>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hlinkClick r:id="rId2"/>
              </a:rPr>
              <a:t>https://www.tutorialspoint.com/estimation_techniques/estimation_techniques_overview.htm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hlinkClick r:id="rId2"/>
              </a:rPr>
              <a:t>http://www.zeepedia.com/read.php?decomposition_techniques_estimation_tools_software_project_management&amp;b=18&amp;c=30</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hlinkClick r:id="rId2"/>
              </a:rPr>
              <a:t>https://www.geeksforgeeks.org/software-engineering-cocomo-model/</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hlinkClick r:id="rId2"/>
              </a:rPr>
              <a:t>https://study.com/academy/lesson/what-is-system-analysis-in-software-engineering.html</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hlinkClick r:id="rId2"/>
              </a:rPr>
              <a:t>https://www.tutorialspoint.com/What-is-Data-Dictionary</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hlinkClick r:id="rId3"/>
              </a:rPr>
              <a:t>https://www.lucidchart.com/pages/er-diagrams</a:t>
            </a:r>
            <a:r>
              <a:rPr lang="en-US" sz="20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hlinkClick r:id="rId4"/>
              </a:rPr>
              <a:t>https://www.datanamic.com/support/lt-dez006-what-is-an-erd.html</a:t>
            </a:r>
            <a:r>
              <a:rPr lang="en-US" sz="20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xmlns="" id="{89979423-B85D-1D82-1E86-B7FC7526F50B}"/>
              </a:ext>
            </a:extLst>
          </p:cNvPr>
          <p:cNvSpPr txBox="1"/>
          <p:nvPr/>
        </p:nvSpPr>
        <p:spPr>
          <a:xfrm>
            <a:off x="147145" y="145656"/>
            <a:ext cx="6547944" cy="646331"/>
          </a:xfrm>
          <a:prstGeom prst="rect">
            <a:avLst/>
          </a:prstGeom>
          <a:noFill/>
        </p:spPr>
        <p:txBody>
          <a:bodyPr wrap="square">
            <a:spAutoFit/>
          </a:bodyPr>
          <a:lstStyle/>
          <a:p>
            <a:r>
              <a:rPr lang="en-IN" sz="3600" b="1" dirty="0">
                <a:solidFill>
                  <a:schemeClr val="tx1"/>
                </a:solidFill>
                <a:latin typeface="Times" panose="02020603050405020304" pitchFamily="18" charset="0"/>
                <a:cs typeface="Times" panose="02020603050405020304" pitchFamily="18" charset="0"/>
              </a:rPr>
              <a:t>Bibliography</a:t>
            </a:r>
            <a:endParaRPr lang="en-IN" sz="3600" dirty="0">
              <a:solidFill>
                <a:schemeClr val="tx1"/>
              </a:solidFill>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648116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3" name="Google Shape;503;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Computer Networks               </a:t>
            </a:r>
            <a:endParaRPr>
              <a:latin typeface="Times New Roman"/>
              <a:ea typeface="Times New Roman"/>
              <a:cs typeface="Times New Roman"/>
              <a:sym typeface="Times New Roman"/>
            </a:endParaRPr>
          </a:p>
        </p:txBody>
      </p:sp>
      <p:pic>
        <p:nvPicPr>
          <p:cNvPr id="504" name="Google Shape;504;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TotalTime>
  <Words>987</Words>
  <Application>Microsoft Office PowerPoint</Application>
  <PresentationFormat>On-screen Show (4:3)</PresentationFormat>
  <Paragraphs>232</Paragraphs>
  <Slides>26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Times</vt:lpstr>
      <vt:lpstr>Calibri</vt:lpstr>
      <vt:lpstr>MS PGothic</vt:lpstr>
      <vt:lpstr>Times New Roman</vt:lpstr>
      <vt:lpstr>Times New Roman Bold</vt:lpstr>
      <vt:lpstr>Arial</vt:lpstr>
      <vt:lpstr>Office Theme</vt:lpstr>
      <vt:lpstr>PowerPoint Presentation</vt:lpstr>
      <vt:lpstr>PowerPoint Presentation</vt:lpstr>
      <vt:lpstr> What is Estimation </vt:lpstr>
      <vt:lpstr>Empirical Based Estimation –  COCOMO Model</vt:lpstr>
      <vt:lpstr>COCOMO Model</vt:lpstr>
      <vt:lpstr>COCOMO Model</vt:lpstr>
      <vt:lpstr>COCOMO Model</vt:lpstr>
      <vt:lpstr>COCOMO Model Types</vt:lpstr>
      <vt:lpstr>Basic Model - Estimation of Effort</vt:lpstr>
      <vt:lpstr>Basic Model - Estimation of Effort</vt:lpstr>
      <vt:lpstr>Basic Model - Estimation of Effort</vt:lpstr>
      <vt:lpstr>Intermediate Model - Estimation of Effort</vt:lpstr>
      <vt:lpstr>Intermediate Model - Estimation of Effort</vt:lpstr>
      <vt:lpstr>Intermediate Model - Estimation of Effort</vt:lpstr>
      <vt:lpstr>Intermediate Model - Estimation of Effort</vt:lpstr>
      <vt:lpstr>Detailed Model - Estimation of Effort</vt:lpstr>
      <vt:lpstr>Estimation of Object-Oriented Projects</vt:lpstr>
      <vt:lpstr>Use Case Point Estimation</vt:lpstr>
      <vt:lpstr>Class Point Estimation</vt:lpstr>
      <vt:lpstr>Comparison: COCOMO vs OO Estimation</vt:lpstr>
      <vt:lpstr>Conclusion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HP</cp:lastModifiedBy>
  <cp:revision>34</cp:revision>
  <dcterms:created xsi:type="dcterms:W3CDTF">2010-04-09T07:36:15Z</dcterms:created>
  <dcterms:modified xsi:type="dcterms:W3CDTF">2025-03-17T09:13:51Z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
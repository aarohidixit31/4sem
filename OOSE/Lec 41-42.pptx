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856" r:id="rId2"/>
    <p:sldId id="257" r:id="rId3"/>
    <p:sldId id="757" r:id="rId4"/>
    <p:sldId id="758" r:id="rId5"/>
    <p:sldId id="759" r:id="rId6"/>
    <p:sldId id="760" r:id="rId7"/>
    <p:sldId id="761" r:id="rId8"/>
    <p:sldId id="762" r:id="rId9"/>
    <p:sldId id="763" r:id="rId10"/>
    <p:sldId id="764" r:id="rId11"/>
    <p:sldId id="765" r:id="rId12"/>
    <p:sldId id="766" r:id="rId13"/>
    <p:sldId id="780" r:id="rId14"/>
    <p:sldId id="313" r:id="rId15"/>
  </p:sldIdLst>
  <p:sldSz cx="9144000" cy="6858000" type="screen4x3"/>
  <p:notesSz cx="7559675" cy="10691813"/>
  <p:embeddedFontLst>
    <p:embeddedFont>
      <p:font typeface="Times" panose="02020603050405020304" pitchFamily="18" charset="0"/>
      <p:regular r:id="rId17"/>
      <p:bold r:id="rId18"/>
      <p:italic r:id="rId19"/>
      <p:boldItalic r:id="rId20"/>
    </p:embeddedFont>
    <p:embeddedFont>
      <p:font typeface="Times New Roman Bold" panose="02020803070505020304" pitchFamily="18" charset="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jBLrMujGmK0mcIUsVW4HHj27w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6D8C4D-A2DB-48BA-B2CD-EECFE764FD55}">
  <a:tblStyle styleId="{866D8C4D-A2DB-48BA-B2CD-EECFE764FD5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498"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72"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font" Target="fonts/font3.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783039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3932808" cy="674703"/>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sz="3200">
                <a:latin typeface="+mj-l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sz="18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1"/>
        <p:cNvGrpSpPr/>
        <p:nvPr/>
      </p:nvGrpSpPr>
      <p:grpSpPr>
        <a:xfrm>
          <a:off x="0" y="0"/>
          <a:ext cx="0" cy="0"/>
          <a:chOff x="0" y="0"/>
          <a:chExt cx="0" cy="0"/>
        </a:xfrm>
      </p:grpSpPr>
      <p:sp>
        <p:nvSpPr>
          <p:cNvPr id="42" name="Google Shape;42;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7" name="Google Shape;47;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51"/>
        <p:cNvGrpSpPr/>
        <p:nvPr/>
      </p:nvGrpSpPr>
      <p:grpSpPr>
        <a:xfrm>
          <a:off x="0" y="0"/>
          <a:ext cx="0" cy="0"/>
          <a:chOff x="0" y="0"/>
          <a:chExt cx="0" cy="0"/>
        </a:xfrm>
      </p:grpSpPr>
      <p:sp>
        <p:nvSpPr>
          <p:cNvPr id="52" name="Google Shape;52;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53" name="Google Shape;53;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54"/>
        <p:cNvGrpSpPr/>
        <p:nvPr/>
      </p:nvGrpSpPr>
      <p:grpSpPr>
        <a:xfrm>
          <a:off x="0" y="0"/>
          <a:ext cx="0" cy="0"/>
          <a:chOff x="0" y="0"/>
          <a:chExt cx="0" cy="0"/>
        </a:xfrm>
      </p:grpSpPr>
      <p:sp>
        <p:nvSpPr>
          <p:cNvPr id="55" name="Google Shape;55;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60"/>
        <p:cNvGrpSpPr/>
        <p:nvPr/>
      </p:nvGrpSpPr>
      <p:grpSpPr>
        <a:xfrm>
          <a:off x="0" y="0"/>
          <a:ext cx="0" cy="0"/>
          <a:chOff x="0" y="0"/>
          <a:chExt cx="0" cy="0"/>
        </a:xfrm>
      </p:grpSpPr>
      <p:sp>
        <p:nvSpPr>
          <p:cNvPr id="61" name="Google Shape;61;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6"/>
        <p:cNvGrpSpPr/>
        <p:nvPr/>
      </p:nvGrpSpPr>
      <p:grpSpPr>
        <a:xfrm>
          <a:off x="0" y="0"/>
          <a:ext cx="0" cy="0"/>
          <a:chOff x="0" y="0"/>
          <a:chExt cx="0" cy="0"/>
        </a:xfrm>
      </p:grpSpPr>
      <p:sp>
        <p:nvSpPr>
          <p:cNvPr id="67" name="Google Shape;67;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72"/>
        <p:cNvGrpSpPr/>
        <p:nvPr/>
      </p:nvGrpSpPr>
      <p:grpSpPr>
        <a:xfrm>
          <a:off x="0" y="0"/>
          <a:ext cx="0" cy="0"/>
          <a:chOff x="0" y="0"/>
          <a:chExt cx="0" cy="0"/>
        </a:xfrm>
      </p:grpSpPr>
      <p:sp>
        <p:nvSpPr>
          <p:cNvPr id="73" name="Google Shape;73;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7"/>
        <p:cNvGrpSpPr/>
        <p:nvPr/>
      </p:nvGrpSpPr>
      <p:grpSpPr>
        <a:xfrm>
          <a:off x="0" y="0"/>
          <a:ext cx="0" cy="0"/>
          <a:chOff x="0" y="0"/>
          <a:chExt cx="0" cy="0"/>
        </a:xfrm>
      </p:grpSpPr>
      <p:sp>
        <p:nvSpPr>
          <p:cNvPr id="78" name="Google Shape;78;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84"/>
        <p:cNvGrpSpPr/>
        <p:nvPr/>
      </p:nvGrpSpPr>
      <p:grpSpPr>
        <a:xfrm>
          <a:off x="0" y="0"/>
          <a:ext cx="0" cy="0"/>
          <a:chOff x="0" y="0"/>
          <a:chExt cx="0" cy="0"/>
        </a:xfrm>
      </p:grpSpPr>
      <p:sp>
        <p:nvSpPr>
          <p:cNvPr id="85" name="Google Shape;85;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1729AC-FBB6-50BF-140F-6DFFE9DCD4C4}"/>
              </a:ext>
            </a:extLst>
          </p:cNvPr>
          <p:cNvSpPr>
            <a:spLocks noGrp="1"/>
          </p:cNvSpPr>
          <p:nvPr>
            <p:ph type="sldNum" sz="quarter" idx="10"/>
          </p:nvPr>
        </p:nvSpPr>
        <p:spPr/>
        <p:txBody>
          <a:bodyPr/>
          <a:lstStyle>
            <a:lvl1pPr>
              <a:defRPr/>
            </a:lvl1pPr>
          </a:lstStyle>
          <a:p>
            <a:r>
              <a:rPr lang="en-US" altLang="en-US"/>
              <a:t>12.</a:t>
            </a:r>
            <a:fld id="{79B5908F-1003-4FE2-9619-748025AA9679}" type="slidenum">
              <a:rPr lang="en-US" altLang="en-US"/>
              <a:pPr/>
              <a:t>‹#›</a:t>
            </a:fld>
            <a:endParaRPr lang="en-US" altLang="en-US"/>
          </a:p>
        </p:txBody>
      </p:sp>
    </p:spTree>
    <p:extLst>
      <p:ext uri="{BB962C8B-B14F-4D97-AF65-F5344CB8AC3E}">
        <p14:creationId xmlns:p14="http://schemas.microsoft.com/office/powerpoint/2010/main" val="2599178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IN"/>
              <a:t>Computer Networks               </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p:nvPr/>
        </p:nvSpPr>
        <p:spPr>
          <a:xfrm>
            <a:off x="947786" y="2932386"/>
            <a:ext cx="7564618" cy="29405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lang="en-US"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400" b="1" dirty="0">
                <a:solidFill>
                  <a:schemeClr val="tx1"/>
                </a:solidFill>
                <a:latin typeface="Times New Roman"/>
                <a:ea typeface="Times New Roman"/>
                <a:cs typeface="Times New Roman"/>
                <a:sym typeface="Times New Roman"/>
              </a:rPr>
              <a:t>Software Risk Management</a:t>
            </a:r>
          </a:p>
          <a:p>
            <a:pPr marL="0" marR="0" lvl="0" indent="0" algn="ctr" rtl="0">
              <a:lnSpc>
                <a:spcPct val="100000"/>
              </a:lnSpc>
              <a:spcBef>
                <a:spcPts val="400"/>
              </a:spcBef>
              <a:spcAft>
                <a:spcPts val="0"/>
              </a:spcAft>
              <a:buClr>
                <a:srgbClr val="000000"/>
              </a:buClr>
              <a:buSzPts val="2000"/>
              <a:buFont typeface="Arial"/>
              <a:buNone/>
            </a:pPr>
            <a:endParaRPr lang="en-US" sz="2400" b="1" dirty="0">
              <a:solidFill>
                <a:srgbClr val="0070C0"/>
              </a:solidFill>
              <a:latin typeface="Times New Roman"/>
              <a:ea typeface="Times New Roman"/>
              <a:cs typeface="Times New Roman"/>
              <a:sym typeface="Times New Roman"/>
            </a:endParaRPr>
          </a:p>
          <a:p>
            <a:pPr algn="ctr" rtl="0">
              <a:spcBef>
                <a:spcPts val="400"/>
              </a:spcBef>
              <a:buNone/>
            </a:pPr>
            <a:r>
              <a:rPr lang="en-US" sz="2000" b="1" i="0" u="none" strike="noStrike" dirty="0">
                <a:solidFill>
                  <a:srgbClr val="0070C0"/>
                </a:solidFill>
                <a:effectLst/>
                <a:latin typeface="Arial" panose="020B0604020202020204" pitchFamily="34" charset="0"/>
                <a:cs typeface="Arial" panose="020B0604020202020204" pitchFamily="34" charset="0"/>
              </a:rPr>
              <a:t>Lecture (Theory)</a:t>
            </a:r>
            <a:endParaRPr lang="en-US" sz="2000" b="0" dirty="0">
              <a:effectLst/>
              <a:latin typeface="Arial" panose="020B0604020202020204" pitchFamily="34" charset="0"/>
              <a:cs typeface="Arial" panose="020B0604020202020204" pitchFamily="34" charset="0"/>
            </a:endParaRPr>
          </a:p>
          <a:p>
            <a:pPr algn="ctr" rtl="0">
              <a:spcBef>
                <a:spcPts val="400"/>
              </a:spcBef>
              <a:buNone/>
            </a:pPr>
            <a:r>
              <a:rPr lang="en-US" sz="2000" b="1" i="0" u="none" strike="noStrike" dirty="0">
                <a:solidFill>
                  <a:srgbClr val="0070C0"/>
                </a:solidFill>
                <a:effectLst/>
                <a:latin typeface="Arial" panose="020B0604020202020204" pitchFamily="34" charset="0"/>
                <a:cs typeface="Arial" panose="020B0604020202020204" pitchFamily="34" charset="0"/>
              </a:rPr>
              <a:t>Prepared By Dr. Neha Sharma</a:t>
            </a:r>
            <a:endParaRPr lang="en-US" sz="2000" b="0" dirty="0">
              <a:effectLst/>
              <a:latin typeface="Arial" panose="020B0604020202020204" pitchFamily="34" charset="0"/>
              <a:cs typeface="Arial" panose="020B0604020202020204" pitchFamily="34" charset="0"/>
            </a:endParaRPr>
          </a:p>
          <a:p>
            <a:pPr>
              <a:buNone/>
            </a:pPr>
            <a:br>
              <a:rPr lang="en-US" sz="3200" b="0" dirty="0">
                <a:effectLst/>
              </a:rPr>
            </a:br>
            <a:endParaRPr lang="en-US" sz="2400" b="1"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lang="en-US"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36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C9F80F3F-71B9-9667-D443-B755FD9B5632}"/>
              </a:ext>
            </a:extLst>
          </p:cNvPr>
          <p:cNvSpPr txBox="1"/>
          <p:nvPr/>
        </p:nvSpPr>
        <p:spPr>
          <a:xfrm>
            <a:off x="1398799" y="2102069"/>
            <a:ext cx="6346401" cy="1436291"/>
          </a:xfrm>
          <a:prstGeom prst="rect">
            <a:avLst/>
          </a:prstGeom>
          <a:noFill/>
        </p:spPr>
        <p:txBody>
          <a:bodyPr wrap="square">
            <a:spAutoFit/>
          </a:bodyPr>
          <a:lstStyle/>
          <a:p>
            <a:pPr marL="0" marR="0" lvl="0" indent="0" algn="ctr" rtl="0">
              <a:lnSpc>
                <a:spcPct val="100000"/>
              </a:lnSpc>
              <a:spcBef>
                <a:spcPts val="400"/>
              </a:spcBef>
              <a:spcAft>
                <a:spcPts val="0"/>
              </a:spcAft>
              <a:buClr>
                <a:srgbClr val="000000"/>
              </a:buClr>
              <a:buSzPts val="2000"/>
              <a:buFont typeface="Arial"/>
              <a:buNone/>
            </a:pPr>
            <a:r>
              <a:rPr lang="en-US" sz="2800" b="1" dirty="0">
                <a:solidFill>
                  <a:schemeClr val="dk1"/>
                </a:solidFill>
                <a:latin typeface="Times New Roman"/>
                <a:ea typeface="Times New Roman"/>
                <a:cs typeface="Times New Roman"/>
                <a:sym typeface="Times New Roman"/>
              </a:rPr>
              <a:t>Object Oriented Software Engineering (OOSE)</a:t>
            </a: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dirty="0">
                <a:solidFill>
                  <a:schemeClr val="dk1"/>
                </a:solidFill>
                <a:latin typeface="Times New Roman"/>
                <a:ea typeface="Times New Roman"/>
                <a:cs typeface="Times New Roman"/>
                <a:sym typeface="Times New Roman"/>
              </a:rPr>
              <a:t>22CS017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p:nvPr/>
        </p:nvSpPr>
        <p:spPr>
          <a:xfrm>
            <a:off x="381786" y="292407"/>
            <a:ext cx="6019560" cy="897645"/>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000"/>
              <a:buFont typeface="Arial"/>
              <a:buNone/>
            </a:pPr>
            <a:r>
              <a:rPr lang="en-US" sz="3200" b="1" i="0" u="none" strike="noStrike" cap="none" dirty="0">
                <a:solidFill>
                  <a:srgbClr val="000000"/>
                </a:solidFill>
                <a:latin typeface="Times New Roman"/>
                <a:ea typeface="Times New Roman"/>
                <a:cs typeface="Times New Roman"/>
                <a:sym typeface="Times New Roman"/>
              </a:rPr>
              <a:t>Index</a:t>
            </a:r>
          </a:p>
          <a:p>
            <a:pPr marL="0" marR="0" lvl="0" indent="0" rtl="0">
              <a:lnSpc>
                <a:spcPct val="100000"/>
              </a:lnSpc>
              <a:spcBef>
                <a:spcPts val="0"/>
              </a:spcBef>
              <a:spcAft>
                <a:spcPts val="0"/>
              </a:spcAft>
              <a:buClr>
                <a:srgbClr val="000000"/>
              </a:buClr>
              <a:buSzPts val="3000"/>
              <a:buFont typeface="Arial"/>
              <a:buNone/>
            </a:pPr>
            <a:endParaRPr sz="3200" b="0" i="0" u="none" strike="noStrike" cap="none" dirty="0">
              <a:solidFill>
                <a:srgbClr val="000000"/>
              </a:solidFill>
              <a:latin typeface="Arial"/>
              <a:ea typeface="Arial"/>
              <a:cs typeface="Arial"/>
              <a:sym typeface="Arial"/>
            </a:endParaRPr>
          </a:p>
        </p:txBody>
      </p:sp>
      <p:sp>
        <p:nvSpPr>
          <p:cNvPr id="104" name="Google Shape;104;p2"/>
          <p:cNvSpPr txBox="1"/>
          <p:nvPr/>
        </p:nvSpPr>
        <p:spPr>
          <a:xfrm>
            <a:off x="168990" y="963516"/>
            <a:ext cx="8838720" cy="4945966"/>
          </a:xfrm>
          <a:prstGeom prst="rect">
            <a:avLst/>
          </a:prstGeom>
          <a:noFill/>
          <a:ln>
            <a:noFill/>
          </a:ln>
        </p:spPr>
        <p:txBody>
          <a:bodyPr spcFirstLastPara="1" wrap="square" lIns="91425" tIns="45700" rIns="91425" bIns="45700" anchor="t" anchorCtr="0">
            <a:noAutofit/>
          </a:bodyPr>
          <a:lstStyle/>
          <a:p>
            <a:pPr marL="342900" marR="0" lvl="0" indent="-222250" algn="l" rtl="0">
              <a:lnSpc>
                <a:spcPct val="150000"/>
              </a:lnSpc>
              <a:spcBef>
                <a:spcPts val="0"/>
              </a:spcBef>
              <a:spcAft>
                <a:spcPts val="0"/>
              </a:spcAft>
              <a:buClr>
                <a:schemeClr val="dk1"/>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p:txBody>
      </p:sp>
      <p:sp>
        <p:nvSpPr>
          <p:cNvPr id="105" name="Google Shape;105;p2"/>
          <p:cNvSpPr txBox="1">
            <a:spLocks noGrp="1"/>
          </p:cNvSpPr>
          <p:nvPr>
            <p:ph type="body" idx="1"/>
          </p:nvPr>
        </p:nvSpPr>
        <p:spPr>
          <a:xfrm>
            <a:off x="675349" y="1529898"/>
            <a:ext cx="7826002" cy="4858545"/>
          </a:xfrm>
          <a:prstGeom prst="rect">
            <a:avLst/>
          </a:prstGeom>
          <a:noFill/>
          <a:ln>
            <a:noFill/>
          </a:ln>
        </p:spPr>
        <p:txBody>
          <a:bodyPr spcFirstLastPara="1" wrap="square" lIns="0" tIns="0" rIns="0" bIns="0" anchor="t" anchorCtr="0">
            <a:noAutofit/>
          </a:bodyPr>
          <a:lstStyle/>
          <a:p>
            <a:pPr marL="342900">
              <a:lnSpc>
                <a:spcPct val="150000"/>
              </a:lnSpc>
              <a:spcBef>
                <a:spcPts val="0"/>
              </a:spcBef>
              <a:buSzPts val="2800"/>
            </a:pPr>
            <a:r>
              <a:rPr lang="en-IN" sz="2200" b="1" i="0" u="none" strike="noStrike" cap="none" dirty="0">
                <a:solidFill>
                  <a:schemeClr val="dk1"/>
                </a:solidFill>
                <a:latin typeface="Times" panose="02020603050405020304" pitchFamily="18" charset="0"/>
                <a:ea typeface="Times New Roman"/>
                <a:cs typeface="Times" panose="02020603050405020304" pitchFamily="18" charset="0"/>
                <a:sym typeface="Times New Roman"/>
              </a:rPr>
              <a:t>What is Risk</a:t>
            </a:r>
          </a:p>
          <a:p>
            <a:pPr marL="342900">
              <a:lnSpc>
                <a:spcPct val="150000"/>
              </a:lnSpc>
              <a:spcBef>
                <a:spcPts val="0"/>
              </a:spcBef>
              <a:buSzPts val="2800"/>
            </a:pPr>
            <a:r>
              <a:rPr lang="en-IN" sz="2200" b="1" dirty="0">
                <a:latin typeface="Times" panose="02020603050405020304" pitchFamily="18" charset="0"/>
                <a:ea typeface="Times New Roman"/>
                <a:cs typeface="Times" panose="02020603050405020304" pitchFamily="18" charset="0"/>
                <a:sym typeface="Times New Roman"/>
              </a:rPr>
              <a:t>What are Software Risks</a:t>
            </a:r>
          </a:p>
          <a:p>
            <a:pPr marL="342900">
              <a:lnSpc>
                <a:spcPct val="150000"/>
              </a:lnSpc>
              <a:spcBef>
                <a:spcPts val="0"/>
              </a:spcBef>
              <a:buSzPts val="2800"/>
            </a:pPr>
            <a:r>
              <a:rPr lang="en-IN" sz="2200" b="1" dirty="0">
                <a:latin typeface="Times" panose="02020603050405020304" pitchFamily="18" charset="0"/>
                <a:ea typeface="Times New Roman"/>
                <a:cs typeface="Times" panose="02020603050405020304" pitchFamily="18" charset="0"/>
                <a:sym typeface="Times New Roman"/>
              </a:rPr>
              <a:t>Software Risk Categorization</a:t>
            </a:r>
          </a:p>
          <a:p>
            <a:pPr marL="342900">
              <a:lnSpc>
                <a:spcPct val="150000"/>
              </a:lnSpc>
              <a:spcBef>
                <a:spcPts val="0"/>
              </a:spcBef>
              <a:buSzPts val="2800"/>
            </a:pPr>
            <a:r>
              <a:rPr lang="en-US" sz="2200" b="1" i="0" dirty="0">
                <a:solidFill>
                  <a:schemeClr val="tx1"/>
                </a:solidFill>
                <a:effectLst/>
                <a:latin typeface="Times" panose="02020603050405020304" pitchFamily="18" charset="0"/>
                <a:cs typeface="Times" panose="02020603050405020304" pitchFamily="18" charset="0"/>
              </a:rPr>
              <a:t>Risk Management and Planning</a:t>
            </a:r>
          </a:p>
          <a:p>
            <a:pPr marL="342900">
              <a:lnSpc>
                <a:spcPct val="150000"/>
              </a:lnSpc>
              <a:spcBef>
                <a:spcPts val="0"/>
              </a:spcBef>
              <a:buSzPts val="2800"/>
            </a:pPr>
            <a:r>
              <a:rPr lang="en-US" sz="2200" b="1" i="0" dirty="0">
                <a:solidFill>
                  <a:srgbClr val="000000"/>
                </a:solidFill>
                <a:effectLst/>
                <a:latin typeface="Times" panose="02020603050405020304" pitchFamily="18" charset="0"/>
                <a:cs typeface="Times" panose="02020603050405020304" pitchFamily="18" charset="0"/>
              </a:rPr>
              <a:t>Risk Identification</a:t>
            </a:r>
          </a:p>
          <a:p>
            <a:pPr marL="342900">
              <a:lnSpc>
                <a:spcPct val="150000"/>
              </a:lnSpc>
              <a:spcBef>
                <a:spcPts val="0"/>
              </a:spcBef>
              <a:buSzPts val="2800"/>
            </a:pPr>
            <a:r>
              <a:rPr lang="en-US" sz="2200" b="1" i="0" dirty="0">
                <a:solidFill>
                  <a:srgbClr val="000000"/>
                </a:solidFill>
                <a:effectLst/>
                <a:latin typeface="Times" panose="02020603050405020304" pitchFamily="18" charset="0"/>
                <a:cs typeface="Times" panose="02020603050405020304" pitchFamily="18" charset="0"/>
              </a:rPr>
              <a:t>Risk Projection </a:t>
            </a:r>
          </a:p>
          <a:p>
            <a:pPr marL="0" marR="0" lvl="0" indent="0" algn="l" rtl="0">
              <a:lnSpc>
                <a:spcPct val="150000"/>
              </a:lnSpc>
              <a:spcBef>
                <a:spcPts val="0"/>
              </a:spcBef>
              <a:spcAft>
                <a:spcPts val="0"/>
              </a:spcAft>
              <a:buClr>
                <a:schemeClr val="dk1"/>
              </a:buClr>
              <a:buSzPts val="2800"/>
              <a:buNone/>
            </a:pPr>
            <a:endParaRPr lang="en-IN" sz="2200" dirty="0">
              <a:latin typeface="Times" panose="02020603050405020304" pitchFamily="18" charset="0"/>
              <a:ea typeface="Times New Roman"/>
              <a:cs typeface="Times" panose="02020603050405020304" pitchFamily="18" charset="0"/>
              <a:sym typeface="Times New Roman"/>
            </a:endParaRPr>
          </a:p>
          <a:p>
            <a:pPr marL="342900" marR="0" lvl="0" algn="l" rtl="0">
              <a:lnSpc>
                <a:spcPct val="150000"/>
              </a:lnSpc>
              <a:spcBef>
                <a:spcPts val="0"/>
              </a:spcBef>
              <a:spcAft>
                <a:spcPts val="0"/>
              </a:spcAft>
              <a:buClr>
                <a:schemeClr val="dk1"/>
              </a:buClr>
              <a:buSzPts val="2800"/>
              <a:buAutoNum type="arabicPeriod"/>
            </a:pPr>
            <a:endParaRPr lang="en-US" sz="2200" dirty="0">
              <a:latin typeface="Times" panose="02020603050405020304" pitchFamily="18" charset="0"/>
              <a:ea typeface="Times New Roman"/>
              <a:cs typeface="Times" panose="02020603050405020304" pitchFamily="18" charset="0"/>
              <a:sym typeface="Times New Roman"/>
            </a:endParaRPr>
          </a:p>
          <a:p>
            <a:pPr marL="342900" marR="0" lvl="0" indent="-342900" algn="l" rtl="0">
              <a:lnSpc>
                <a:spcPct val="150000"/>
              </a:lnSpc>
              <a:spcBef>
                <a:spcPts val="0"/>
              </a:spcBef>
              <a:spcAft>
                <a:spcPts val="0"/>
              </a:spcAft>
              <a:buClr>
                <a:schemeClr val="dk1"/>
              </a:buClr>
              <a:buSzPts val="2800"/>
              <a:buFont typeface="Times New Roman"/>
              <a:buAutoNum type="arabicPeriod"/>
            </a:pPr>
            <a:endParaRPr sz="22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4063953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Risk Definition</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3</a:t>
            </a:fld>
            <a:endParaRPr lang="en-US"/>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76200" y="887846"/>
            <a:ext cx="8991600" cy="4333542"/>
          </a:xfrm>
        </p:spPr>
        <p:txBody>
          <a:bodyPr>
            <a:normAutofit/>
          </a:bodyPr>
          <a:lstStyle/>
          <a:p>
            <a:pPr algn="just">
              <a:lnSpc>
                <a:spcPct val="150000"/>
              </a:lnSpc>
            </a:pPr>
            <a:r>
              <a:rPr lang="en-IN" sz="2000" dirty="0">
                <a:solidFill>
                  <a:srgbClr val="FF0000"/>
                </a:solidFill>
                <a:latin typeface="Times New Roman" panose="02020603050405020304" pitchFamily="18" charset="0"/>
                <a:cs typeface="Times New Roman" panose="02020603050405020304" pitchFamily="18" charset="0"/>
              </a:rPr>
              <a:t>Risk</a:t>
            </a:r>
            <a:r>
              <a:rPr lang="en-IN" sz="2000" dirty="0">
                <a:latin typeface="Times New Roman" panose="02020603050405020304" pitchFamily="18" charset="0"/>
                <a:cs typeface="Times New Roman" panose="02020603050405020304" pitchFamily="18" charset="0"/>
              </a:rPr>
              <a:t> is the probability of suffering loss. Risk provides an opportunity to develop the project better.</a:t>
            </a:r>
          </a:p>
          <a:p>
            <a:pPr algn="just">
              <a:lnSpc>
                <a:spcPct val="150000"/>
              </a:lnSpc>
            </a:pPr>
            <a:r>
              <a:rPr lang="en-IN" sz="2000" dirty="0">
                <a:latin typeface="Times New Roman" panose="02020603050405020304" pitchFamily="18" charset="0"/>
                <a:cs typeface="Times New Roman" panose="02020603050405020304" pitchFamily="18" charset="0"/>
              </a:rPr>
              <a:t>There is a difference between a </a:t>
            </a:r>
            <a:r>
              <a:rPr lang="en-IN" sz="2000" dirty="0">
                <a:solidFill>
                  <a:srgbClr val="FF0000"/>
                </a:solidFill>
                <a:latin typeface="Times New Roman" panose="02020603050405020304" pitchFamily="18" charset="0"/>
                <a:cs typeface="Times New Roman" panose="02020603050405020304" pitchFamily="18" charset="0"/>
              </a:rPr>
              <a:t>Problem</a:t>
            </a:r>
            <a:r>
              <a:rPr lang="en-IN" sz="2000" dirty="0">
                <a:latin typeface="Times New Roman" panose="02020603050405020304" pitchFamily="18" charset="0"/>
                <a:cs typeface="Times New Roman" panose="02020603050405020304" pitchFamily="18" charset="0"/>
              </a:rPr>
              <a:t> and </a:t>
            </a:r>
            <a:r>
              <a:rPr lang="en-IN" sz="2000" dirty="0">
                <a:solidFill>
                  <a:srgbClr val="FF0000"/>
                </a:solidFill>
                <a:latin typeface="Times New Roman" panose="02020603050405020304" pitchFamily="18" charset="0"/>
                <a:cs typeface="Times New Roman" panose="02020603050405020304" pitchFamily="18" charset="0"/>
              </a:rPr>
              <a:t>Risk</a:t>
            </a:r>
          </a:p>
          <a:p>
            <a:pPr algn="just">
              <a:lnSpc>
                <a:spcPct val="150000"/>
              </a:lnSpc>
            </a:pPr>
            <a:r>
              <a:rPr lang="en-IN" sz="2000" dirty="0">
                <a:solidFill>
                  <a:srgbClr val="FF0000"/>
                </a:solidFill>
                <a:latin typeface="Times New Roman" panose="02020603050405020304" pitchFamily="18" charset="0"/>
                <a:cs typeface="Times New Roman" panose="02020603050405020304" pitchFamily="18" charset="0"/>
              </a:rPr>
              <a:t>Problem</a:t>
            </a:r>
            <a:r>
              <a:rPr lang="en-IN" sz="2000" dirty="0">
                <a:latin typeface="Times New Roman" panose="02020603050405020304" pitchFamily="18" charset="0"/>
                <a:cs typeface="Times New Roman" panose="02020603050405020304" pitchFamily="18" charset="0"/>
              </a:rPr>
              <a:t> is some event which has already occurred but risk is something that is unpredictable. </a:t>
            </a:r>
            <a:r>
              <a:rPr lang="en-IN" sz="2000" dirty="0">
                <a:solidFill>
                  <a:srgbClr val="FF0000"/>
                </a:solidFill>
                <a:latin typeface="Times New Roman" panose="02020603050405020304" pitchFamily="18" charset="0"/>
                <a:cs typeface="Times New Roman" panose="02020603050405020304" pitchFamily="18" charset="0"/>
              </a:rPr>
              <a:t>Risk</a:t>
            </a:r>
            <a:r>
              <a:rPr lang="en-IN" sz="2000" dirty="0">
                <a:latin typeface="Times New Roman" panose="02020603050405020304" pitchFamily="18" charset="0"/>
                <a:cs typeface="Times New Roman" panose="02020603050405020304" pitchFamily="18" charset="0"/>
              </a:rPr>
              <a:t> is an expectation of loss, a potential problem that may or may not occur in the future.</a:t>
            </a:r>
          </a:p>
          <a:p>
            <a:pPr algn="just">
              <a:lnSpc>
                <a:spcPct val="150000"/>
              </a:lnSpc>
            </a:pPr>
            <a:r>
              <a:rPr lang="en-IN" sz="2000" dirty="0">
                <a:latin typeface="Times New Roman" panose="02020603050405020304" pitchFamily="18" charset="0"/>
                <a:cs typeface="Times New Roman" panose="02020603050405020304" pitchFamily="18" charset="0"/>
              </a:rPr>
              <a:t>It is generally caused due to lack of information, control or time.</a:t>
            </a:r>
          </a:p>
        </p:txBody>
      </p:sp>
    </p:spTree>
    <p:extLst>
      <p:ext uri="{BB962C8B-B14F-4D97-AF65-F5344CB8AC3E}">
        <p14:creationId xmlns:p14="http://schemas.microsoft.com/office/powerpoint/2010/main" val="3912319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Software Risk</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4</a:t>
            </a:fld>
            <a:endParaRPr lang="en-US"/>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76200" y="887845"/>
            <a:ext cx="8991600" cy="4796263"/>
          </a:xfrm>
        </p:spPr>
        <p:txBody>
          <a:bodyP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A possibility of suffering from loss in software development process is called a </a:t>
            </a:r>
            <a:r>
              <a:rPr lang="en-IN" sz="2000" dirty="0">
                <a:solidFill>
                  <a:srgbClr val="FF0000"/>
                </a:solidFill>
                <a:latin typeface="Times New Roman" panose="02020603050405020304" pitchFamily="18" charset="0"/>
                <a:cs typeface="Times New Roman" panose="02020603050405020304" pitchFamily="18" charset="0"/>
              </a:rPr>
              <a:t>software risk</a:t>
            </a:r>
            <a:r>
              <a:rPr lang="en-IN" sz="2000" dirty="0">
                <a:latin typeface="Times New Roman" panose="02020603050405020304" pitchFamily="18" charset="0"/>
                <a:cs typeface="Times New Roman" panose="02020603050405020304" pitchFamily="18" charset="0"/>
              </a:rPr>
              <a:t>. </a:t>
            </a:r>
          </a:p>
          <a:p>
            <a:pPr algn="just">
              <a:lnSpc>
                <a:spcPct val="150000"/>
              </a:lnSpc>
            </a:pPr>
            <a:r>
              <a:rPr lang="en-IN" sz="2000" dirty="0">
                <a:latin typeface="Times New Roman" panose="02020603050405020304" pitchFamily="18" charset="0"/>
                <a:cs typeface="Times New Roman" panose="02020603050405020304" pitchFamily="18" charset="0"/>
              </a:rPr>
              <a:t>Loss can be anything, increase in production cost, development of poor quality software, not being able to complete the project on time. </a:t>
            </a:r>
          </a:p>
          <a:p>
            <a:pPr algn="just">
              <a:lnSpc>
                <a:spcPct val="150000"/>
              </a:lnSpc>
            </a:pPr>
            <a:r>
              <a:rPr lang="en-IN" sz="2000" dirty="0">
                <a:latin typeface="Times New Roman" panose="02020603050405020304" pitchFamily="18" charset="0"/>
                <a:cs typeface="Times New Roman" panose="02020603050405020304" pitchFamily="18" charset="0"/>
              </a:rPr>
              <a:t>Software risk exists because the future is uncertain and many known and unknown things cannot be incorporated in the project plan. </a:t>
            </a:r>
          </a:p>
          <a:p>
            <a:pPr algn="just">
              <a:lnSpc>
                <a:spcPct val="150000"/>
              </a:lnSpc>
            </a:pPr>
            <a:r>
              <a:rPr lang="en-IN" sz="2000" dirty="0">
                <a:latin typeface="Times New Roman" panose="02020603050405020304" pitchFamily="18" charset="0"/>
                <a:cs typeface="Times New Roman" panose="02020603050405020304" pitchFamily="18" charset="0"/>
              </a:rPr>
              <a:t>A software risk can be of two types </a:t>
            </a:r>
          </a:p>
          <a:p>
            <a:pPr lvl="1" algn="just">
              <a:lnSpc>
                <a:spcPct val="150000"/>
              </a:lnSpc>
            </a:pPr>
            <a:r>
              <a:rPr lang="en-IN" sz="2000" dirty="0">
                <a:latin typeface="Times New Roman" panose="02020603050405020304" pitchFamily="18" charset="0"/>
                <a:cs typeface="Times New Roman" panose="02020603050405020304" pitchFamily="18" charset="0"/>
              </a:rPr>
              <a:t>(1) internal risks that are within the control of the project manager and </a:t>
            </a:r>
          </a:p>
          <a:p>
            <a:pPr lvl="1" algn="just">
              <a:lnSpc>
                <a:spcPct val="150000"/>
              </a:lnSpc>
            </a:pPr>
            <a:r>
              <a:rPr lang="en-IN" sz="2000" dirty="0">
                <a:latin typeface="Times New Roman" panose="02020603050405020304" pitchFamily="18" charset="0"/>
                <a:cs typeface="Times New Roman" panose="02020603050405020304" pitchFamily="18" charset="0"/>
              </a:rPr>
              <a:t>(2) external risks that are beyond the control of project manager. </a:t>
            </a:r>
            <a:r>
              <a:rPr lang="en-US" sz="2000" dirty="0">
                <a:solidFill>
                  <a:srgbClr val="30303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05679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268825" cy="674703"/>
          </a:xfrm>
        </p:spPr>
        <p:txBody>
          <a:bodyPr/>
          <a:lstStyle/>
          <a:p>
            <a:pPr algn="l"/>
            <a:r>
              <a:rPr lang="en-US" b="1" dirty="0">
                <a:latin typeface="Times New Roman Bold" panose="02020503050405090304" charset="0"/>
                <a:cs typeface="Times New Roman Bold" panose="02020503050405090304" charset="0"/>
              </a:rPr>
              <a:t>Software Risk Categorization</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5</a:t>
            </a:fld>
            <a:endParaRPr lang="en-US"/>
          </a:p>
        </p:txBody>
      </p:sp>
      <p:sp>
        <p:nvSpPr>
          <p:cNvPr id="7" name="Date Placeholder 3">
            <a:extLst>
              <a:ext uri="{FF2B5EF4-FFF2-40B4-BE49-F238E27FC236}">
                <a16:creationId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58131" y="878418"/>
            <a:ext cx="8991600" cy="5410200"/>
          </a:xfrm>
        </p:spPr>
        <p:txBody>
          <a:bodyPr>
            <a:noAutofit/>
          </a:bodyPr>
          <a:lstStyle/>
          <a:p>
            <a:pPr indent="-457200" algn="just">
              <a:lnSpc>
                <a:spcPct val="150000"/>
              </a:lnSpc>
              <a:buFont typeface="+mj-lt"/>
              <a:buAutoNum type="arabicPeriod"/>
            </a:pPr>
            <a:r>
              <a:rPr lang="en-IN" sz="2000" b="1" dirty="0">
                <a:solidFill>
                  <a:srgbClr val="C00000"/>
                </a:solidFill>
                <a:latin typeface="Times New Roman" panose="02020603050405020304" pitchFamily="18" charset="0"/>
                <a:cs typeface="Times New Roman" panose="02020603050405020304" pitchFamily="18" charset="0"/>
              </a:rPr>
              <a:t>Project risks </a:t>
            </a:r>
            <a:r>
              <a:rPr lang="en-IN" sz="2000" dirty="0">
                <a:latin typeface="Times New Roman" panose="02020603050405020304" pitchFamily="18" charset="0"/>
                <a:cs typeface="Times New Roman" panose="02020603050405020304" pitchFamily="18" charset="0"/>
              </a:rPr>
              <a:t>threaten the project plan. That is, if project risks become real, it is likely that the project schedule will slip and that costs will increase. </a:t>
            </a:r>
          </a:p>
          <a:p>
            <a:pPr marL="342900" algn="just">
              <a:lnSpc>
                <a:spcPct val="150000"/>
              </a:lnSpc>
            </a:pPr>
            <a:r>
              <a:rPr lang="en-IN" sz="2000" dirty="0">
                <a:latin typeface="Times New Roman" panose="02020603050405020304" pitchFamily="18" charset="0"/>
                <a:cs typeface="Times New Roman" panose="02020603050405020304" pitchFamily="18" charset="0"/>
              </a:rPr>
              <a:t>Project risks identify potential budgetary, schedule, personnel (staffing and organization), resource, stakeholder, and requirements problems and their impact on a software project.</a:t>
            </a:r>
            <a:endParaRPr lang="en-IN" sz="2000" b="1" dirty="0">
              <a:latin typeface="Times New Roman" panose="02020603050405020304" pitchFamily="18" charset="0"/>
              <a:cs typeface="Times New Roman" panose="02020603050405020304" pitchFamily="18" charset="0"/>
            </a:endParaRPr>
          </a:p>
          <a:p>
            <a:pPr marL="0" indent="0" algn="just">
              <a:lnSpc>
                <a:spcPct val="150000"/>
              </a:lnSpc>
              <a:buNone/>
            </a:pPr>
            <a:r>
              <a:rPr lang="en-IN" sz="2000" b="1" dirty="0">
                <a:solidFill>
                  <a:schemeClr val="tx1"/>
                </a:solidFill>
                <a:latin typeface="Times New Roman" panose="02020603050405020304" pitchFamily="18" charset="0"/>
                <a:cs typeface="Times New Roman" panose="02020603050405020304" pitchFamily="18" charset="0"/>
              </a:rPr>
              <a:t>2</a:t>
            </a:r>
            <a:r>
              <a:rPr lang="en-IN" sz="2000" b="1" dirty="0">
                <a:solidFill>
                  <a:srgbClr val="C00000"/>
                </a:solidFill>
                <a:latin typeface="Times New Roman" panose="02020603050405020304" pitchFamily="18" charset="0"/>
                <a:cs typeface="Times New Roman" panose="02020603050405020304" pitchFamily="18" charset="0"/>
              </a:rPr>
              <a:t>. Technical risks </a:t>
            </a:r>
            <a:r>
              <a:rPr lang="en-IN" sz="2000" dirty="0">
                <a:latin typeface="Times New Roman" panose="02020603050405020304" pitchFamily="18" charset="0"/>
                <a:cs typeface="Times New Roman" panose="02020603050405020304" pitchFamily="18" charset="0"/>
              </a:rPr>
              <a:t>threaten the quality and timeliness of the software to be produced. If a technical risk becomes a reality, implementation may become difficult or impossible. </a:t>
            </a:r>
          </a:p>
          <a:p>
            <a:pPr marL="342900" algn="just">
              <a:lnSpc>
                <a:spcPct val="150000"/>
              </a:lnSpc>
            </a:pPr>
            <a:r>
              <a:rPr lang="en-IN" sz="2000" dirty="0">
                <a:latin typeface="Times New Roman" panose="02020603050405020304" pitchFamily="18" charset="0"/>
                <a:cs typeface="Times New Roman" panose="02020603050405020304" pitchFamily="18" charset="0"/>
              </a:rPr>
              <a:t>Technical risks identify potential design, implementation, interface, verification, and maintenance problems.</a:t>
            </a:r>
          </a:p>
          <a:p>
            <a:pPr marL="0" indent="0" algn="just">
              <a:lnSpc>
                <a:spcPct val="150000"/>
              </a:lnSpc>
              <a:buNone/>
            </a:pPr>
            <a:br>
              <a:rPr lang="en-US" sz="2000" dirty="0"/>
            </a:br>
            <a:r>
              <a:rPr lang="en-US" sz="2000" dirty="0">
                <a:solidFill>
                  <a:srgbClr val="303030"/>
                </a:solidFill>
              </a:rPr>
              <a:t> </a:t>
            </a:r>
            <a:br>
              <a:rPr lang="en-US" sz="2000" dirty="0"/>
            </a:br>
            <a:endParaRPr lang="en-US" sz="2000" dirty="0">
              <a:solidFill>
                <a:srgbClr val="303030"/>
              </a:solidFill>
            </a:endParaRPr>
          </a:p>
        </p:txBody>
      </p:sp>
    </p:spTree>
    <p:extLst>
      <p:ext uri="{BB962C8B-B14F-4D97-AF65-F5344CB8AC3E}">
        <p14:creationId xmlns:p14="http://schemas.microsoft.com/office/powerpoint/2010/main" val="372477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5448693" cy="697584"/>
          </a:xfrm>
        </p:spPr>
        <p:txBody>
          <a:bodyPr/>
          <a:lstStyle/>
          <a:p>
            <a:pPr algn="l"/>
            <a:r>
              <a:rPr lang="en-US" b="1" dirty="0">
                <a:latin typeface="Times New Roman Bold" panose="02020503050405090304" charset="0"/>
                <a:cs typeface="Times New Roman Bold" panose="02020503050405090304" charset="0"/>
              </a:rPr>
              <a:t>Software Risk Categorization</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6</a:t>
            </a:fld>
            <a:endParaRPr lang="en-US"/>
          </a:p>
        </p:txBody>
      </p:sp>
      <p:sp>
        <p:nvSpPr>
          <p:cNvPr id="7" name="Date Placeholder 3">
            <a:extLst>
              <a:ext uri="{FF2B5EF4-FFF2-40B4-BE49-F238E27FC236}">
                <a16:creationId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76200" y="887845"/>
            <a:ext cx="8991600" cy="5626077"/>
          </a:xfrm>
        </p:spPr>
        <p:txBody>
          <a:bodyPr>
            <a:normAutofit fontScale="70000" lnSpcReduction="20000"/>
          </a:bodyPr>
          <a:lstStyle/>
          <a:p>
            <a:pPr marL="0" indent="0">
              <a:lnSpc>
                <a:spcPct val="150000"/>
              </a:lnSpc>
              <a:buNone/>
            </a:pPr>
            <a:r>
              <a:rPr lang="en-IN" sz="2900" b="1" dirty="0">
                <a:solidFill>
                  <a:schemeClr val="tx1"/>
                </a:solidFill>
                <a:latin typeface="Times New Roman" panose="02020603050405020304" pitchFamily="18" charset="0"/>
                <a:cs typeface="Times New Roman" panose="02020603050405020304" pitchFamily="18" charset="0"/>
              </a:rPr>
              <a:t>3</a:t>
            </a:r>
            <a:r>
              <a:rPr lang="en-IN" sz="3200" b="1" dirty="0">
                <a:solidFill>
                  <a:srgbClr val="C00000"/>
                </a:solidFill>
              </a:rPr>
              <a:t>.</a:t>
            </a:r>
            <a:r>
              <a:rPr lang="en-IN" sz="2000" b="1" dirty="0">
                <a:solidFill>
                  <a:srgbClr val="C00000"/>
                </a:solidFill>
              </a:rPr>
              <a:t> </a:t>
            </a:r>
            <a:r>
              <a:rPr lang="en-IN" sz="2900" b="1" dirty="0">
                <a:solidFill>
                  <a:srgbClr val="C00000"/>
                </a:solidFill>
                <a:latin typeface="Times New Roman" panose="02020603050405020304" pitchFamily="18" charset="0"/>
                <a:cs typeface="Times New Roman" panose="02020603050405020304" pitchFamily="18" charset="0"/>
              </a:rPr>
              <a:t>Business risks </a:t>
            </a:r>
            <a:r>
              <a:rPr lang="en-IN" sz="2900" dirty="0">
                <a:latin typeface="Times New Roman" panose="02020603050405020304" pitchFamily="18" charset="0"/>
                <a:cs typeface="Times New Roman" panose="02020603050405020304" pitchFamily="18" charset="0"/>
              </a:rPr>
              <a:t>threaten the viability of the software to be built and often jeopardize the project or the product. Candidates for the top five business risks are: </a:t>
            </a:r>
          </a:p>
          <a:p>
            <a:pPr marL="914400" lvl="1" indent="-514350">
              <a:lnSpc>
                <a:spcPct val="150000"/>
              </a:lnSpc>
              <a:buFont typeface="+mj-lt"/>
              <a:buAutoNum type="romanLcPeriod"/>
            </a:pPr>
            <a:r>
              <a:rPr lang="en-IN" sz="2900" dirty="0">
                <a:latin typeface="Times New Roman" panose="02020603050405020304" pitchFamily="18" charset="0"/>
                <a:cs typeface="Times New Roman" panose="02020603050405020304" pitchFamily="18" charset="0"/>
              </a:rPr>
              <a:t>building an excellent product or system that no one really wants </a:t>
            </a:r>
            <a:r>
              <a:rPr lang="en-IN" sz="2900" i="1" dirty="0">
                <a:solidFill>
                  <a:srgbClr val="3A30FA"/>
                </a:solidFill>
                <a:latin typeface="Times New Roman" panose="02020603050405020304" pitchFamily="18" charset="0"/>
                <a:cs typeface="Times New Roman" panose="02020603050405020304" pitchFamily="18" charset="0"/>
              </a:rPr>
              <a:t>(market risk)</a:t>
            </a:r>
          </a:p>
          <a:p>
            <a:pPr marL="914400" lvl="1" indent="-514350">
              <a:lnSpc>
                <a:spcPct val="150000"/>
              </a:lnSpc>
              <a:buFont typeface="+mj-lt"/>
              <a:buAutoNum type="romanLcPeriod"/>
            </a:pPr>
            <a:r>
              <a:rPr lang="en-IN" sz="2900" dirty="0">
                <a:latin typeface="Times New Roman" panose="02020603050405020304" pitchFamily="18" charset="0"/>
                <a:cs typeface="Times New Roman" panose="02020603050405020304" pitchFamily="18" charset="0"/>
              </a:rPr>
              <a:t>building a product that no longer fits into the overall business strategy for the company </a:t>
            </a:r>
            <a:r>
              <a:rPr lang="en-IN" sz="2900" i="1" dirty="0">
                <a:solidFill>
                  <a:srgbClr val="3A30FA"/>
                </a:solidFill>
                <a:latin typeface="Times New Roman" panose="02020603050405020304" pitchFamily="18" charset="0"/>
                <a:cs typeface="Times New Roman" panose="02020603050405020304" pitchFamily="18" charset="0"/>
              </a:rPr>
              <a:t>(strategic risk)</a:t>
            </a:r>
          </a:p>
          <a:p>
            <a:pPr marL="914400" lvl="1" indent="-514350">
              <a:lnSpc>
                <a:spcPct val="150000"/>
              </a:lnSpc>
              <a:buFont typeface="+mj-lt"/>
              <a:buAutoNum type="romanLcPeriod"/>
            </a:pPr>
            <a:r>
              <a:rPr lang="en-IN" sz="2900" dirty="0">
                <a:latin typeface="Times New Roman" panose="02020603050405020304" pitchFamily="18" charset="0"/>
                <a:cs typeface="Times New Roman" panose="02020603050405020304" pitchFamily="18" charset="0"/>
              </a:rPr>
              <a:t>building a product that the sales force doesn’t understand how to sell </a:t>
            </a:r>
            <a:r>
              <a:rPr lang="en-IN" sz="2900" i="1" dirty="0">
                <a:solidFill>
                  <a:srgbClr val="3A30FA"/>
                </a:solidFill>
                <a:latin typeface="Times New Roman" panose="02020603050405020304" pitchFamily="18" charset="0"/>
                <a:cs typeface="Times New Roman" panose="02020603050405020304" pitchFamily="18" charset="0"/>
              </a:rPr>
              <a:t>(sales risk)</a:t>
            </a:r>
          </a:p>
          <a:p>
            <a:pPr marL="914400" lvl="1" indent="-514350">
              <a:lnSpc>
                <a:spcPct val="150000"/>
              </a:lnSpc>
              <a:buFont typeface="+mj-lt"/>
              <a:buAutoNum type="romanLcPeriod"/>
            </a:pPr>
            <a:r>
              <a:rPr lang="en-IN" sz="2900" dirty="0">
                <a:latin typeface="Times New Roman" panose="02020603050405020304" pitchFamily="18" charset="0"/>
                <a:cs typeface="Times New Roman" panose="02020603050405020304" pitchFamily="18" charset="0"/>
              </a:rPr>
              <a:t>losing the support of senior management due to a change in focus or a change in people </a:t>
            </a:r>
            <a:r>
              <a:rPr lang="en-IN" sz="2900" i="1" dirty="0">
                <a:solidFill>
                  <a:srgbClr val="3A30FA"/>
                </a:solidFill>
                <a:latin typeface="Times New Roman" panose="02020603050405020304" pitchFamily="18" charset="0"/>
                <a:cs typeface="Times New Roman" panose="02020603050405020304" pitchFamily="18" charset="0"/>
              </a:rPr>
              <a:t>(management risk)</a:t>
            </a:r>
          </a:p>
          <a:p>
            <a:pPr marL="914400" lvl="1" indent="-514350">
              <a:lnSpc>
                <a:spcPct val="150000"/>
              </a:lnSpc>
              <a:buFont typeface="+mj-lt"/>
              <a:buAutoNum type="romanLcPeriod"/>
            </a:pPr>
            <a:r>
              <a:rPr lang="en-IN" sz="2900" dirty="0">
                <a:latin typeface="Times New Roman" panose="02020603050405020304" pitchFamily="18" charset="0"/>
                <a:cs typeface="Times New Roman" panose="02020603050405020304" pitchFamily="18" charset="0"/>
              </a:rPr>
              <a:t>losing budgetary or personnel commitment </a:t>
            </a:r>
            <a:r>
              <a:rPr lang="en-IN" sz="2900" i="1" dirty="0">
                <a:solidFill>
                  <a:srgbClr val="3A30FA"/>
                </a:solidFill>
                <a:latin typeface="Times New Roman" panose="02020603050405020304" pitchFamily="18" charset="0"/>
                <a:cs typeface="Times New Roman" panose="02020603050405020304" pitchFamily="18" charset="0"/>
              </a:rPr>
              <a:t>(budget risks).</a:t>
            </a:r>
          </a:p>
        </p:txBody>
      </p:sp>
    </p:spTree>
    <p:extLst>
      <p:ext uri="{BB962C8B-B14F-4D97-AF65-F5344CB8AC3E}">
        <p14:creationId xmlns:p14="http://schemas.microsoft.com/office/powerpoint/2010/main" val="3739730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231876" cy="744718"/>
          </a:xfrm>
        </p:spPr>
        <p:txBody>
          <a:bodyPr/>
          <a:lstStyle/>
          <a:p>
            <a:pPr algn="l"/>
            <a:r>
              <a:rPr lang="en-US" b="1" dirty="0">
                <a:latin typeface="Times New Roman Bold" panose="02020503050405090304" charset="0"/>
                <a:cs typeface="Times New Roman Bold" panose="02020503050405090304" charset="0"/>
              </a:rPr>
              <a:t>Software Risk Categorization</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7</a:t>
            </a:fld>
            <a:endParaRPr lang="en-US"/>
          </a:p>
        </p:txBody>
      </p:sp>
      <p:sp>
        <p:nvSpPr>
          <p:cNvPr id="7" name="Date Placeholder 3">
            <a:extLst>
              <a:ext uri="{FF2B5EF4-FFF2-40B4-BE49-F238E27FC236}">
                <a16:creationId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76200" y="887845"/>
            <a:ext cx="8991600" cy="5410200"/>
          </a:xfrm>
        </p:spPr>
        <p:txBody>
          <a:bodyPr>
            <a:normAutofit fontScale="92500" lnSpcReduction="20000"/>
          </a:bodyPr>
          <a:lstStyle/>
          <a:p>
            <a:pPr marL="0" indent="0" algn="just">
              <a:lnSpc>
                <a:spcPct val="150000"/>
              </a:lnSpc>
              <a:buNone/>
            </a:pPr>
            <a:r>
              <a:rPr lang="en-US" sz="2200" b="0" i="0" dirty="0">
                <a:solidFill>
                  <a:srgbClr val="242021"/>
                </a:solidFill>
                <a:effectLst/>
                <a:latin typeface="Times New Roman" panose="02020603050405020304" pitchFamily="18" charset="0"/>
                <a:cs typeface="Times New Roman" panose="02020603050405020304" pitchFamily="18" charset="0"/>
              </a:rPr>
              <a:t>Another general categorization of risks has been proposed by Charette: </a:t>
            </a:r>
          </a:p>
          <a:p>
            <a:pPr algn="just">
              <a:lnSpc>
                <a:spcPct val="150000"/>
              </a:lnSpc>
              <a:buFont typeface="+mj-lt"/>
              <a:buAutoNum type="arabicPeriod"/>
            </a:pPr>
            <a:r>
              <a:rPr lang="en-US" sz="2200" b="1" dirty="0">
                <a:solidFill>
                  <a:srgbClr val="C00000"/>
                </a:solidFill>
                <a:effectLst/>
                <a:latin typeface="Times New Roman" panose="02020603050405020304" pitchFamily="18" charset="0"/>
                <a:cs typeface="Times New Roman" panose="02020603050405020304" pitchFamily="18" charset="0"/>
              </a:rPr>
              <a:t>Known risks </a:t>
            </a:r>
            <a:r>
              <a:rPr lang="en-US" sz="2200" b="0" i="0" dirty="0">
                <a:solidFill>
                  <a:srgbClr val="242021"/>
                </a:solidFill>
                <a:effectLst/>
                <a:latin typeface="Times New Roman" panose="02020603050405020304" pitchFamily="18" charset="0"/>
                <a:cs typeface="Times New Roman" panose="02020603050405020304" pitchFamily="18" charset="0"/>
              </a:rPr>
              <a:t>are those that can be uncovered after careful evaluation of the project plan, the business and technical environment in which the project is being developed, and other reliable information sources (e.g., unrealistic delivery date, lack of documented requirements or software scope, poor development environment). </a:t>
            </a:r>
          </a:p>
          <a:p>
            <a:pPr algn="just">
              <a:lnSpc>
                <a:spcPct val="150000"/>
              </a:lnSpc>
              <a:buFont typeface="+mj-lt"/>
              <a:buAutoNum type="arabicPeriod"/>
            </a:pPr>
            <a:r>
              <a:rPr lang="en-US" sz="2200" b="1" dirty="0">
                <a:solidFill>
                  <a:srgbClr val="C00000"/>
                </a:solidFill>
                <a:effectLst/>
                <a:latin typeface="Times New Roman" panose="02020603050405020304" pitchFamily="18" charset="0"/>
                <a:cs typeface="Times New Roman" panose="02020603050405020304" pitchFamily="18" charset="0"/>
              </a:rPr>
              <a:t>Predictable risks </a:t>
            </a:r>
            <a:r>
              <a:rPr lang="en-US" sz="2200" b="0" i="0" dirty="0">
                <a:solidFill>
                  <a:srgbClr val="242021"/>
                </a:solidFill>
                <a:effectLst/>
                <a:latin typeface="Times New Roman" panose="02020603050405020304" pitchFamily="18" charset="0"/>
                <a:cs typeface="Times New Roman" panose="02020603050405020304" pitchFamily="18" charset="0"/>
              </a:rPr>
              <a:t>are extrapolated from past project experience (e.g., staff turnover, poor communication with the customer, dilution of staff effort as ongoing maintenance requests are serviced). </a:t>
            </a:r>
          </a:p>
          <a:p>
            <a:pPr algn="just">
              <a:lnSpc>
                <a:spcPct val="150000"/>
              </a:lnSpc>
              <a:buFont typeface="+mj-lt"/>
              <a:buAutoNum type="arabicPeriod"/>
            </a:pPr>
            <a:r>
              <a:rPr lang="en-US" sz="2200" b="1" dirty="0">
                <a:solidFill>
                  <a:srgbClr val="C00000"/>
                </a:solidFill>
                <a:effectLst/>
                <a:latin typeface="Times New Roman" panose="02020603050405020304" pitchFamily="18" charset="0"/>
                <a:cs typeface="Times New Roman" panose="02020603050405020304" pitchFamily="18" charset="0"/>
              </a:rPr>
              <a:t>Unpredictable risks </a:t>
            </a:r>
            <a:r>
              <a:rPr lang="en-US" sz="2200" b="0" i="0" dirty="0">
                <a:solidFill>
                  <a:srgbClr val="242021"/>
                </a:solidFill>
                <a:effectLst/>
                <a:latin typeface="Times New Roman" panose="02020603050405020304" pitchFamily="18" charset="0"/>
                <a:cs typeface="Times New Roman" panose="02020603050405020304" pitchFamily="18" charset="0"/>
              </a:rPr>
              <a:t>are the joker in the deck. They can and do occur, but they are extremely difficult to identify in advance</a:t>
            </a:r>
            <a:r>
              <a:rPr lang="en-US" sz="2200" b="0" i="0" dirty="0">
                <a:solidFill>
                  <a:srgbClr val="242021"/>
                </a:solidFill>
                <a:effectLst/>
              </a:rPr>
              <a:t>.</a:t>
            </a:r>
            <a:r>
              <a:rPr lang="en-US" sz="1800" dirty="0">
                <a:solidFill>
                  <a:srgbClr val="303030"/>
                </a:solidFill>
              </a:rPr>
              <a:t> </a:t>
            </a:r>
            <a:br>
              <a:rPr lang="en-US" sz="1800" dirty="0"/>
            </a:br>
            <a:endParaRPr lang="en-US" sz="1800" dirty="0">
              <a:solidFill>
                <a:srgbClr val="303030"/>
              </a:solidFill>
            </a:endParaRPr>
          </a:p>
        </p:txBody>
      </p:sp>
    </p:spTree>
    <p:extLst>
      <p:ext uri="{BB962C8B-B14F-4D97-AF65-F5344CB8AC3E}">
        <p14:creationId xmlns:p14="http://schemas.microsoft.com/office/powerpoint/2010/main" val="4101049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Risk Strategies</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8</a:t>
            </a:fld>
            <a:endParaRPr lang="en-US"/>
          </a:p>
        </p:txBody>
      </p:sp>
      <p:sp>
        <p:nvSpPr>
          <p:cNvPr id="7" name="Date Placeholder 3">
            <a:extLst>
              <a:ext uri="{FF2B5EF4-FFF2-40B4-BE49-F238E27FC236}">
                <a16:creationId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76200" y="887844"/>
            <a:ext cx="9001812" cy="5541235"/>
          </a:xfrm>
        </p:spPr>
        <p:txBody>
          <a:bodyPr>
            <a:normAutofit fontScale="25000" lnSpcReduction="20000"/>
          </a:bodyPr>
          <a:lstStyle/>
          <a:p>
            <a:pPr marL="0" indent="0" algn="just">
              <a:lnSpc>
                <a:spcPct val="150000"/>
              </a:lnSpc>
              <a:buNone/>
            </a:pPr>
            <a:r>
              <a:rPr lang="en-IN" sz="8000" b="1" dirty="0">
                <a:solidFill>
                  <a:srgbClr val="C00000"/>
                </a:solidFill>
                <a:latin typeface="Times New Roman" panose="02020603050405020304" pitchFamily="18" charset="0"/>
                <a:cs typeface="Times New Roman" panose="02020603050405020304" pitchFamily="18" charset="0"/>
              </a:rPr>
              <a:t>1. Reactive risk strategies: </a:t>
            </a:r>
          </a:p>
          <a:p>
            <a:pPr algn="just">
              <a:lnSpc>
                <a:spcPct val="150000"/>
              </a:lnSpc>
            </a:pPr>
            <a:r>
              <a:rPr lang="en-IN" sz="8000" dirty="0">
                <a:latin typeface="Times New Roman" panose="02020603050405020304" pitchFamily="18" charset="0"/>
                <a:cs typeface="Times New Roman" panose="02020603050405020304" pitchFamily="18" charset="0"/>
              </a:rPr>
              <a:t>The majority of software teams and managers rely on this approach</a:t>
            </a:r>
          </a:p>
          <a:p>
            <a:pPr algn="just">
              <a:lnSpc>
                <a:spcPct val="150000"/>
              </a:lnSpc>
            </a:pPr>
            <a:r>
              <a:rPr lang="en-IN" sz="8000" dirty="0">
                <a:latin typeface="Times New Roman" panose="02020603050405020304" pitchFamily="18" charset="0"/>
                <a:cs typeface="Times New Roman" panose="02020603050405020304" pitchFamily="18" charset="0"/>
              </a:rPr>
              <a:t>Nothing is done about risks until something goes wrong</a:t>
            </a:r>
          </a:p>
          <a:p>
            <a:pPr algn="just">
              <a:lnSpc>
                <a:spcPct val="150000"/>
              </a:lnSpc>
            </a:pPr>
            <a:r>
              <a:rPr lang="en-IN" sz="8000" dirty="0">
                <a:latin typeface="Times New Roman" panose="02020603050405020304" pitchFamily="18" charset="0"/>
                <a:cs typeface="Times New Roman" panose="02020603050405020304" pitchFamily="18" charset="0"/>
              </a:rPr>
              <a:t>The team then flies into action in an attempt to correct the problem rapidly </a:t>
            </a:r>
            <a:r>
              <a:rPr lang="en-IN" sz="8000" i="1" dirty="0">
                <a:solidFill>
                  <a:srgbClr val="C00000"/>
                </a:solidFill>
                <a:latin typeface="Times New Roman" panose="02020603050405020304" pitchFamily="18" charset="0"/>
                <a:cs typeface="Times New Roman" panose="02020603050405020304" pitchFamily="18" charset="0"/>
              </a:rPr>
              <a:t>(fire fighting mode)</a:t>
            </a:r>
          </a:p>
          <a:p>
            <a:pPr algn="just">
              <a:lnSpc>
                <a:spcPct val="150000"/>
              </a:lnSpc>
            </a:pPr>
            <a:r>
              <a:rPr lang="en-IN" sz="8000" dirty="0">
                <a:latin typeface="Times New Roman" panose="02020603050405020304" pitchFamily="18" charset="0"/>
                <a:cs typeface="Times New Roman" panose="02020603050405020304" pitchFamily="18" charset="0"/>
              </a:rPr>
              <a:t>Crisis management is the choice of management techniques</a:t>
            </a:r>
          </a:p>
          <a:p>
            <a:pPr marL="0" indent="0" algn="just">
              <a:lnSpc>
                <a:spcPct val="150000"/>
              </a:lnSpc>
              <a:buNone/>
            </a:pPr>
            <a:r>
              <a:rPr lang="en-IN" sz="8000" b="1" dirty="0">
                <a:solidFill>
                  <a:srgbClr val="C00000"/>
                </a:solidFill>
                <a:latin typeface="Times New Roman" panose="02020603050405020304" pitchFamily="18" charset="0"/>
                <a:cs typeface="Times New Roman" panose="02020603050405020304" pitchFamily="18" charset="0"/>
              </a:rPr>
              <a:t>2. Proactive risk strategies:</a:t>
            </a:r>
          </a:p>
          <a:p>
            <a:pPr algn="just">
              <a:lnSpc>
                <a:spcPct val="150000"/>
              </a:lnSpc>
            </a:pPr>
            <a:r>
              <a:rPr lang="en-IN" sz="8000" dirty="0">
                <a:latin typeface="Times New Roman" panose="02020603050405020304" pitchFamily="18" charset="0"/>
                <a:cs typeface="Times New Roman" panose="02020603050405020304" pitchFamily="18" charset="0"/>
              </a:rPr>
              <a:t>A proactive strategy begins long before technical work is initiated. </a:t>
            </a:r>
          </a:p>
          <a:p>
            <a:pPr algn="just">
              <a:lnSpc>
                <a:spcPct val="150000"/>
              </a:lnSpc>
            </a:pPr>
            <a:r>
              <a:rPr lang="en-IN" sz="8000" dirty="0">
                <a:latin typeface="Times New Roman" panose="02020603050405020304" pitchFamily="18" charset="0"/>
                <a:cs typeface="Times New Roman" panose="02020603050405020304" pitchFamily="18" charset="0"/>
              </a:rPr>
              <a:t>Potential risks are identified, their probability and impact are assessed, and they are ranked by importance.</a:t>
            </a:r>
          </a:p>
          <a:p>
            <a:pPr algn="just">
              <a:lnSpc>
                <a:spcPct val="150000"/>
              </a:lnSpc>
            </a:pPr>
            <a:r>
              <a:rPr lang="en-IN" sz="8000" dirty="0">
                <a:latin typeface="Times New Roman" panose="02020603050405020304" pitchFamily="18" charset="0"/>
                <a:cs typeface="Times New Roman" panose="02020603050405020304" pitchFamily="18" charset="0"/>
              </a:rPr>
              <a:t>Primary objective is to avoid risk and to have a contingency plan in place to handle unavoidable risks in a controlled and effective manner.</a:t>
            </a:r>
          </a:p>
          <a:p>
            <a:pPr marL="0" indent="0" algn="just">
              <a:lnSpc>
                <a:spcPct val="150000"/>
              </a:lnSpc>
              <a:buNone/>
            </a:pPr>
            <a:r>
              <a:rPr lang="en-US" sz="8000" dirty="0">
                <a:latin typeface="Times New Roman" panose="02020603050405020304" pitchFamily="18" charset="0"/>
                <a:cs typeface="Times New Roman" panose="02020603050405020304" pitchFamily="18" charset="0"/>
              </a:rPr>
              <a:t> </a:t>
            </a:r>
            <a:br>
              <a:rPr lang="en-US" sz="8000" dirty="0">
                <a:latin typeface="Times New Roman" panose="02020603050405020304" pitchFamily="18" charset="0"/>
                <a:cs typeface="Times New Roman" panose="02020603050405020304" pitchFamily="18" charset="0"/>
              </a:rPr>
            </a:br>
            <a:br>
              <a:rPr lang="en-US" sz="2600" dirty="0"/>
            </a:br>
            <a:r>
              <a:rPr lang="en-US" sz="1800" dirty="0">
                <a:solidFill>
                  <a:srgbClr val="303030"/>
                </a:solidFill>
              </a:rPr>
              <a:t> </a:t>
            </a:r>
            <a:br>
              <a:rPr lang="en-US" sz="1800" dirty="0"/>
            </a:br>
            <a:endParaRPr lang="en-US" sz="1800" dirty="0">
              <a:solidFill>
                <a:srgbClr val="303030"/>
              </a:solidFill>
            </a:endParaRPr>
          </a:p>
        </p:txBody>
      </p:sp>
    </p:spTree>
    <p:extLst>
      <p:ext uri="{BB962C8B-B14F-4D97-AF65-F5344CB8AC3E}">
        <p14:creationId xmlns:p14="http://schemas.microsoft.com/office/powerpoint/2010/main" val="2985809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Risk Identification</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9</a:t>
            </a:fld>
            <a:endParaRPr lang="en-US"/>
          </a:p>
        </p:txBody>
      </p:sp>
      <p:sp>
        <p:nvSpPr>
          <p:cNvPr id="7" name="Date Placeholder 3">
            <a:extLst>
              <a:ext uri="{FF2B5EF4-FFF2-40B4-BE49-F238E27FC236}">
                <a16:creationId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76200" y="887845"/>
            <a:ext cx="8991600" cy="5410200"/>
          </a:xfrm>
        </p:spPr>
        <p:txBody>
          <a:bodyPr>
            <a:noAutofit/>
          </a:bodyPr>
          <a:lstStyle/>
          <a:p>
            <a:pPr algn="just">
              <a:lnSpc>
                <a:spcPct val="150000"/>
              </a:lnSpc>
            </a:pPr>
            <a:r>
              <a:rPr lang="en-IN" b="1" dirty="0">
                <a:solidFill>
                  <a:srgbClr val="C00000"/>
                </a:solidFill>
                <a:latin typeface="Times New Roman" panose="02020603050405020304" pitchFamily="18" charset="0"/>
                <a:cs typeface="Times New Roman" panose="02020603050405020304" pitchFamily="18" charset="0"/>
              </a:rPr>
              <a:t>Risk identification </a:t>
            </a:r>
            <a:r>
              <a:rPr lang="en-IN" dirty="0">
                <a:latin typeface="Times New Roman" panose="02020603050405020304" pitchFamily="18" charset="0"/>
                <a:cs typeface="Times New Roman" panose="02020603050405020304" pitchFamily="18" charset="0"/>
              </a:rPr>
              <a:t>is a systematic attempt to specify threats to the project plan</a:t>
            </a:r>
          </a:p>
          <a:p>
            <a:pPr algn="just">
              <a:lnSpc>
                <a:spcPct val="150000"/>
              </a:lnSpc>
            </a:pPr>
            <a:r>
              <a:rPr lang="en-IN" dirty="0">
                <a:latin typeface="Times New Roman" panose="02020603050405020304" pitchFamily="18" charset="0"/>
                <a:cs typeface="Times New Roman" panose="02020603050405020304" pitchFamily="18" charset="0"/>
              </a:rPr>
              <a:t>By identifying known and predictable risks, the project manager takes a first step toward avoiding them when possible and controlling them when necessary</a:t>
            </a:r>
          </a:p>
          <a:p>
            <a:pPr algn="just">
              <a:lnSpc>
                <a:spcPct val="150000"/>
              </a:lnSpc>
            </a:pPr>
            <a:r>
              <a:rPr lang="en-US" b="0" i="0" dirty="0">
                <a:solidFill>
                  <a:srgbClr val="242021"/>
                </a:solidFill>
                <a:effectLst/>
                <a:latin typeface="Times New Roman" panose="02020603050405020304" pitchFamily="18" charset="0"/>
                <a:cs typeface="Times New Roman" panose="02020603050405020304" pitchFamily="18" charset="0"/>
              </a:rPr>
              <a:t>There are two distinct types of risks: generic risks and product-specific risks.</a:t>
            </a:r>
          </a:p>
          <a:p>
            <a:pPr lvl="1" algn="just">
              <a:lnSpc>
                <a:spcPct val="150000"/>
              </a:lnSpc>
              <a:buFont typeface="+mj-lt"/>
              <a:buAutoNum type="arabicPeriod"/>
            </a:pPr>
            <a:r>
              <a:rPr lang="en-IN" sz="1800" b="1" dirty="0">
                <a:solidFill>
                  <a:srgbClr val="C00000"/>
                </a:solidFill>
                <a:latin typeface="Times New Roman" panose="02020603050405020304" pitchFamily="18" charset="0"/>
                <a:cs typeface="Times New Roman" panose="02020603050405020304" pitchFamily="18" charset="0"/>
              </a:rPr>
              <a:t>Generic risks </a:t>
            </a:r>
          </a:p>
          <a:p>
            <a:pPr lvl="1" algn="just">
              <a:lnSpc>
                <a:spcPct val="150000"/>
              </a:lnSpc>
            </a:pPr>
            <a:r>
              <a:rPr lang="en-IN" sz="1800" dirty="0">
                <a:latin typeface="Times New Roman" panose="02020603050405020304" pitchFamily="18" charset="0"/>
                <a:cs typeface="Times New Roman" panose="02020603050405020304" pitchFamily="18" charset="0"/>
              </a:rPr>
              <a:t>Risks that are a potential threat to every software project</a:t>
            </a:r>
          </a:p>
          <a:p>
            <a:pPr marL="800100" lvl="1" indent="-342900" algn="just">
              <a:lnSpc>
                <a:spcPct val="150000"/>
              </a:lnSpc>
              <a:buFont typeface="+mj-lt"/>
              <a:buAutoNum type="arabicPeriod" startAt="2"/>
            </a:pPr>
            <a:r>
              <a:rPr lang="en-IN" sz="1800" b="1" dirty="0">
                <a:solidFill>
                  <a:srgbClr val="C00000"/>
                </a:solidFill>
                <a:latin typeface="Times New Roman" panose="02020603050405020304" pitchFamily="18" charset="0"/>
                <a:cs typeface="Times New Roman" panose="02020603050405020304" pitchFamily="18" charset="0"/>
              </a:rPr>
              <a:t>Product-specific risks </a:t>
            </a:r>
          </a:p>
          <a:p>
            <a:pPr lvl="1" algn="just">
              <a:lnSpc>
                <a:spcPct val="150000"/>
              </a:lnSpc>
            </a:pPr>
            <a:r>
              <a:rPr lang="en-IN" sz="1800" dirty="0">
                <a:latin typeface="Times New Roman" panose="02020603050405020304" pitchFamily="18" charset="0"/>
                <a:cs typeface="Times New Roman" panose="02020603050405020304" pitchFamily="18" charset="0"/>
              </a:rPr>
              <a:t>Risks that can be identified only by those a with a clear understanding of the technology, the people, and the environment that is specific to the software that is to be built</a:t>
            </a:r>
          </a:p>
          <a:p>
            <a:pPr lvl="1" algn="just">
              <a:lnSpc>
                <a:spcPct val="150000"/>
              </a:lnSpc>
            </a:pPr>
            <a:r>
              <a:rPr lang="en-IN" sz="1800" dirty="0">
                <a:latin typeface="Times New Roman" panose="02020603050405020304" pitchFamily="18" charset="0"/>
                <a:cs typeface="Times New Roman" panose="02020603050405020304" pitchFamily="18" charset="0"/>
              </a:rPr>
              <a:t>This requires examination of the project plan and the statement of scope</a:t>
            </a:r>
          </a:p>
          <a:p>
            <a:pPr lvl="1" algn="just">
              <a:lnSpc>
                <a:spcPct val="150000"/>
              </a:lnSpc>
            </a:pPr>
            <a:r>
              <a:rPr lang="en-IN" sz="1800" dirty="0">
                <a:latin typeface="Times New Roman" panose="02020603050405020304" pitchFamily="18" charset="0"/>
                <a:cs typeface="Times New Roman" panose="02020603050405020304" pitchFamily="18" charset="0"/>
              </a:rPr>
              <a:t>"What special characteristics of this product may threaten our project plan?"</a:t>
            </a:r>
            <a:r>
              <a:rPr lang="en-US" sz="1800" dirty="0">
                <a:solidFill>
                  <a:srgbClr val="303030"/>
                </a:solidFill>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endParaRPr lang="en-US" sz="1800" dirty="0">
              <a:solidFill>
                <a:srgbClr val="30303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3626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Risk Identification</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10</a:t>
            </a:fld>
            <a:endParaRPr lang="en-US"/>
          </a:p>
        </p:txBody>
      </p:sp>
      <p:sp>
        <p:nvSpPr>
          <p:cNvPr id="7" name="Date Placeholder 3">
            <a:extLst>
              <a:ext uri="{FF2B5EF4-FFF2-40B4-BE49-F238E27FC236}">
                <a16:creationId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76200" y="887845"/>
            <a:ext cx="8991600" cy="5410200"/>
          </a:xfrm>
        </p:spPr>
        <p:txBody>
          <a:bodyP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One method for identifying risks is to create a risk item checklist. The checklist can be used for risk identification and focuses on some subset of known and predictable risks in the following generic subcategories:</a:t>
            </a:r>
          </a:p>
          <a:p>
            <a:pPr lvl="1" algn="just">
              <a:lnSpc>
                <a:spcPct val="150000"/>
              </a:lnSpc>
              <a:buFont typeface="+mj-lt"/>
              <a:buAutoNum type="arabicPeriod"/>
            </a:pPr>
            <a:r>
              <a:rPr lang="en-IN" sz="2000" b="1" dirty="0">
                <a:solidFill>
                  <a:srgbClr val="C00000"/>
                </a:solidFill>
                <a:latin typeface="Times New Roman" panose="02020603050405020304" pitchFamily="18" charset="0"/>
                <a:cs typeface="Times New Roman" panose="02020603050405020304" pitchFamily="18" charset="0"/>
              </a:rPr>
              <a:t>Product size</a:t>
            </a:r>
            <a:r>
              <a:rPr lang="en-IN" sz="2000" dirty="0">
                <a:latin typeface="Times New Roman" panose="02020603050405020304" pitchFamily="18" charset="0"/>
                <a:cs typeface="Times New Roman" panose="02020603050405020304" pitchFamily="18" charset="0"/>
              </a:rPr>
              <a:t>—risks associated with the overall size of the software to be built or modified.</a:t>
            </a:r>
          </a:p>
          <a:p>
            <a:pPr lvl="1" algn="just">
              <a:lnSpc>
                <a:spcPct val="150000"/>
              </a:lnSpc>
              <a:buFont typeface="+mj-lt"/>
              <a:buAutoNum type="arabicPeriod"/>
            </a:pPr>
            <a:r>
              <a:rPr lang="en-IN" sz="2000" b="1" dirty="0">
                <a:solidFill>
                  <a:srgbClr val="C00000"/>
                </a:solidFill>
                <a:latin typeface="Times New Roman" panose="02020603050405020304" pitchFamily="18" charset="0"/>
                <a:cs typeface="Times New Roman" panose="02020603050405020304" pitchFamily="18" charset="0"/>
              </a:rPr>
              <a:t>Business impact</a:t>
            </a:r>
            <a:r>
              <a:rPr lang="en-IN" sz="2000" dirty="0">
                <a:latin typeface="Times New Roman" panose="02020603050405020304" pitchFamily="18" charset="0"/>
                <a:cs typeface="Times New Roman" panose="02020603050405020304" pitchFamily="18" charset="0"/>
              </a:rPr>
              <a:t>—risks associated with constraints imposed by management or the marketplace.</a:t>
            </a:r>
          </a:p>
          <a:p>
            <a:pPr lvl="1" algn="just">
              <a:lnSpc>
                <a:spcPct val="150000"/>
              </a:lnSpc>
              <a:buFont typeface="+mj-lt"/>
              <a:buAutoNum type="arabicPeriod"/>
            </a:pPr>
            <a:r>
              <a:rPr lang="en-IN" sz="2000" b="1" dirty="0">
                <a:solidFill>
                  <a:srgbClr val="C00000"/>
                </a:solidFill>
                <a:latin typeface="Times New Roman" panose="02020603050405020304" pitchFamily="18" charset="0"/>
                <a:cs typeface="Times New Roman" panose="02020603050405020304" pitchFamily="18" charset="0"/>
              </a:rPr>
              <a:t>Stakeholder characteristics</a:t>
            </a:r>
            <a:r>
              <a:rPr lang="en-IN" sz="2000" dirty="0">
                <a:latin typeface="Times New Roman" panose="02020603050405020304" pitchFamily="18" charset="0"/>
                <a:cs typeface="Times New Roman" panose="02020603050405020304" pitchFamily="18" charset="0"/>
              </a:rPr>
              <a:t>—risks associated with the sophistication of the stakeholders and the developer’s ability to communicate with stakeholders in a timely manner.</a:t>
            </a:r>
          </a:p>
        </p:txBody>
      </p:sp>
    </p:spTree>
    <p:extLst>
      <p:ext uri="{BB962C8B-B14F-4D97-AF65-F5344CB8AC3E}">
        <p14:creationId xmlns:p14="http://schemas.microsoft.com/office/powerpoint/2010/main" val="3950277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Risk Identification</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11</a:t>
            </a:fld>
            <a:endParaRPr lang="en-US"/>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76200" y="887845"/>
            <a:ext cx="8991600" cy="4815371"/>
          </a:xfrm>
        </p:spPr>
        <p:txBody>
          <a:bodyPr>
            <a:normAutofit/>
          </a:bodyPr>
          <a:lstStyle/>
          <a:p>
            <a:pPr marL="800100" lvl="1" indent="-342900" algn="just">
              <a:lnSpc>
                <a:spcPct val="150000"/>
              </a:lnSpc>
              <a:buFont typeface="+mj-lt"/>
              <a:buAutoNum type="arabicPeriod" startAt="4"/>
            </a:pPr>
            <a:r>
              <a:rPr lang="en-IN" sz="2000" b="1" dirty="0">
                <a:solidFill>
                  <a:srgbClr val="C00000"/>
                </a:solidFill>
                <a:latin typeface="Times New Roman" panose="02020603050405020304" pitchFamily="18" charset="0"/>
                <a:cs typeface="Times New Roman" panose="02020603050405020304" pitchFamily="18" charset="0"/>
              </a:rPr>
              <a:t>Process definition</a:t>
            </a:r>
            <a:r>
              <a:rPr lang="en-IN" sz="2000" dirty="0">
                <a:latin typeface="Times New Roman" panose="02020603050405020304" pitchFamily="18" charset="0"/>
                <a:cs typeface="Times New Roman" panose="02020603050405020304" pitchFamily="18" charset="0"/>
              </a:rPr>
              <a:t>—Risks associated with the degree to which the software process has been defined and is followed by the development organization.</a:t>
            </a:r>
          </a:p>
          <a:p>
            <a:pPr lvl="1" algn="just">
              <a:lnSpc>
                <a:spcPct val="150000"/>
              </a:lnSpc>
              <a:buFont typeface="+mj-lt"/>
              <a:buAutoNum type="arabicPeriod" startAt="4"/>
            </a:pPr>
            <a:r>
              <a:rPr lang="en-US" sz="2000" b="1" dirty="0">
                <a:solidFill>
                  <a:srgbClr val="C00000"/>
                </a:solidFill>
                <a:effectLst/>
                <a:latin typeface="Times New Roman" panose="02020603050405020304" pitchFamily="18" charset="0"/>
                <a:cs typeface="Times New Roman" panose="02020603050405020304" pitchFamily="18" charset="0"/>
              </a:rPr>
              <a:t>Development environment</a:t>
            </a:r>
            <a:r>
              <a:rPr lang="en-US" sz="2000" b="0" i="0" dirty="0">
                <a:solidFill>
                  <a:srgbClr val="242021"/>
                </a:solidFill>
                <a:effectLst/>
                <a:latin typeface="Times New Roman" panose="02020603050405020304" pitchFamily="18" charset="0"/>
                <a:cs typeface="Times New Roman" panose="02020603050405020304" pitchFamily="18" charset="0"/>
              </a:rPr>
              <a:t>—Risks associated with the availability and quality of the tools to be used to build the product.</a:t>
            </a:r>
          </a:p>
          <a:p>
            <a:pPr lvl="1" algn="just">
              <a:lnSpc>
                <a:spcPct val="150000"/>
              </a:lnSpc>
              <a:buFont typeface="+mj-lt"/>
              <a:buAutoNum type="arabicPeriod" startAt="4"/>
            </a:pPr>
            <a:r>
              <a:rPr lang="en-US" sz="2000" b="1" dirty="0">
                <a:solidFill>
                  <a:srgbClr val="C00000"/>
                </a:solidFill>
                <a:effectLst/>
                <a:latin typeface="Times New Roman" panose="02020603050405020304" pitchFamily="18" charset="0"/>
                <a:cs typeface="Times New Roman" panose="02020603050405020304" pitchFamily="18" charset="0"/>
              </a:rPr>
              <a:t>Technology to be built</a:t>
            </a:r>
            <a:r>
              <a:rPr lang="en-US" sz="2000" b="0" i="0" dirty="0">
                <a:solidFill>
                  <a:srgbClr val="242021"/>
                </a:solidFill>
                <a:effectLst/>
                <a:latin typeface="Times New Roman" panose="02020603050405020304" pitchFamily="18" charset="0"/>
                <a:cs typeface="Times New Roman" panose="02020603050405020304" pitchFamily="18" charset="0"/>
              </a:rPr>
              <a:t>—Risks associated with the complexity of the system to be built and the “newness” of the technology that is packaged by the system.</a:t>
            </a:r>
          </a:p>
          <a:p>
            <a:pPr lvl="1" algn="just">
              <a:lnSpc>
                <a:spcPct val="150000"/>
              </a:lnSpc>
              <a:buFont typeface="+mj-lt"/>
              <a:buAutoNum type="arabicPeriod" startAt="4"/>
            </a:pPr>
            <a:r>
              <a:rPr lang="en-US" sz="2000" b="1" dirty="0">
                <a:solidFill>
                  <a:srgbClr val="C00000"/>
                </a:solidFill>
                <a:effectLst/>
                <a:latin typeface="Times New Roman" panose="02020603050405020304" pitchFamily="18" charset="0"/>
                <a:cs typeface="Times New Roman" panose="02020603050405020304" pitchFamily="18" charset="0"/>
              </a:rPr>
              <a:t>Staff size and experience</a:t>
            </a:r>
            <a:r>
              <a:rPr lang="en-US" sz="2000" b="0" i="0" dirty="0">
                <a:solidFill>
                  <a:srgbClr val="242021"/>
                </a:solidFill>
                <a:effectLst/>
                <a:latin typeface="Times New Roman" panose="02020603050405020304" pitchFamily="18" charset="0"/>
                <a:cs typeface="Times New Roman" panose="02020603050405020304" pitchFamily="18" charset="0"/>
              </a:rPr>
              <a:t>—Risks associated with the overall technical and project experience of the software engineers who will do the work</a:t>
            </a:r>
            <a:r>
              <a:rPr lang="en-US" sz="2200" b="0" i="0" dirty="0">
                <a:solidFill>
                  <a:srgbClr val="24202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5070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Risk Projection</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12</a:t>
            </a:fld>
            <a:endParaRPr lang="en-US"/>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76200" y="887845"/>
            <a:ext cx="8991600" cy="5410200"/>
          </a:xfrm>
        </p:spPr>
        <p:txBody>
          <a:bodyPr>
            <a:normAutofit fontScale="62500" lnSpcReduction="20000"/>
          </a:bodyPr>
          <a:lstStyle/>
          <a:p>
            <a:pPr algn="just">
              <a:lnSpc>
                <a:spcPct val="150000"/>
              </a:lnSpc>
            </a:pPr>
            <a:r>
              <a:rPr lang="en-US" sz="3200" b="0" dirty="0">
                <a:solidFill>
                  <a:srgbClr val="C00000"/>
                </a:solidFill>
                <a:effectLst/>
                <a:latin typeface="Times New Roman" panose="02020603050405020304" pitchFamily="18" charset="0"/>
                <a:cs typeface="Times New Roman" panose="02020603050405020304" pitchFamily="18" charset="0"/>
              </a:rPr>
              <a:t>Risk projection</a:t>
            </a:r>
            <a:r>
              <a:rPr lang="en-US" sz="3200" b="0" i="0" dirty="0">
                <a:solidFill>
                  <a:srgbClr val="242021"/>
                </a:solidFill>
                <a:effectLst/>
                <a:latin typeface="Times New Roman" panose="02020603050405020304" pitchFamily="18" charset="0"/>
                <a:cs typeface="Times New Roman" panose="02020603050405020304" pitchFamily="18" charset="0"/>
              </a:rPr>
              <a:t>, also called </a:t>
            </a:r>
            <a:r>
              <a:rPr lang="en-US" sz="3200" b="0" i="1" dirty="0">
                <a:solidFill>
                  <a:srgbClr val="C00000"/>
                </a:solidFill>
                <a:effectLst/>
                <a:latin typeface="Times New Roman" panose="02020603050405020304" pitchFamily="18" charset="0"/>
                <a:cs typeface="Times New Roman" panose="02020603050405020304" pitchFamily="18" charset="0"/>
              </a:rPr>
              <a:t>risk estimation</a:t>
            </a:r>
            <a:r>
              <a:rPr lang="en-US" sz="3200" b="0" i="1" dirty="0">
                <a:solidFill>
                  <a:srgbClr val="242021"/>
                </a:solidFill>
                <a:effectLst/>
                <a:latin typeface="Times New Roman" panose="02020603050405020304" pitchFamily="18" charset="0"/>
                <a:cs typeface="Times New Roman" panose="02020603050405020304" pitchFamily="18" charset="0"/>
              </a:rPr>
              <a:t>, </a:t>
            </a:r>
            <a:r>
              <a:rPr lang="en-US" sz="3200" b="0" i="0" dirty="0">
                <a:solidFill>
                  <a:srgbClr val="242021"/>
                </a:solidFill>
                <a:effectLst/>
                <a:latin typeface="Times New Roman" panose="02020603050405020304" pitchFamily="18" charset="0"/>
                <a:cs typeface="Times New Roman" panose="02020603050405020304" pitchFamily="18" charset="0"/>
              </a:rPr>
              <a:t>attempts to rate each risk in two ways— </a:t>
            </a:r>
          </a:p>
          <a:p>
            <a:pPr lvl="1" algn="just">
              <a:lnSpc>
                <a:spcPct val="150000"/>
              </a:lnSpc>
            </a:pPr>
            <a:r>
              <a:rPr lang="en-US" sz="3200" b="0" i="0" dirty="0">
                <a:solidFill>
                  <a:srgbClr val="242021"/>
                </a:solidFill>
                <a:effectLst/>
                <a:latin typeface="Times New Roman" panose="02020603050405020304" pitchFamily="18" charset="0"/>
                <a:cs typeface="Times New Roman" panose="02020603050405020304" pitchFamily="18" charset="0"/>
              </a:rPr>
              <a:t>the likelihood or probability that the risk is real and </a:t>
            </a:r>
          </a:p>
          <a:p>
            <a:pPr lvl="1" algn="just">
              <a:lnSpc>
                <a:spcPct val="150000"/>
              </a:lnSpc>
            </a:pPr>
            <a:r>
              <a:rPr lang="en-US" sz="3200" b="0" i="0" dirty="0">
                <a:solidFill>
                  <a:srgbClr val="242021"/>
                </a:solidFill>
                <a:effectLst/>
                <a:latin typeface="Times New Roman" panose="02020603050405020304" pitchFamily="18" charset="0"/>
                <a:cs typeface="Times New Roman" panose="02020603050405020304" pitchFamily="18" charset="0"/>
              </a:rPr>
              <a:t>the consequences of the problems associated with the risk, should it occur.</a:t>
            </a:r>
          </a:p>
          <a:p>
            <a:pPr marL="342900" lvl="1" indent="-342900" algn="just">
              <a:lnSpc>
                <a:spcPct val="150000"/>
              </a:lnSpc>
              <a:buFont typeface="Arial" panose="020B0604020202020204" pitchFamily="34" charset="0"/>
              <a:buChar char="•"/>
            </a:pPr>
            <a:r>
              <a:rPr lang="en-US" sz="3200" dirty="0">
                <a:solidFill>
                  <a:srgbClr val="242021"/>
                </a:solidFill>
                <a:latin typeface="Times New Roman" panose="02020603050405020304" pitchFamily="18" charset="0"/>
                <a:cs typeface="Times New Roman" panose="02020603050405020304" pitchFamily="18" charset="0"/>
              </a:rPr>
              <a:t>You work along with other managers and technical staff to perform four risk projection steps:</a:t>
            </a:r>
          </a:p>
          <a:p>
            <a:pPr marL="800100" lvl="2" indent="-400050" algn="just">
              <a:lnSpc>
                <a:spcPct val="150000"/>
              </a:lnSpc>
              <a:buFont typeface="+mj-lt"/>
              <a:buAutoNum type="romanLcPeriod"/>
            </a:pPr>
            <a:r>
              <a:rPr lang="en-US" sz="3200" b="0" i="0" dirty="0">
                <a:solidFill>
                  <a:srgbClr val="242021"/>
                </a:solidFill>
                <a:effectLst/>
                <a:latin typeface="Times New Roman" panose="02020603050405020304" pitchFamily="18" charset="0"/>
                <a:cs typeface="Times New Roman" panose="02020603050405020304" pitchFamily="18" charset="0"/>
              </a:rPr>
              <a:t>Establish a scale that reflects the perceived likelihood of a risk.</a:t>
            </a:r>
          </a:p>
          <a:p>
            <a:pPr marL="800100" lvl="2" indent="-400050" algn="just">
              <a:lnSpc>
                <a:spcPct val="150000"/>
              </a:lnSpc>
              <a:buFont typeface="+mj-lt"/>
              <a:buAutoNum type="romanLcPeriod"/>
            </a:pPr>
            <a:r>
              <a:rPr lang="en-US" sz="3200" b="0" i="0" dirty="0">
                <a:solidFill>
                  <a:srgbClr val="242021"/>
                </a:solidFill>
                <a:effectLst/>
                <a:latin typeface="Times New Roman" panose="02020603050405020304" pitchFamily="18" charset="0"/>
                <a:cs typeface="Times New Roman" panose="02020603050405020304" pitchFamily="18" charset="0"/>
              </a:rPr>
              <a:t>Delineate the consequences of the risk.</a:t>
            </a:r>
          </a:p>
          <a:p>
            <a:pPr marL="800100" lvl="2" indent="-400050" algn="just">
              <a:lnSpc>
                <a:spcPct val="150000"/>
              </a:lnSpc>
              <a:buFont typeface="+mj-lt"/>
              <a:buAutoNum type="romanLcPeriod"/>
            </a:pPr>
            <a:r>
              <a:rPr lang="en-US" sz="3200" b="0" i="0" dirty="0">
                <a:solidFill>
                  <a:srgbClr val="242021"/>
                </a:solidFill>
                <a:effectLst/>
                <a:latin typeface="Times New Roman" panose="02020603050405020304" pitchFamily="18" charset="0"/>
                <a:cs typeface="Times New Roman" panose="02020603050405020304" pitchFamily="18" charset="0"/>
              </a:rPr>
              <a:t>Estimate the impact of the risk on the project and the product.</a:t>
            </a:r>
          </a:p>
          <a:p>
            <a:pPr marL="800100" lvl="2" indent="-400050" algn="just">
              <a:lnSpc>
                <a:spcPct val="150000"/>
              </a:lnSpc>
              <a:buFont typeface="+mj-lt"/>
              <a:buAutoNum type="romanLcPeriod"/>
            </a:pPr>
            <a:r>
              <a:rPr lang="en-US" sz="3200" b="0" i="0" dirty="0">
                <a:solidFill>
                  <a:srgbClr val="242021"/>
                </a:solidFill>
                <a:effectLst/>
                <a:latin typeface="Times New Roman" panose="02020603050405020304" pitchFamily="18" charset="0"/>
                <a:cs typeface="Times New Roman" panose="02020603050405020304" pitchFamily="18" charset="0"/>
              </a:rPr>
              <a:t>Assess the overall accuracy of the risk projection so that there will be no misunderstandings.</a:t>
            </a:r>
            <a:r>
              <a:rPr lang="en-US" sz="3200" dirty="0">
                <a:latin typeface="Times New Roman" panose="02020603050405020304" pitchFamily="18" charset="0"/>
                <a:cs typeface="Times New Roman" panose="02020603050405020304" pitchFamily="18" charset="0"/>
              </a:rPr>
              <a:t> </a:t>
            </a:r>
          </a:p>
          <a:p>
            <a:pPr marL="400050" lvl="2" indent="0" algn="just">
              <a:lnSpc>
                <a:spcPct val="150000"/>
              </a:lnSpc>
              <a:buNone/>
            </a:pPr>
            <a:endParaRPr lang="en-US" sz="1800" dirty="0">
              <a:solidFill>
                <a:srgbClr val="303030"/>
              </a:solidFill>
            </a:endParaRPr>
          </a:p>
        </p:txBody>
      </p:sp>
    </p:spTree>
    <p:extLst>
      <p:ext uri="{BB962C8B-B14F-4D97-AF65-F5344CB8AC3E}">
        <p14:creationId xmlns:p14="http://schemas.microsoft.com/office/powerpoint/2010/main" val="1436827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DC6A74-6C13-2D2F-C608-B1486FFA7C1B}"/>
              </a:ext>
            </a:extLst>
          </p:cNvPr>
          <p:cNvSpPr txBox="1"/>
          <p:nvPr/>
        </p:nvSpPr>
        <p:spPr>
          <a:xfrm>
            <a:off x="147145" y="145656"/>
            <a:ext cx="6547944" cy="646331"/>
          </a:xfrm>
          <a:prstGeom prst="rect">
            <a:avLst/>
          </a:prstGeom>
          <a:noFill/>
        </p:spPr>
        <p:txBody>
          <a:bodyPr wrap="square">
            <a:spAutoFit/>
          </a:bodyPr>
          <a:lstStyle/>
          <a:p>
            <a:r>
              <a:rPr lang="en-IN" sz="3600" b="1" i="0" dirty="0">
                <a:solidFill>
                  <a:schemeClr val="tx1"/>
                </a:solidFill>
                <a:effectLst/>
                <a:latin typeface="Times" panose="02020603050405020304" pitchFamily="18" charset="0"/>
                <a:cs typeface="Times" panose="02020603050405020304" pitchFamily="18" charset="0"/>
              </a:rPr>
              <a:t>Practice Questions</a:t>
            </a:r>
            <a:endParaRPr lang="en-IN" sz="3600" dirty="0">
              <a:solidFill>
                <a:schemeClr val="tx1"/>
              </a:solidFill>
              <a:latin typeface="Times" panose="02020603050405020304" pitchFamily="18" charset="0"/>
              <a:cs typeface="Times" panose="02020603050405020304" pitchFamily="18" charset="0"/>
            </a:endParaRPr>
          </a:p>
        </p:txBody>
      </p:sp>
      <p:sp>
        <p:nvSpPr>
          <p:cNvPr id="4" name="TextBox 3">
            <a:extLst>
              <a:ext uri="{FF2B5EF4-FFF2-40B4-BE49-F238E27FC236}">
                <a16:creationId xmlns:a16="http://schemas.microsoft.com/office/drawing/2014/main" id="{BB83B3E5-FBEE-1670-0A62-2CE34F0DCB96}"/>
              </a:ext>
            </a:extLst>
          </p:cNvPr>
          <p:cNvSpPr txBox="1"/>
          <p:nvPr/>
        </p:nvSpPr>
        <p:spPr>
          <a:xfrm>
            <a:off x="574710" y="1206992"/>
            <a:ext cx="7556938" cy="830997"/>
          </a:xfrm>
          <a:prstGeom prst="rect">
            <a:avLst/>
          </a:prstGeom>
          <a:noFill/>
        </p:spPr>
        <p:txBody>
          <a:bodyPr wrap="square">
            <a:spAutoFit/>
          </a:bodyPr>
          <a:lstStyle/>
          <a:p>
            <a:pPr marL="285750" indent="-285750" fontAlgn="base">
              <a:buFont typeface="Arial" panose="020B0604020202020204" pitchFamily="34" charset="0"/>
              <a:buChar char="•"/>
            </a:pPr>
            <a:endParaRPr lang="en-US" sz="2400" i="0" dirty="0">
              <a:solidFill>
                <a:schemeClr val="tx1"/>
              </a:solidFill>
              <a:effectLst/>
              <a:latin typeface="Times" panose="02020603050405020304" pitchFamily="18" charset="0"/>
              <a:cs typeface="Times" panose="02020603050405020304" pitchFamily="18" charset="0"/>
            </a:endParaRPr>
          </a:p>
          <a:p>
            <a:pPr marL="285750" indent="-285750" algn="l" fontAlgn="base">
              <a:buFont typeface="Arial" panose="020B0604020202020204" pitchFamily="34" charset="0"/>
              <a:buChar char="•"/>
            </a:pPr>
            <a:endParaRPr lang="en-US" sz="2400" i="0" dirty="0">
              <a:solidFill>
                <a:schemeClr val="tx1"/>
              </a:solidFill>
              <a:effectLst/>
              <a:latin typeface="Times" panose="02020603050405020304" pitchFamily="18" charset="0"/>
              <a:cs typeface="Times" panose="02020603050405020304" pitchFamily="18" charset="0"/>
            </a:endParaRPr>
          </a:p>
        </p:txBody>
      </p:sp>
      <p:sp>
        <p:nvSpPr>
          <p:cNvPr id="7" name="TextBox 6">
            <a:extLst>
              <a:ext uri="{FF2B5EF4-FFF2-40B4-BE49-F238E27FC236}">
                <a16:creationId xmlns:a16="http://schemas.microsoft.com/office/drawing/2014/main" id="{BCBDD79C-6B67-F8B8-BBC4-C6413142AF10}"/>
              </a:ext>
            </a:extLst>
          </p:cNvPr>
          <p:cNvSpPr txBox="1"/>
          <p:nvPr/>
        </p:nvSpPr>
        <p:spPr>
          <a:xfrm>
            <a:off x="1" y="888999"/>
            <a:ext cx="9144000" cy="4191981"/>
          </a:xfrm>
          <a:prstGeom prst="rect">
            <a:avLst/>
          </a:prstGeom>
          <a:noFill/>
        </p:spPr>
        <p:txBody>
          <a:bodyPr wrap="square">
            <a:spAutoFit/>
          </a:bodyPr>
          <a:lstStyle/>
          <a:p>
            <a:pPr marL="342900" indent="-342900">
              <a:lnSpc>
                <a:spcPct val="150000"/>
              </a:lnSpc>
              <a:buFont typeface="+mj-lt"/>
              <a:buAutoNum type="arabicPeriod"/>
            </a:pPr>
            <a:r>
              <a:rPr lang="en-US" sz="2000" i="0" dirty="0">
                <a:solidFill>
                  <a:srgbClr val="000000"/>
                </a:solidFill>
                <a:effectLst/>
                <a:latin typeface="Times New Roman" panose="02020603050405020304" pitchFamily="18" charset="0"/>
                <a:cs typeface="Times New Roman" panose="02020603050405020304" pitchFamily="18" charset="0"/>
              </a:rPr>
              <a:t>Can you describe the steps involved in the risk management process?  </a:t>
            </a:r>
          </a:p>
          <a:p>
            <a:pPr marL="342900" indent="-342900">
              <a:lnSpc>
                <a:spcPct val="150000"/>
              </a:lnSpc>
              <a:buFont typeface="+mj-lt"/>
              <a:buAutoNum type="arabicPeriod"/>
            </a:pPr>
            <a:r>
              <a:rPr lang="en-US" sz="2000" i="0" dirty="0">
                <a:solidFill>
                  <a:srgbClr val="000000"/>
                </a:solidFill>
                <a:effectLst/>
                <a:latin typeface="Times New Roman" panose="02020603050405020304" pitchFamily="18" charset="0"/>
                <a:cs typeface="Times New Roman" panose="02020603050405020304" pitchFamily="18" charset="0"/>
              </a:rPr>
              <a:t>How would you priorities risks in a project?</a:t>
            </a:r>
          </a:p>
          <a:p>
            <a:pPr marL="342900" indent="-342900">
              <a:lnSpc>
                <a:spcPct val="150000"/>
              </a:lnSpc>
              <a:buFont typeface="+mj-lt"/>
              <a:buAutoNum type="arabicPeriod"/>
            </a:pPr>
            <a:r>
              <a:rPr lang="en-US" sz="2000" i="0" dirty="0">
                <a:solidFill>
                  <a:srgbClr val="000000"/>
                </a:solidFill>
                <a:effectLst/>
                <a:latin typeface="Times New Roman" panose="02020603050405020304" pitchFamily="18" charset="0"/>
                <a:cs typeface="Times New Roman" panose="02020603050405020304" pitchFamily="18" charset="0"/>
              </a:rPr>
              <a:t>What techniques do you use for risk identification?  </a:t>
            </a:r>
          </a:p>
          <a:p>
            <a:pPr marL="342900" indent="-342900">
              <a:lnSpc>
                <a:spcPct val="150000"/>
              </a:lnSpc>
              <a:buFont typeface="+mj-lt"/>
              <a:buAutoNum type="arabicPeriod"/>
            </a:pPr>
            <a:r>
              <a:rPr lang="en-US" sz="2000" i="0" dirty="0">
                <a:solidFill>
                  <a:srgbClr val="000000"/>
                </a:solidFill>
                <a:effectLst/>
                <a:latin typeface="Times New Roman" panose="02020603050405020304" pitchFamily="18" charset="0"/>
                <a:cs typeface="Times New Roman" panose="02020603050405020304" pitchFamily="18" charset="0"/>
              </a:rPr>
              <a:t>How would you assess the potential impact of a risk?  </a:t>
            </a:r>
          </a:p>
          <a:p>
            <a:pPr marL="342900" indent="-342900">
              <a:lnSpc>
                <a:spcPct val="150000"/>
              </a:lnSpc>
              <a:buFont typeface="+mj-lt"/>
              <a:buAutoNum type="arabicPeriod"/>
            </a:pPr>
            <a:r>
              <a:rPr lang="en-US" sz="2000" i="0" dirty="0">
                <a:solidFill>
                  <a:srgbClr val="000000"/>
                </a:solidFill>
                <a:effectLst/>
                <a:latin typeface="Times New Roman" panose="02020603050405020304" pitchFamily="18" charset="0"/>
                <a:cs typeface="Times New Roman" panose="02020603050405020304" pitchFamily="18" charset="0"/>
              </a:rPr>
              <a:t>Can you explain what risk appetite is?  </a:t>
            </a:r>
          </a:p>
          <a:p>
            <a:pPr marL="342900" indent="-342900">
              <a:lnSpc>
                <a:spcPct val="150000"/>
              </a:lnSpc>
              <a:buFont typeface="+mj-lt"/>
              <a:buAutoNum type="arabicPeriod"/>
            </a:pPr>
            <a:r>
              <a:rPr lang="en-US" sz="2000" i="0" dirty="0">
                <a:solidFill>
                  <a:srgbClr val="000000"/>
                </a:solidFill>
                <a:effectLst/>
                <a:latin typeface="Times New Roman" panose="02020603050405020304" pitchFamily="18" charset="0"/>
                <a:cs typeface="Times New Roman" panose="02020603050405020304" pitchFamily="18" charset="0"/>
              </a:rPr>
              <a:t>How do you communicate risk-related information to stakeholders?  </a:t>
            </a:r>
          </a:p>
          <a:p>
            <a:pPr marL="342900" indent="-342900">
              <a:lnSpc>
                <a:spcPct val="150000"/>
              </a:lnSpc>
              <a:buFont typeface="+mj-lt"/>
              <a:buAutoNum type="arabicPeriod"/>
            </a:pPr>
            <a:r>
              <a:rPr lang="en-US" sz="2000" i="0" dirty="0">
                <a:solidFill>
                  <a:srgbClr val="000000"/>
                </a:solidFill>
                <a:effectLst/>
                <a:latin typeface="Times New Roman" panose="02020603050405020304" pitchFamily="18" charset="0"/>
                <a:cs typeface="Times New Roman" panose="02020603050405020304" pitchFamily="18" charset="0"/>
              </a:rPr>
              <a:t>Can you explain the importance of staying updated on the risk management trends and best practices?</a:t>
            </a:r>
          </a:p>
          <a:p>
            <a:pPr marL="342900" indent="-342900" algn="l">
              <a:lnSpc>
                <a:spcPct val="150000"/>
              </a:lnSpc>
              <a:buFont typeface="+mj-lt"/>
              <a:buAutoNum type="arabicPeriod"/>
            </a:pPr>
            <a:r>
              <a:rPr lang="en-US" sz="2000" i="0" dirty="0">
                <a:solidFill>
                  <a:srgbClr val="000000"/>
                </a:solidFill>
                <a:effectLst/>
                <a:latin typeface="Times New Roman" panose="02020603050405020304" pitchFamily="18" charset="0"/>
                <a:cs typeface="Times New Roman" panose="02020603050405020304" pitchFamily="18" charset="0"/>
              </a:rPr>
              <a:t>Can you explain Risk Management and why it is important for organizations</a:t>
            </a:r>
            <a:r>
              <a:rPr lang="en-US" sz="1600" i="0" dirty="0">
                <a:solidFill>
                  <a:srgbClr val="000000"/>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930141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2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a:buNone/>
            </a:pPr>
            <a:endParaRPr/>
          </a:p>
        </p:txBody>
      </p:sp>
      <p:sp>
        <p:nvSpPr>
          <p:cNvPr id="503" name="Google Shape;503;p2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a:ea typeface="Times New Roman"/>
                <a:cs typeface="Times New Roman"/>
                <a:sym typeface="Times New Roman"/>
              </a:rPr>
              <a:t>Computer Networks               </a:t>
            </a:r>
            <a:endParaRPr>
              <a:latin typeface="Times New Roman"/>
              <a:ea typeface="Times New Roman"/>
              <a:cs typeface="Times New Roman"/>
              <a:sym typeface="Times New Roman"/>
            </a:endParaRPr>
          </a:p>
        </p:txBody>
      </p:sp>
      <p:pic>
        <p:nvPicPr>
          <p:cNvPr id="504" name="Google Shape;504;p27" descr="See the source image"/>
          <p:cNvPicPr preferRelativeResize="0"/>
          <p:nvPr/>
        </p:nvPicPr>
        <p:blipFill rotWithShape="1">
          <a:blip r:embed="rId3">
            <a:alphaModFix/>
          </a:blip>
          <a:srcRect/>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1232</Words>
  <Application>Microsoft Office PowerPoint</Application>
  <PresentationFormat>On-screen Show (4:3)</PresentationFormat>
  <Paragraphs>121</Paragraphs>
  <Slides>14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Times New Roman</vt:lpstr>
      <vt:lpstr>Arial</vt:lpstr>
      <vt:lpstr>Times New Roman Bold</vt:lpstr>
      <vt:lpstr>Calibri</vt:lpstr>
      <vt:lpstr>Times</vt:lpstr>
      <vt:lpstr>Office Theme</vt:lpstr>
      <vt:lpstr>PowerPoint Presentation</vt:lpstr>
      <vt:lpstr>PowerPoint Presentation</vt:lpstr>
      <vt:lpstr>Risk Definition</vt:lpstr>
      <vt:lpstr>Software Risk</vt:lpstr>
      <vt:lpstr>Software Risk Categorization</vt:lpstr>
      <vt:lpstr>Software Risk Categorization</vt:lpstr>
      <vt:lpstr>Software Risk Categorization</vt:lpstr>
      <vt:lpstr>Risk Strategies</vt:lpstr>
      <vt:lpstr>Risk Identification</vt:lpstr>
      <vt:lpstr>Risk Identification</vt:lpstr>
      <vt:lpstr>Risk Identification</vt:lpstr>
      <vt:lpstr>Risk Projection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HARSIMRAN SHARMA</cp:lastModifiedBy>
  <cp:revision>31</cp:revision>
  <dcterms:created xsi:type="dcterms:W3CDTF">2010-04-09T07:36:15Z</dcterms:created>
  <dcterms:modified xsi:type="dcterms:W3CDTF">2025-03-26T04:22:25Z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
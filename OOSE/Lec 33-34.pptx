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7" roundtripDataSignature="AMtx7miI/irzbeaf4WeDnxVvpAoom5qK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3" name="Google Shape;43;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2" name="Google Shape;5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9" name="Google Shape;5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7" name="Google Shape;6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5" name="Google Shape;7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4" name="Google Shape;8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2" name="Google Shape;9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0" name="Google Shape;10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8" name="Google Shape;10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7" name="Google Shape;11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5" name="Google Shape;12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3" name="Google Shape;13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1" name="Google Shape;14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50" name="Google Shape;150;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8" name="Google Shape;15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5" name="Google Shape;16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2" name="Google Shape;17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9" name="Google Shape;17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6" name="Google Shape;18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3" name="Google Shape;19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0" name="Google Shape;20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pic>
        <p:nvPicPr>
          <p:cNvPr descr="LOGO.gif" id="25" name="Google Shape;25;p23"/>
          <p:cNvPicPr preferRelativeResize="0"/>
          <p:nvPr/>
        </p:nvPicPr>
        <p:blipFill rotWithShape="1">
          <a:blip r:embed="rId2">
            <a:alphaModFix/>
          </a:blip>
          <a:srcRect b="10713" l="0" r="0" t="0"/>
          <a:stretch/>
        </p:blipFill>
        <p:spPr>
          <a:xfrm>
            <a:off x="6553200" y="228600"/>
            <a:ext cx="2057400" cy="635000"/>
          </a:xfrm>
          <a:prstGeom prst="rect">
            <a:avLst/>
          </a:prstGeom>
          <a:noFill/>
          <a:ln>
            <a:noFill/>
          </a:ln>
        </p:spPr>
      </p:pic>
      <p:grpSp>
        <p:nvGrpSpPr>
          <p:cNvPr id="26" name="Google Shape;26;p23"/>
          <p:cNvGrpSpPr/>
          <p:nvPr/>
        </p:nvGrpSpPr>
        <p:grpSpPr>
          <a:xfrm>
            <a:off x="6146800" y="0"/>
            <a:ext cx="2997200" cy="876300"/>
            <a:chOff x="6096000" y="3924300"/>
            <a:chExt cx="2997200" cy="876300"/>
          </a:xfrm>
        </p:grpSpPr>
        <p:sp>
          <p:nvSpPr>
            <p:cNvPr id="27" name="Google Shape;27;p23"/>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gif" id="28" name="Google Shape;28;p23"/>
            <p:cNvPicPr preferRelativeResize="0"/>
            <p:nvPr/>
          </p:nvPicPr>
          <p:blipFill rotWithShape="1">
            <a:blip r:embed="rId2">
              <a:alphaModFix/>
            </a:blip>
            <a:srcRect b="10713" l="0" r="0" t="0"/>
            <a:stretch/>
          </p:blipFill>
          <p:spPr>
            <a:xfrm>
              <a:off x="6502400" y="4152900"/>
              <a:ext cx="2057400" cy="635000"/>
            </a:xfrm>
            <a:prstGeom prst="rect">
              <a:avLst/>
            </a:prstGeom>
            <a:noFill/>
            <a:ln>
              <a:noFill/>
            </a:ln>
          </p:spPr>
        </p:pic>
        <p:sp>
          <p:nvSpPr>
            <p:cNvPr id="29" name="Google Shape;29;p23"/>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descr="logo.jpg" id="30" name="Google Shape;30;p23"/>
          <p:cNvPicPr preferRelativeResize="0"/>
          <p:nvPr/>
        </p:nvPicPr>
        <p:blipFill rotWithShape="1">
          <a:blip r:embed="rId3">
            <a:alphaModFix/>
          </a:blip>
          <a:srcRect b="0" l="0" r="0" t="0"/>
          <a:stretch/>
        </p:blipFill>
        <p:spPr>
          <a:xfrm>
            <a:off x="6553200" y="228600"/>
            <a:ext cx="1920875" cy="609600"/>
          </a:xfrm>
          <a:prstGeom prst="rect">
            <a:avLst/>
          </a:prstGeom>
          <a:noFill/>
          <a:ln>
            <a:noFill/>
          </a:ln>
        </p:spPr>
      </p:pic>
      <p:sp>
        <p:nvSpPr>
          <p:cNvPr id="31" name="Google Shape;31;p23"/>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23"/>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lvl1pPr indent="-368300" lvl="0" marL="457200" algn="l">
              <a:spcBef>
                <a:spcPts val="440"/>
              </a:spcBef>
              <a:spcAft>
                <a:spcPts val="0"/>
              </a:spcAft>
              <a:buClr>
                <a:schemeClr val="dk1"/>
              </a:buClr>
              <a:buSzPts val="2200"/>
              <a:buChar char="•"/>
              <a:defRPr sz="2200">
                <a:latin typeface="Times New Roman"/>
                <a:ea typeface="Times New Roman"/>
                <a:cs typeface="Times New Roman"/>
                <a:sym typeface="Times New Roman"/>
              </a:defRPr>
            </a:lvl1pPr>
            <a:lvl2pPr indent="-368300" lvl="1" marL="914400" algn="l">
              <a:spcBef>
                <a:spcPts val="440"/>
              </a:spcBef>
              <a:spcAft>
                <a:spcPts val="0"/>
              </a:spcAft>
              <a:buClr>
                <a:schemeClr val="dk1"/>
              </a:buClr>
              <a:buSzPts val="2200"/>
              <a:buChar char="–"/>
              <a:defRPr sz="2200">
                <a:latin typeface="Times New Roman"/>
                <a:ea typeface="Times New Roman"/>
                <a:cs typeface="Times New Roman"/>
                <a:sym typeface="Times New Roman"/>
              </a:defRPr>
            </a:lvl2pPr>
            <a:lvl3pPr indent="-368300" lvl="2" marL="1371600" algn="l">
              <a:spcBef>
                <a:spcPts val="440"/>
              </a:spcBef>
              <a:spcAft>
                <a:spcPts val="0"/>
              </a:spcAft>
              <a:buClr>
                <a:schemeClr val="dk1"/>
              </a:buClr>
              <a:buSzPts val="2200"/>
              <a:buChar char="•"/>
              <a:defRPr sz="2200">
                <a:latin typeface="Times New Roman"/>
                <a:ea typeface="Times New Roman"/>
                <a:cs typeface="Times New Roman"/>
                <a:sym typeface="Times New Roman"/>
              </a:defRPr>
            </a:lvl3pPr>
            <a:lvl4pPr indent="-368300" lvl="3" marL="1828800" algn="l">
              <a:spcBef>
                <a:spcPts val="440"/>
              </a:spcBef>
              <a:spcAft>
                <a:spcPts val="0"/>
              </a:spcAft>
              <a:buClr>
                <a:schemeClr val="dk1"/>
              </a:buClr>
              <a:buSzPts val="2200"/>
              <a:buChar char="–"/>
              <a:defRPr sz="2200">
                <a:latin typeface="Times New Roman"/>
                <a:ea typeface="Times New Roman"/>
                <a:cs typeface="Times New Roman"/>
                <a:sym typeface="Times New Roman"/>
              </a:defRPr>
            </a:lvl4pPr>
            <a:lvl5pPr indent="-368300" lvl="4" marL="2286000" algn="l">
              <a:spcBef>
                <a:spcPts val="440"/>
              </a:spcBef>
              <a:spcAft>
                <a:spcPts val="0"/>
              </a:spcAft>
              <a:buClr>
                <a:schemeClr val="dk1"/>
              </a:buClr>
              <a:buSzPts val="2200"/>
              <a:buChar char="»"/>
              <a:defRPr sz="2200">
                <a:latin typeface="Times New Roman"/>
                <a:ea typeface="Times New Roman"/>
                <a:cs typeface="Times New Roman"/>
                <a:sym typeface="Times New Roman"/>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 name="Google Shape;33;p23"/>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chemeClr val="lt1"/>
                </a:solidFill>
                <a:latin typeface="Times New Roman"/>
                <a:ea typeface="Times New Roman"/>
                <a:cs typeface="Times New Roman"/>
                <a:sym typeface="Times New Roman"/>
              </a:defRPr>
            </a:lvl1pPr>
            <a:lvl2pPr indent="0" lvl="1" marL="0" algn="r">
              <a:spcBef>
                <a:spcPts val="0"/>
              </a:spcBef>
              <a:spcAft>
                <a:spcPts val="0"/>
              </a:spcAft>
              <a:buNone/>
              <a:defRPr b="1" sz="1200">
                <a:solidFill>
                  <a:schemeClr val="lt1"/>
                </a:solidFill>
                <a:latin typeface="Times New Roman"/>
                <a:ea typeface="Times New Roman"/>
                <a:cs typeface="Times New Roman"/>
                <a:sym typeface="Times New Roman"/>
              </a:defRPr>
            </a:lvl2pPr>
            <a:lvl3pPr indent="0" lvl="2" marL="0" algn="r">
              <a:spcBef>
                <a:spcPts val="0"/>
              </a:spcBef>
              <a:spcAft>
                <a:spcPts val="0"/>
              </a:spcAft>
              <a:buNone/>
              <a:defRPr b="1" sz="1200">
                <a:solidFill>
                  <a:schemeClr val="lt1"/>
                </a:solidFill>
                <a:latin typeface="Times New Roman"/>
                <a:ea typeface="Times New Roman"/>
                <a:cs typeface="Times New Roman"/>
                <a:sym typeface="Times New Roman"/>
              </a:defRPr>
            </a:lvl3pPr>
            <a:lvl4pPr indent="0" lvl="3" marL="0" algn="r">
              <a:spcBef>
                <a:spcPts val="0"/>
              </a:spcBef>
              <a:spcAft>
                <a:spcPts val="0"/>
              </a:spcAft>
              <a:buNone/>
              <a:defRPr b="1" sz="1200">
                <a:solidFill>
                  <a:schemeClr val="lt1"/>
                </a:solidFill>
                <a:latin typeface="Times New Roman"/>
                <a:ea typeface="Times New Roman"/>
                <a:cs typeface="Times New Roman"/>
                <a:sym typeface="Times New Roman"/>
              </a:defRPr>
            </a:lvl4pPr>
            <a:lvl5pPr indent="0" lvl="4" marL="0" algn="r">
              <a:spcBef>
                <a:spcPts val="0"/>
              </a:spcBef>
              <a:spcAft>
                <a:spcPts val="0"/>
              </a:spcAft>
              <a:buNone/>
              <a:defRPr b="1" sz="1200">
                <a:solidFill>
                  <a:schemeClr val="lt1"/>
                </a:solidFill>
                <a:latin typeface="Times New Roman"/>
                <a:ea typeface="Times New Roman"/>
                <a:cs typeface="Times New Roman"/>
                <a:sym typeface="Times New Roman"/>
              </a:defRPr>
            </a:lvl5pPr>
            <a:lvl6pPr indent="0" lvl="5" marL="0" algn="r">
              <a:spcBef>
                <a:spcPts val="0"/>
              </a:spcBef>
              <a:spcAft>
                <a:spcPts val="0"/>
              </a:spcAft>
              <a:buNone/>
              <a:defRPr b="1" sz="1200">
                <a:solidFill>
                  <a:schemeClr val="lt1"/>
                </a:solidFill>
                <a:latin typeface="Times New Roman"/>
                <a:ea typeface="Times New Roman"/>
                <a:cs typeface="Times New Roman"/>
                <a:sym typeface="Times New Roman"/>
              </a:defRPr>
            </a:lvl6pPr>
            <a:lvl7pPr indent="0" lvl="6" marL="0" algn="r">
              <a:spcBef>
                <a:spcPts val="0"/>
              </a:spcBef>
              <a:spcAft>
                <a:spcPts val="0"/>
              </a:spcAft>
              <a:buNone/>
              <a:defRPr b="1" sz="1200">
                <a:solidFill>
                  <a:schemeClr val="lt1"/>
                </a:solidFill>
                <a:latin typeface="Times New Roman"/>
                <a:ea typeface="Times New Roman"/>
                <a:cs typeface="Times New Roman"/>
                <a:sym typeface="Times New Roman"/>
              </a:defRPr>
            </a:lvl7pPr>
            <a:lvl8pPr indent="0" lvl="7" marL="0" algn="r">
              <a:spcBef>
                <a:spcPts val="0"/>
              </a:spcBef>
              <a:spcAft>
                <a:spcPts val="0"/>
              </a:spcAft>
              <a:buNone/>
              <a:defRPr b="1" sz="1200">
                <a:solidFill>
                  <a:schemeClr val="lt1"/>
                </a:solidFill>
                <a:latin typeface="Times New Roman"/>
                <a:ea typeface="Times New Roman"/>
                <a:cs typeface="Times New Roman"/>
                <a:sym typeface="Times New Roman"/>
              </a:defRPr>
            </a:lvl8pPr>
            <a:lvl9pPr indent="0" lvl="8" marL="0" algn="r">
              <a:spcBef>
                <a:spcPts val="0"/>
              </a:spcBef>
              <a:spcAft>
                <a:spcPts val="0"/>
              </a:spcAft>
              <a:buNone/>
              <a:defRPr b="1" sz="1200">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 name="Shape 34"/>
        <p:cNvGrpSpPr/>
        <p:nvPr/>
      </p:nvGrpSpPr>
      <p:grpSpPr>
        <a:xfrm>
          <a:off x="0" y="0"/>
          <a:ext cx="0" cy="0"/>
          <a:chOff x="0" y="0"/>
          <a:chExt cx="0" cy="0"/>
        </a:xfrm>
      </p:grpSpPr>
      <p:sp>
        <p:nvSpPr>
          <p:cNvPr id="35" name="Google Shape;35;p24"/>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sz="3200">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24"/>
          <p:cNvSpPr txBox="1"/>
          <p:nvPr>
            <p:ph idx="1" type="subTitle"/>
          </p:nvPr>
        </p:nvSpPr>
        <p:spPr>
          <a:xfrm>
            <a:off x="533400" y="1371600"/>
            <a:ext cx="8153400" cy="47244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7" name="Google Shape;37;p24"/>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1" type="ftr"/>
          </p:nvPr>
        </p:nvSpPr>
        <p:spPr>
          <a:xfrm>
            <a:off x="3124200" y="6629400"/>
            <a:ext cx="2895600" cy="1968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chemeClr val="lt1"/>
                </a:solidFill>
                <a:latin typeface="Times New Roman"/>
                <a:ea typeface="Times New Roman"/>
                <a:cs typeface="Times New Roman"/>
                <a:sym typeface="Times New Roman"/>
              </a:defRPr>
            </a:lvl1pPr>
            <a:lvl2pPr indent="0" lvl="1" marL="0" algn="r">
              <a:spcBef>
                <a:spcPts val="0"/>
              </a:spcBef>
              <a:spcAft>
                <a:spcPts val="0"/>
              </a:spcAft>
              <a:buNone/>
              <a:defRPr b="1" sz="1200">
                <a:solidFill>
                  <a:schemeClr val="lt1"/>
                </a:solidFill>
                <a:latin typeface="Times New Roman"/>
                <a:ea typeface="Times New Roman"/>
                <a:cs typeface="Times New Roman"/>
                <a:sym typeface="Times New Roman"/>
              </a:defRPr>
            </a:lvl2pPr>
            <a:lvl3pPr indent="0" lvl="2" marL="0" algn="r">
              <a:spcBef>
                <a:spcPts val="0"/>
              </a:spcBef>
              <a:spcAft>
                <a:spcPts val="0"/>
              </a:spcAft>
              <a:buNone/>
              <a:defRPr b="1" sz="1200">
                <a:solidFill>
                  <a:schemeClr val="lt1"/>
                </a:solidFill>
                <a:latin typeface="Times New Roman"/>
                <a:ea typeface="Times New Roman"/>
                <a:cs typeface="Times New Roman"/>
                <a:sym typeface="Times New Roman"/>
              </a:defRPr>
            </a:lvl3pPr>
            <a:lvl4pPr indent="0" lvl="3" marL="0" algn="r">
              <a:spcBef>
                <a:spcPts val="0"/>
              </a:spcBef>
              <a:spcAft>
                <a:spcPts val="0"/>
              </a:spcAft>
              <a:buNone/>
              <a:defRPr b="1" sz="1200">
                <a:solidFill>
                  <a:schemeClr val="lt1"/>
                </a:solidFill>
                <a:latin typeface="Times New Roman"/>
                <a:ea typeface="Times New Roman"/>
                <a:cs typeface="Times New Roman"/>
                <a:sym typeface="Times New Roman"/>
              </a:defRPr>
            </a:lvl4pPr>
            <a:lvl5pPr indent="0" lvl="4" marL="0" algn="r">
              <a:spcBef>
                <a:spcPts val="0"/>
              </a:spcBef>
              <a:spcAft>
                <a:spcPts val="0"/>
              </a:spcAft>
              <a:buNone/>
              <a:defRPr b="1" sz="1200">
                <a:solidFill>
                  <a:schemeClr val="lt1"/>
                </a:solidFill>
                <a:latin typeface="Times New Roman"/>
                <a:ea typeface="Times New Roman"/>
                <a:cs typeface="Times New Roman"/>
                <a:sym typeface="Times New Roman"/>
              </a:defRPr>
            </a:lvl5pPr>
            <a:lvl6pPr indent="0" lvl="5" marL="0" algn="r">
              <a:spcBef>
                <a:spcPts val="0"/>
              </a:spcBef>
              <a:spcAft>
                <a:spcPts val="0"/>
              </a:spcAft>
              <a:buNone/>
              <a:defRPr b="1" sz="1200">
                <a:solidFill>
                  <a:schemeClr val="lt1"/>
                </a:solidFill>
                <a:latin typeface="Times New Roman"/>
                <a:ea typeface="Times New Roman"/>
                <a:cs typeface="Times New Roman"/>
                <a:sym typeface="Times New Roman"/>
              </a:defRPr>
            </a:lvl6pPr>
            <a:lvl7pPr indent="0" lvl="6" marL="0" algn="r">
              <a:spcBef>
                <a:spcPts val="0"/>
              </a:spcBef>
              <a:spcAft>
                <a:spcPts val="0"/>
              </a:spcAft>
              <a:buNone/>
              <a:defRPr b="1" sz="1200">
                <a:solidFill>
                  <a:schemeClr val="lt1"/>
                </a:solidFill>
                <a:latin typeface="Times New Roman"/>
                <a:ea typeface="Times New Roman"/>
                <a:cs typeface="Times New Roman"/>
                <a:sym typeface="Times New Roman"/>
              </a:defRPr>
            </a:lvl7pPr>
            <a:lvl8pPr indent="0" lvl="7" marL="0" algn="r">
              <a:spcBef>
                <a:spcPts val="0"/>
              </a:spcBef>
              <a:spcAft>
                <a:spcPts val="0"/>
              </a:spcAft>
              <a:buNone/>
              <a:defRPr b="1" sz="1200">
                <a:solidFill>
                  <a:schemeClr val="lt1"/>
                </a:solidFill>
                <a:latin typeface="Times New Roman"/>
                <a:ea typeface="Times New Roman"/>
                <a:cs typeface="Times New Roman"/>
                <a:sym typeface="Times New Roman"/>
              </a:defRPr>
            </a:lvl8pPr>
            <a:lvl9pPr indent="0" lvl="8" marL="0" algn="r">
              <a:spcBef>
                <a:spcPts val="0"/>
              </a:spcBef>
              <a:spcAft>
                <a:spcPts val="0"/>
              </a:spcAft>
              <a:buNone/>
              <a:defRPr b="1" sz="1200">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3.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9pPr>
          </a:lstStyle>
          <a:p/>
        </p:txBody>
      </p:sp>
      <p:sp>
        <p:nvSpPr>
          <p:cNvPr id="11" name="Google Shape;11;p22"/>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2"/>
          <p:cNvSpPr/>
          <p:nvPr/>
        </p:nvSpPr>
        <p:spPr>
          <a:xfrm>
            <a:off x="0" y="0"/>
            <a:ext cx="91440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22"/>
          <p:cNvSpPr/>
          <p:nvPr/>
        </p:nvSpPr>
        <p:spPr>
          <a:xfrm flipH="1" rot="10800000">
            <a:off x="0" y="6583684"/>
            <a:ext cx="9144000" cy="27431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gif" id="14" name="Google Shape;14;p22"/>
          <p:cNvPicPr preferRelativeResize="0"/>
          <p:nvPr/>
        </p:nvPicPr>
        <p:blipFill rotWithShape="1">
          <a:blip r:embed="rId1">
            <a:alphaModFix/>
          </a:blip>
          <a:srcRect b="10713" l="0" r="0" t="0"/>
          <a:stretch/>
        </p:blipFill>
        <p:spPr>
          <a:xfrm>
            <a:off x="6553200" y="228600"/>
            <a:ext cx="2057400" cy="635000"/>
          </a:xfrm>
          <a:prstGeom prst="rect">
            <a:avLst/>
          </a:prstGeom>
          <a:noFill/>
          <a:ln>
            <a:noFill/>
          </a:ln>
        </p:spPr>
      </p:pic>
      <p:pic>
        <p:nvPicPr>
          <p:cNvPr descr="LOGO.gif" id="15" name="Google Shape;15;p22"/>
          <p:cNvPicPr preferRelativeResize="0"/>
          <p:nvPr/>
        </p:nvPicPr>
        <p:blipFill rotWithShape="1">
          <a:blip r:embed="rId1">
            <a:alphaModFix/>
          </a:blip>
          <a:srcRect b="10713" l="0" r="0" t="0"/>
          <a:stretch/>
        </p:blipFill>
        <p:spPr>
          <a:xfrm>
            <a:off x="6553200" y="228600"/>
            <a:ext cx="2057400" cy="635000"/>
          </a:xfrm>
          <a:prstGeom prst="rect">
            <a:avLst/>
          </a:prstGeom>
          <a:noFill/>
          <a:ln>
            <a:noFill/>
          </a:ln>
        </p:spPr>
      </p:pic>
      <p:grpSp>
        <p:nvGrpSpPr>
          <p:cNvPr id="16" name="Google Shape;16;p22"/>
          <p:cNvGrpSpPr/>
          <p:nvPr/>
        </p:nvGrpSpPr>
        <p:grpSpPr>
          <a:xfrm>
            <a:off x="6146800" y="0"/>
            <a:ext cx="2997200" cy="876300"/>
            <a:chOff x="6096000" y="3924300"/>
            <a:chExt cx="2997200" cy="876300"/>
          </a:xfrm>
        </p:grpSpPr>
        <p:sp>
          <p:nvSpPr>
            <p:cNvPr id="17" name="Google Shape;17;p22"/>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gif" id="18" name="Google Shape;18;p22"/>
            <p:cNvPicPr preferRelativeResize="0"/>
            <p:nvPr/>
          </p:nvPicPr>
          <p:blipFill rotWithShape="1">
            <a:blip r:embed="rId1">
              <a:alphaModFix/>
            </a:blip>
            <a:srcRect b="10713" l="0" r="0" t="0"/>
            <a:stretch/>
          </p:blipFill>
          <p:spPr>
            <a:xfrm>
              <a:off x="6502400" y="4152900"/>
              <a:ext cx="2057400" cy="635000"/>
            </a:xfrm>
            <a:prstGeom prst="rect">
              <a:avLst/>
            </a:prstGeom>
            <a:noFill/>
            <a:ln>
              <a:noFill/>
            </a:ln>
          </p:spPr>
        </p:pic>
        <p:sp>
          <p:nvSpPr>
            <p:cNvPr id="19" name="Google Shape;19;p22"/>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descr="logo.jpg" id="20" name="Google Shape;20;p22"/>
          <p:cNvPicPr preferRelativeResize="0"/>
          <p:nvPr/>
        </p:nvPicPr>
        <p:blipFill rotWithShape="1">
          <a:blip r:embed="rId2">
            <a:alphaModFix/>
          </a:blip>
          <a:srcRect b="0" l="0" r="0" t="0"/>
          <a:stretch/>
        </p:blipFill>
        <p:spPr>
          <a:xfrm>
            <a:off x="6553200" y="228600"/>
            <a:ext cx="1920875" cy="609600"/>
          </a:xfrm>
          <a:prstGeom prst="rect">
            <a:avLst/>
          </a:prstGeom>
          <a:noFill/>
          <a:ln>
            <a:noFill/>
          </a:ln>
        </p:spPr>
      </p:pic>
      <p:sp>
        <p:nvSpPr>
          <p:cNvPr id="21" name="Google Shape;21;p22"/>
          <p:cNvSpPr txBox="1"/>
          <p:nvPr>
            <p:ph idx="10" type="dt"/>
          </p:nvPr>
        </p:nvSpPr>
        <p:spPr>
          <a:xfrm>
            <a:off x="76200" y="6594307"/>
            <a:ext cx="2362200" cy="26369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sz="1200">
                <a:solidFill>
                  <a:schemeClr val="lt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2" name="Google Shape;22;p22"/>
          <p:cNvSpPr txBox="1"/>
          <p:nvPr>
            <p:ph idx="11" type="ftr"/>
          </p:nvPr>
        </p:nvSpPr>
        <p:spPr>
          <a:xfrm>
            <a:off x="3086100" y="6596246"/>
            <a:ext cx="2895600" cy="26175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sz="1200">
                <a:solidFill>
                  <a:schemeClr val="lt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3" name="Google Shape;23;p22"/>
          <p:cNvSpPr txBox="1"/>
          <p:nvPr>
            <p:ph idx="12" type="sldNum"/>
          </p:nvPr>
        </p:nvSpPr>
        <p:spPr>
          <a:xfrm>
            <a:off x="6553200" y="6583684"/>
            <a:ext cx="2133600" cy="274316"/>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1" sz="1200" u="none">
                <a:solidFill>
                  <a:schemeClr val="lt1"/>
                </a:solidFill>
                <a:latin typeface="Times New Roman"/>
                <a:ea typeface="Times New Roman"/>
                <a:cs typeface="Times New Roman"/>
                <a:sym typeface="Times New Roman"/>
              </a:defRPr>
            </a:lvl1pPr>
            <a:lvl2pPr indent="0" lvl="1" marL="0" marR="0" rtl="0" algn="r">
              <a:spcBef>
                <a:spcPts val="0"/>
              </a:spcBef>
              <a:spcAft>
                <a:spcPts val="0"/>
              </a:spcAft>
              <a:buNone/>
              <a:defRPr b="1" sz="1200" u="none">
                <a:solidFill>
                  <a:schemeClr val="lt1"/>
                </a:solidFill>
                <a:latin typeface="Times New Roman"/>
                <a:ea typeface="Times New Roman"/>
                <a:cs typeface="Times New Roman"/>
                <a:sym typeface="Times New Roman"/>
              </a:defRPr>
            </a:lvl2pPr>
            <a:lvl3pPr indent="0" lvl="2" marL="0" marR="0" rtl="0" algn="r">
              <a:spcBef>
                <a:spcPts val="0"/>
              </a:spcBef>
              <a:spcAft>
                <a:spcPts val="0"/>
              </a:spcAft>
              <a:buNone/>
              <a:defRPr b="1" sz="1200" u="none">
                <a:solidFill>
                  <a:schemeClr val="lt1"/>
                </a:solidFill>
                <a:latin typeface="Times New Roman"/>
                <a:ea typeface="Times New Roman"/>
                <a:cs typeface="Times New Roman"/>
                <a:sym typeface="Times New Roman"/>
              </a:defRPr>
            </a:lvl3pPr>
            <a:lvl4pPr indent="0" lvl="3" marL="0" marR="0" rtl="0" algn="r">
              <a:spcBef>
                <a:spcPts val="0"/>
              </a:spcBef>
              <a:spcAft>
                <a:spcPts val="0"/>
              </a:spcAft>
              <a:buNone/>
              <a:defRPr b="1" sz="1200" u="none">
                <a:solidFill>
                  <a:schemeClr val="lt1"/>
                </a:solidFill>
                <a:latin typeface="Times New Roman"/>
                <a:ea typeface="Times New Roman"/>
                <a:cs typeface="Times New Roman"/>
                <a:sym typeface="Times New Roman"/>
              </a:defRPr>
            </a:lvl4pPr>
            <a:lvl5pPr indent="0" lvl="4" marL="0" marR="0" rtl="0" algn="r">
              <a:spcBef>
                <a:spcPts val="0"/>
              </a:spcBef>
              <a:spcAft>
                <a:spcPts val="0"/>
              </a:spcAft>
              <a:buNone/>
              <a:defRPr b="1" sz="1200" u="none">
                <a:solidFill>
                  <a:schemeClr val="lt1"/>
                </a:solidFill>
                <a:latin typeface="Times New Roman"/>
                <a:ea typeface="Times New Roman"/>
                <a:cs typeface="Times New Roman"/>
                <a:sym typeface="Times New Roman"/>
              </a:defRPr>
            </a:lvl5pPr>
            <a:lvl6pPr indent="0" lvl="5" marL="0" marR="0" rtl="0" algn="r">
              <a:spcBef>
                <a:spcPts val="0"/>
              </a:spcBef>
              <a:spcAft>
                <a:spcPts val="0"/>
              </a:spcAft>
              <a:buNone/>
              <a:defRPr b="1" sz="1200" u="none">
                <a:solidFill>
                  <a:schemeClr val="lt1"/>
                </a:solidFill>
                <a:latin typeface="Times New Roman"/>
                <a:ea typeface="Times New Roman"/>
                <a:cs typeface="Times New Roman"/>
                <a:sym typeface="Times New Roman"/>
              </a:defRPr>
            </a:lvl6pPr>
            <a:lvl7pPr indent="0" lvl="6" marL="0" marR="0" rtl="0" algn="r">
              <a:spcBef>
                <a:spcPts val="0"/>
              </a:spcBef>
              <a:spcAft>
                <a:spcPts val="0"/>
              </a:spcAft>
              <a:buNone/>
              <a:defRPr b="1" sz="1200" u="none">
                <a:solidFill>
                  <a:schemeClr val="lt1"/>
                </a:solidFill>
                <a:latin typeface="Times New Roman"/>
                <a:ea typeface="Times New Roman"/>
                <a:cs typeface="Times New Roman"/>
                <a:sym typeface="Times New Roman"/>
              </a:defRPr>
            </a:lvl7pPr>
            <a:lvl8pPr indent="0" lvl="7" marL="0" marR="0" rtl="0" algn="r">
              <a:spcBef>
                <a:spcPts val="0"/>
              </a:spcBef>
              <a:spcAft>
                <a:spcPts val="0"/>
              </a:spcAft>
              <a:buNone/>
              <a:defRPr b="1" sz="1200" u="none">
                <a:solidFill>
                  <a:schemeClr val="lt1"/>
                </a:solidFill>
                <a:latin typeface="Times New Roman"/>
                <a:ea typeface="Times New Roman"/>
                <a:cs typeface="Times New Roman"/>
                <a:sym typeface="Times New Roman"/>
              </a:defRPr>
            </a:lvl8pPr>
            <a:lvl9pPr indent="0" lvl="8" marL="0" marR="0" rtl="0" algn="r">
              <a:spcBef>
                <a:spcPts val="0"/>
              </a:spcBef>
              <a:spcAft>
                <a:spcPts val="0"/>
              </a:spcAft>
              <a:buNone/>
              <a:defRPr b="1" sz="1200" u="non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www.geeksforgeeks.org/acceptance-testing-software-testing/" TargetMode="External"/><Relationship Id="rId4" Type="http://schemas.openxmlformats.org/officeDocument/2006/relationships/hyperlink" Target="https://www.geeksforgeeks.org/software-engineering-integration-testing/" TargetMode="External"/><Relationship Id="rId5" Type="http://schemas.openxmlformats.org/officeDocument/2006/relationships/hyperlink" Target="https://www.geeksforgeeks.org/unit-testing-software-testing/" TargetMode="External"/><Relationship Id="rId6" Type="http://schemas.openxmlformats.org/officeDocument/2006/relationships/hyperlink" Target="https://www.geeksforgeeks.org/software-testing-functional-testing/" TargetMode="External"/><Relationship Id="rId7" Type="http://schemas.openxmlformats.org/officeDocument/2006/relationships/hyperlink" Target="https://www.geeksforgeeks.org/performance-testing-software-testin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1"/>
          <p:cNvSpPr txBox="1"/>
          <p:nvPr/>
        </p:nvSpPr>
        <p:spPr>
          <a:xfrm>
            <a:off x="152400" y="914400"/>
            <a:ext cx="8763000" cy="4038600"/>
          </a:xfrm>
          <a:prstGeom prst="rect">
            <a:avLst/>
          </a:prstGeom>
          <a:noFill/>
          <a:ln>
            <a:noFill/>
          </a:ln>
        </p:spPr>
        <p:txBody>
          <a:bodyPr anchorCtr="0" anchor="ctr" bIns="45700" lIns="91425" spcFirstLastPara="1" rIns="91425" wrap="square" tIns="33100">
            <a:noAutofit/>
          </a:bodyPr>
          <a:lstStyle/>
          <a:p>
            <a:pPr indent="0" lvl="0" marL="0" marR="0" rtl="0" algn="ctr">
              <a:spcBef>
                <a:spcPts val="0"/>
              </a:spcBef>
              <a:spcAft>
                <a:spcPts val="0"/>
              </a:spcAft>
              <a:buNone/>
            </a:pPr>
            <a:r>
              <a:rPr b="1" lang="en-US" sz="5400">
                <a:solidFill>
                  <a:srgbClr val="3A30FA"/>
                </a:solidFill>
                <a:latin typeface="Times New Roman"/>
                <a:ea typeface="Times New Roman"/>
                <a:cs typeface="Times New Roman"/>
                <a:sym typeface="Times New Roman"/>
              </a:rPr>
              <a:t>UML Activity Diagram</a:t>
            </a:r>
            <a:endParaRPr/>
          </a:p>
        </p:txBody>
      </p:sp>
      <p:sp>
        <p:nvSpPr>
          <p:cNvPr id="46" name="Google Shape;46;p1"/>
          <p:cNvSpPr txBox="1"/>
          <p:nvPr/>
        </p:nvSpPr>
        <p:spPr>
          <a:xfrm>
            <a:off x="1676400" y="4953000"/>
            <a:ext cx="5943600" cy="1477328"/>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400">
                <a:solidFill>
                  <a:schemeClr val="dk1"/>
                </a:solidFill>
                <a:latin typeface="Times New Roman"/>
                <a:ea typeface="Times New Roman"/>
                <a:cs typeface="Times New Roman"/>
                <a:sym typeface="Times New Roman"/>
              </a:rPr>
              <a:t>Dr. Bhavna Sareen</a:t>
            </a:r>
            <a:endParaRPr/>
          </a:p>
          <a:p>
            <a:pPr indent="0" lvl="0" marL="0" marR="0" rtl="0" algn="ctr">
              <a:spcBef>
                <a:spcPts val="0"/>
              </a:spcBef>
              <a:spcAft>
                <a:spcPts val="0"/>
              </a:spcAft>
              <a:buNone/>
            </a:pPr>
            <a:r>
              <a:rPr lang="en-US" sz="1800">
                <a:solidFill>
                  <a:srgbClr val="FF0000"/>
                </a:solidFill>
                <a:latin typeface="Times New Roman"/>
                <a:ea typeface="Times New Roman"/>
                <a:cs typeface="Times New Roman"/>
                <a:sym typeface="Times New Roman"/>
              </a:rPr>
              <a:t>Assistant Professor </a:t>
            </a:r>
            <a:endParaRPr/>
          </a:p>
          <a:p>
            <a:pPr indent="0" lvl="0" marL="0" marR="0" rtl="0" algn="ctr">
              <a:spcBef>
                <a:spcPts val="0"/>
              </a:spcBef>
              <a:spcAft>
                <a:spcPts val="0"/>
              </a:spcAft>
              <a:buNone/>
            </a:pPr>
            <a:r>
              <a:rPr lang="en-US" sz="1800">
                <a:solidFill>
                  <a:srgbClr val="FF0000"/>
                </a:solidFill>
                <a:latin typeface="Times New Roman"/>
                <a:ea typeface="Times New Roman"/>
                <a:cs typeface="Times New Roman"/>
                <a:sym typeface="Times New Roman"/>
              </a:rPr>
              <a:t>Department of Computer Science and Engineering</a:t>
            </a:r>
            <a:endParaRPr/>
          </a:p>
          <a:p>
            <a:pPr indent="0" lvl="0" marL="0" marR="0" rtl="0" algn="ctr">
              <a:spcBef>
                <a:spcPts val="0"/>
              </a:spcBef>
              <a:spcAft>
                <a:spcPts val="0"/>
              </a:spcAft>
              <a:buNone/>
            </a:pPr>
            <a:r>
              <a:rPr lang="en-US" sz="1800">
                <a:solidFill>
                  <a:srgbClr val="FF0000"/>
                </a:solidFill>
                <a:latin typeface="Times New Roman"/>
                <a:ea typeface="Times New Roman"/>
                <a:cs typeface="Times New Roman"/>
                <a:sym typeface="Times New Roman"/>
              </a:rPr>
              <a:t>Chitkara University, Punjab</a:t>
            </a:r>
            <a:endParaRPr/>
          </a:p>
        </p:txBody>
      </p:sp>
      <p:sp>
        <p:nvSpPr>
          <p:cNvPr id="47" name="Google Shape;47;p1"/>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48" name="Google Shape;48;p1"/>
          <p:cNvSpPr txBox="1"/>
          <p:nvPr>
            <p:ph type="title"/>
          </p:nvPr>
        </p:nvSpPr>
        <p:spPr>
          <a:xfrm>
            <a:off x="0" y="0"/>
            <a:ext cx="6477000" cy="838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49" name="Google Shape;49;p1"/>
          <p:cNvSpPr txBox="1"/>
          <p:nvPr>
            <p:ph idx="1" type="body"/>
          </p:nvPr>
        </p:nvSpPr>
        <p:spPr>
          <a:xfrm>
            <a:off x="457200" y="1371600"/>
            <a:ext cx="8229600" cy="4526100"/>
          </a:xfrm>
          <a:prstGeom prst="rect">
            <a:avLst/>
          </a:prstGeom>
        </p:spPr>
        <p:txBody>
          <a:bodyPr anchorCtr="0" anchor="t" bIns="45700" lIns="91425" spcFirstLastPara="1" rIns="91425" wrap="square" tIns="45700">
            <a:noAutofit/>
          </a:bodyPr>
          <a:lstStyle/>
          <a:p>
            <a:pPr indent="0" lvl="0" marL="0" rtl="0" algn="l">
              <a:spcBef>
                <a:spcPts val="44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2"/>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Introduction to Activity Diagram</a:t>
            </a:r>
            <a:endParaRPr b="1" sz="2800">
              <a:latin typeface="Times"/>
              <a:ea typeface="Times"/>
              <a:cs typeface="Times"/>
              <a:sym typeface="Times"/>
            </a:endParaRPr>
          </a:p>
        </p:txBody>
      </p:sp>
      <p:sp>
        <p:nvSpPr>
          <p:cNvPr id="55" name="Google Shape;55;p2"/>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56" name="Google Shape;56;p2"/>
          <p:cNvSpPr/>
          <p:nvPr/>
        </p:nvSpPr>
        <p:spPr>
          <a:xfrm>
            <a:off x="152400" y="980689"/>
            <a:ext cx="8763000" cy="4653646"/>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In UML, the activity diagram is used to demonstrate the flow of control within the system rather than the implementation. </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The activity diagram helps in envisioning the workflow from one activity to another. </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It puts emphasis on the condition of flow and the order in which it occurs. </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The flow can be sequential, branched, or concurrent, and to deal with such kinds of flows, the activity diagram has come up with a fork, join, etc.</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It is also termed as an object-oriented flowchart. </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It encompasses activities composed of a set of actions or operations that are applied to model the behavioral diagram.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3"/>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Basic Components of Activity Diagram</a:t>
            </a:r>
            <a:endParaRPr b="1" sz="2800">
              <a:latin typeface="Times"/>
              <a:ea typeface="Times"/>
              <a:cs typeface="Times"/>
              <a:sym typeface="Times"/>
            </a:endParaRPr>
          </a:p>
        </p:txBody>
      </p:sp>
      <p:sp>
        <p:nvSpPr>
          <p:cNvPr id="62" name="Google Shape;62;p3"/>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63" name="Google Shape;63;p3"/>
          <p:cNvSpPr/>
          <p:nvPr/>
        </p:nvSpPr>
        <p:spPr>
          <a:xfrm>
            <a:off x="152400" y="980689"/>
            <a:ext cx="8763000" cy="5115311"/>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n-US" sz="2000">
                <a:solidFill>
                  <a:srgbClr val="C00000"/>
                </a:solidFill>
                <a:latin typeface="Times New Roman"/>
                <a:ea typeface="Times New Roman"/>
                <a:cs typeface="Times New Roman"/>
                <a:sym typeface="Times New Roman"/>
              </a:rPr>
              <a:t>1. Activity</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The categorization of behavior into one or more actions is termed as an activity. </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In other words, it can be said that an activity is a network of nodes that are connected by edges. </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The edges depict the flow of execution. </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It may contain action nodes, control nodes, or object nodes.</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The activities are initiated at the initial node and are terminated at the final node.</a:t>
            </a:r>
            <a:endParaRPr/>
          </a:p>
          <a:p>
            <a:pPr indent="-158750" lvl="0" marL="285750" marR="0" rtl="0" algn="just">
              <a:lnSpc>
                <a:spcPct val="150000"/>
              </a:lnSpc>
              <a:spcBef>
                <a:spcPts val="0"/>
              </a:spcBef>
              <a:spcAft>
                <a:spcPts val="0"/>
              </a:spcAft>
              <a:buClr>
                <a:schemeClr val="dk1"/>
              </a:buClr>
              <a:buSzPts val="2000"/>
              <a:buFont typeface="Arial"/>
              <a:buNone/>
            </a:pPr>
            <a:r>
              <a:t/>
            </a:r>
            <a:endParaRPr sz="2000">
              <a:solidFill>
                <a:srgbClr val="333333"/>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t/>
            </a:r>
            <a:endParaRPr sz="2000">
              <a:solidFill>
                <a:srgbClr val="333333"/>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t/>
            </a:r>
            <a:endParaRPr sz="2000">
              <a:solidFill>
                <a:srgbClr val="333333"/>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t/>
            </a:r>
            <a:endParaRPr b="0" i="0" sz="2000">
              <a:solidFill>
                <a:srgbClr val="333333"/>
              </a:solidFill>
              <a:latin typeface="Times New Roman"/>
              <a:ea typeface="Times New Roman"/>
              <a:cs typeface="Times New Roman"/>
              <a:sym typeface="Times New Roman"/>
            </a:endParaRPr>
          </a:p>
        </p:txBody>
      </p:sp>
      <p:pic>
        <p:nvPicPr>
          <p:cNvPr id="64" name="Google Shape;64;p3"/>
          <p:cNvPicPr preferRelativeResize="0"/>
          <p:nvPr/>
        </p:nvPicPr>
        <p:blipFill rotWithShape="1">
          <a:blip r:embed="rId3">
            <a:alphaModFix/>
          </a:blip>
          <a:srcRect b="0" l="0" r="0" t="0"/>
          <a:stretch/>
        </p:blipFill>
        <p:spPr>
          <a:xfrm>
            <a:off x="3711532" y="4572000"/>
            <a:ext cx="1644735" cy="87634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4"/>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Basic Components of Activity Diagram</a:t>
            </a:r>
            <a:endParaRPr b="1" sz="2800">
              <a:latin typeface="Times"/>
              <a:ea typeface="Times"/>
              <a:cs typeface="Times"/>
              <a:sym typeface="Times"/>
            </a:endParaRPr>
          </a:p>
        </p:txBody>
      </p:sp>
      <p:sp>
        <p:nvSpPr>
          <p:cNvPr id="70" name="Google Shape;70;p4"/>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71" name="Google Shape;71;p4"/>
          <p:cNvSpPr/>
          <p:nvPr/>
        </p:nvSpPr>
        <p:spPr>
          <a:xfrm>
            <a:off x="152400" y="980689"/>
            <a:ext cx="8763000" cy="5269199"/>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US" sz="2000">
                <a:solidFill>
                  <a:srgbClr val="C00000"/>
                </a:solidFill>
                <a:latin typeface="Times New Roman"/>
                <a:ea typeface="Times New Roman"/>
                <a:cs typeface="Times New Roman"/>
                <a:sym typeface="Times New Roman"/>
              </a:rPr>
              <a:t>2</a:t>
            </a:r>
            <a:r>
              <a:rPr b="1" i="0" lang="en-US" sz="2000">
                <a:solidFill>
                  <a:srgbClr val="C00000"/>
                </a:solidFill>
                <a:latin typeface="Times New Roman"/>
                <a:ea typeface="Times New Roman"/>
                <a:cs typeface="Times New Roman"/>
                <a:sym typeface="Times New Roman"/>
              </a:rPr>
              <a:t>. Activity Partition/Swimlane</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The swimlane is used to cluster all the related activities in one column or one row. </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It can be either vertical or horizontal. </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It used to add modularity to the activity diagram. </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It is not necessary to incorporate swimlane in the activity diagram. But it is used to add more transparency to the activity diagram.</a:t>
            </a:r>
            <a:endParaRPr/>
          </a:p>
          <a:p>
            <a:pPr indent="0" lvl="0" marL="0" marR="0" rtl="0" algn="l">
              <a:spcBef>
                <a:spcPts val="0"/>
              </a:spcBef>
              <a:spcAft>
                <a:spcPts val="0"/>
              </a:spcAft>
              <a:buNone/>
            </a:pPr>
            <a:br>
              <a:rPr lang="en-US" sz="2000">
                <a:solidFill>
                  <a:schemeClr val="dk1"/>
                </a:solidFill>
                <a:latin typeface="Arial"/>
                <a:ea typeface="Arial"/>
                <a:cs typeface="Arial"/>
                <a:sym typeface="Arial"/>
              </a:rPr>
            </a:br>
            <a:endParaRPr sz="2000">
              <a:solidFill>
                <a:srgbClr val="333333"/>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t/>
            </a:r>
            <a:endParaRPr sz="2000">
              <a:solidFill>
                <a:srgbClr val="333333"/>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t/>
            </a:r>
            <a:endParaRPr sz="2000">
              <a:solidFill>
                <a:srgbClr val="333333"/>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t/>
            </a:r>
            <a:endParaRPr b="0" i="0" sz="2000">
              <a:solidFill>
                <a:srgbClr val="333333"/>
              </a:solidFill>
              <a:latin typeface="Times New Roman"/>
              <a:ea typeface="Times New Roman"/>
              <a:cs typeface="Times New Roman"/>
              <a:sym typeface="Times New Roman"/>
            </a:endParaRPr>
          </a:p>
        </p:txBody>
      </p:sp>
      <p:pic>
        <p:nvPicPr>
          <p:cNvPr id="72" name="Google Shape;72;p4"/>
          <p:cNvPicPr preferRelativeResize="0"/>
          <p:nvPr/>
        </p:nvPicPr>
        <p:blipFill rotWithShape="1">
          <a:blip r:embed="rId3">
            <a:alphaModFix/>
          </a:blip>
          <a:srcRect b="0" l="0" r="0" t="0"/>
          <a:stretch/>
        </p:blipFill>
        <p:spPr>
          <a:xfrm>
            <a:off x="6477000" y="3962400"/>
            <a:ext cx="1752690" cy="206385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5"/>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Basic Components of Activity Diagram</a:t>
            </a:r>
            <a:endParaRPr b="1" sz="2800">
              <a:latin typeface="Times"/>
              <a:ea typeface="Times"/>
              <a:cs typeface="Times"/>
              <a:sym typeface="Times"/>
            </a:endParaRPr>
          </a:p>
        </p:txBody>
      </p:sp>
      <p:sp>
        <p:nvSpPr>
          <p:cNvPr id="78" name="Google Shape;78;p5"/>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79" name="Google Shape;79;p5"/>
          <p:cNvSpPr/>
          <p:nvPr/>
        </p:nvSpPr>
        <p:spPr>
          <a:xfrm>
            <a:off x="152400" y="980689"/>
            <a:ext cx="8763000" cy="4792146"/>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n-US" sz="2000">
                <a:solidFill>
                  <a:srgbClr val="C00000"/>
                </a:solidFill>
                <a:latin typeface="Times New Roman"/>
                <a:ea typeface="Times New Roman"/>
                <a:cs typeface="Times New Roman"/>
                <a:sym typeface="Times New Roman"/>
              </a:rPr>
              <a:t>3. Connector Symbol</a:t>
            </a:r>
            <a:endParaRPr/>
          </a:p>
          <a:p>
            <a:pPr indent="-285750" lvl="0" marL="285750" marR="0" rtl="0" algn="just">
              <a:lnSpc>
                <a:spcPct val="150000"/>
              </a:lnSpc>
              <a:spcBef>
                <a:spcPts val="0"/>
              </a:spcBef>
              <a:spcAft>
                <a:spcPts val="0"/>
              </a:spcAft>
              <a:buClr>
                <a:srgbClr val="282C33"/>
              </a:buClr>
              <a:buSzPts val="1800"/>
              <a:buFont typeface="Arial"/>
              <a:buChar char="•"/>
            </a:pPr>
            <a:r>
              <a:rPr b="0" i="0" lang="en-US" sz="1800">
                <a:solidFill>
                  <a:srgbClr val="282C33"/>
                </a:solidFill>
                <a:latin typeface="Times New Roman"/>
                <a:ea typeface="Times New Roman"/>
                <a:cs typeface="Times New Roman"/>
                <a:sym typeface="Times New Roman"/>
              </a:rPr>
              <a:t>Shows the directional flow or control flow of the activity. </a:t>
            </a:r>
            <a:endParaRPr/>
          </a:p>
          <a:p>
            <a:pPr indent="-285750" lvl="0" marL="285750" marR="0" rtl="0" algn="just">
              <a:lnSpc>
                <a:spcPct val="150000"/>
              </a:lnSpc>
              <a:spcBef>
                <a:spcPts val="0"/>
              </a:spcBef>
              <a:spcAft>
                <a:spcPts val="0"/>
              </a:spcAft>
              <a:buClr>
                <a:srgbClr val="282C33"/>
              </a:buClr>
              <a:buSzPts val="1800"/>
              <a:buFont typeface="Arial"/>
              <a:buChar char="•"/>
            </a:pPr>
            <a:r>
              <a:rPr b="0" i="0" lang="en-US" sz="1800">
                <a:solidFill>
                  <a:srgbClr val="282C33"/>
                </a:solidFill>
                <a:latin typeface="Times New Roman"/>
                <a:ea typeface="Times New Roman"/>
                <a:cs typeface="Times New Roman"/>
                <a:sym typeface="Times New Roman"/>
              </a:rPr>
              <a:t>An incoming arrow starts a step of an activity; once the step is completed, the flow continues with the outgoing arrow.</a:t>
            </a:r>
            <a:endParaRPr sz="1800">
              <a:solidFill>
                <a:srgbClr val="333333"/>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t/>
            </a:r>
            <a:endParaRPr sz="2000">
              <a:solidFill>
                <a:srgbClr val="333333"/>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lang="en-US" sz="2000">
                <a:solidFill>
                  <a:srgbClr val="C00000"/>
                </a:solidFill>
                <a:latin typeface="Times New Roman"/>
                <a:ea typeface="Times New Roman"/>
                <a:cs typeface="Times New Roman"/>
                <a:sym typeface="Times New Roman"/>
              </a:rPr>
              <a:t>4</a:t>
            </a:r>
            <a:r>
              <a:rPr b="1" i="0" lang="en-US" sz="2000">
                <a:solidFill>
                  <a:srgbClr val="C00000"/>
                </a:solidFill>
                <a:latin typeface="Times New Roman"/>
                <a:ea typeface="Times New Roman"/>
                <a:cs typeface="Times New Roman"/>
                <a:sym typeface="Times New Roman"/>
              </a:rPr>
              <a:t>. Decision Symbol</a:t>
            </a:r>
            <a:endParaRPr/>
          </a:p>
          <a:p>
            <a:pPr indent="-342900" lvl="0" marL="342900" marR="0" rtl="0" algn="just">
              <a:lnSpc>
                <a:spcPct val="150000"/>
              </a:lnSpc>
              <a:spcBef>
                <a:spcPts val="0"/>
              </a:spcBef>
              <a:spcAft>
                <a:spcPts val="0"/>
              </a:spcAft>
              <a:buClr>
                <a:srgbClr val="282C33"/>
              </a:buClr>
              <a:buSzPts val="1800"/>
              <a:buFont typeface="Arial"/>
              <a:buChar char="•"/>
            </a:pPr>
            <a:r>
              <a:rPr lang="en-US" sz="1800">
                <a:solidFill>
                  <a:srgbClr val="282C33"/>
                </a:solidFill>
                <a:latin typeface="Times New Roman"/>
                <a:ea typeface="Times New Roman"/>
                <a:cs typeface="Times New Roman"/>
                <a:sym typeface="Times New Roman"/>
              </a:rPr>
              <a:t>It represents</a:t>
            </a:r>
            <a:r>
              <a:rPr b="0" i="0" lang="en-US" sz="1800">
                <a:solidFill>
                  <a:srgbClr val="282C33"/>
                </a:solidFill>
                <a:latin typeface="Times New Roman"/>
                <a:ea typeface="Times New Roman"/>
                <a:cs typeface="Times New Roman"/>
                <a:sym typeface="Times New Roman"/>
              </a:rPr>
              <a:t> a decision and always has at least two paths branching out with condition text to allow users to view options. </a:t>
            </a:r>
            <a:endParaRPr/>
          </a:p>
          <a:p>
            <a:pPr indent="-342900" lvl="0" marL="342900" marR="0" rtl="0" algn="just">
              <a:lnSpc>
                <a:spcPct val="150000"/>
              </a:lnSpc>
              <a:spcBef>
                <a:spcPts val="0"/>
              </a:spcBef>
              <a:spcAft>
                <a:spcPts val="0"/>
              </a:spcAft>
              <a:buClr>
                <a:srgbClr val="282C33"/>
              </a:buClr>
              <a:buSzPts val="1800"/>
              <a:buFont typeface="Arial"/>
              <a:buChar char="•"/>
            </a:pPr>
            <a:r>
              <a:rPr b="0" i="0" lang="en-US" sz="1800">
                <a:solidFill>
                  <a:srgbClr val="282C33"/>
                </a:solidFill>
                <a:latin typeface="Times New Roman"/>
                <a:ea typeface="Times New Roman"/>
                <a:cs typeface="Times New Roman"/>
                <a:sym typeface="Times New Roman"/>
              </a:rPr>
              <a:t>This symbol represents the branching or merging of various flows with the symbol acting as a frame or container</a:t>
            </a:r>
            <a:endParaRPr sz="1800">
              <a:solidFill>
                <a:srgbClr val="333333"/>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t/>
            </a:r>
            <a:endParaRPr b="0" i="0" sz="2000">
              <a:solidFill>
                <a:srgbClr val="333333"/>
              </a:solidFill>
              <a:latin typeface="Times New Roman"/>
              <a:ea typeface="Times New Roman"/>
              <a:cs typeface="Times New Roman"/>
              <a:sym typeface="Times New Roman"/>
            </a:endParaRPr>
          </a:p>
        </p:txBody>
      </p:sp>
      <p:pic>
        <p:nvPicPr>
          <p:cNvPr id="80" name="Google Shape;80;p5"/>
          <p:cNvPicPr preferRelativeResize="0"/>
          <p:nvPr/>
        </p:nvPicPr>
        <p:blipFill rotWithShape="1">
          <a:blip r:embed="rId3">
            <a:alphaModFix/>
          </a:blip>
          <a:srcRect b="0" l="0" r="0" t="0"/>
          <a:stretch/>
        </p:blipFill>
        <p:spPr>
          <a:xfrm>
            <a:off x="7086600" y="1574783"/>
            <a:ext cx="1295467" cy="330217"/>
          </a:xfrm>
          <a:prstGeom prst="rect">
            <a:avLst/>
          </a:prstGeom>
          <a:noFill/>
          <a:ln>
            <a:noFill/>
          </a:ln>
        </p:spPr>
      </p:pic>
      <p:pic>
        <p:nvPicPr>
          <p:cNvPr id="81" name="Google Shape;81;p5"/>
          <p:cNvPicPr preferRelativeResize="0"/>
          <p:nvPr/>
        </p:nvPicPr>
        <p:blipFill rotWithShape="1">
          <a:blip r:embed="rId4">
            <a:alphaModFix/>
          </a:blip>
          <a:srcRect b="0" l="0" r="0" t="0"/>
          <a:stretch/>
        </p:blipFill>
        <p:spPr>
          <a:xfrm>
            <a:off x="4006821" y="4953000"/>
            <a:ext cx="1130358" cy="113035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6"/>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Basic Components of Activity Diagram</a:t>
            </a:r>
            <a:endParaRPr b="1" sz="2800">
              <a:latin typeface="Times"/>
              <a:ea typeface="Times"/>
              <a:cs typeface="Times"/>
              <a:sym typeface="Times"/>
            </a:endParaRPr>
          </a:p>
        </p:txBody>
      </p:sp>
      <p:sp>
        <p:nvSpPr>
          <p:cNvPr id="87" name="Google Shape;87;p6"/>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88" name="Google Shape;88;p6"/>
          <p:cNvSpPr/>
          <p:nvPr/>
        </p:nvSpPr>
        <p:spPr>
          <a:xfrm>
            <a:off x="152400" y="1333009"/>
            <a:ext cx="5943600" cy="4191981"/>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n-US" sz="2000">
                <a:solidFill>
                  <a:srgbClr val="C00000"/>
                </a:solidFill>
                <a:latin typeface="Times New Roman"/>
                <a:ea typeface="Times New Roman"/>
                <a:cs typeface="Times New Roman"/>
                <a:sym typeface="Times New Roman"/>
              </a:rPr>
              <a:t>4. Forks</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Forks generate the concurrent flow inside the activity. </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A fork node consists of one inward edge and several outward edges. </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It is the same as that of various decision parameters. </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Whenever a data is received at an inward edge, it gets copied and split crossways various outward edges. </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It split a single inward flow into multiple parallel flows.</a:t>
            </a:r>
            <a:endParaRPr/>
          </a:p>
        </p:txBody>
      </p:sp>
      <p:pic>
        <p:nvPicPr>
          <p:cNvPr id="89" name="Google Shape;89;p6"/>
          <p:cNvPicPr preferRelativeResize="0"/>
          <p:nvPr/>
        </p:nvPicPr>
        <p:blipFill rotWithShape="1">
          <a:blip r:embed="rId3">
            <a:alphaModFix/>
          </a:blip>
          <a:srcRect b="0" l="0" r="0" t="0"/>
          <a:stretch/>
        </p:blipFill>
        <p:spPr>
          <a:xfrm>
            <a:off x="6648450" y="1828800"/>
            <a:ext cx="1943100" cy="26576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7"/>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Basic Components of Activity Diagram</a:t>
            </a:r>
            <a:endParaRPr b="1" sz="2800">
              <a:latin typeface="Times"/>
              <a:ea typeface="Times"/>
              <a:cs typeface="Times"/>
              <a:sym typeface="Times"/>
            </a:endParaRPr>
          </a:p>
        </p:txBody>
      </p:sp>
      <p:sp>
        <p:nvSpPr>
          <p:cNvPr id="95" name="Google Shape;95;p7"/>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6" name="Google Shape;96;p7"/>
          <p:cNvSpPr/>
          <p:nvPr/>
        </p:nvSpPr>
        <p:spPr>
          <a:xfrm>
            <a:off x="142982" y="1524000"/>
            <a:ext cx="4876800" cy="326865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US" sz="2000">
                <a:solidFill>
                  <a:srgbClr val="C00000"/>
                </a:solidFill>
                <a:latin typeface="Times New Roman"/>
                <a:ea typeface="Times New Roman"/>
                <a:cs typeface="Times New Roman"/>
                <a:sym typeface="Times New Roman"/>
              </a:rPr>
              <a:t>5. Join Nodes</a:t>
            </a:r>
            <a:endParaRPr b="1" i="0" sz="2000">
              <a:solidFill>
                <a:srgbClr val="C00000"/>
              </a:solidFill>
              <a:latin typeface="Times New Roman"/>
              <a:ea typeface="Times New Roman"/>
              <a:cs typeface="Times New Roman"/>
              <a:sym typeface="Times New Roman"/>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Join nodes are the opposite of fork nodes. </a:t>
            </a:r>
            <a:endParaRPr/>
          </a:p>
          <a:p>
            <a:pPr indent="-285750" lvl="0" marL="285750" marR="0" rtl="0" algn="just">
              <a:lnSpc>
                <a:spcPct val="150000"/>
              </a:lnSpc>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A logical AND operation is performed on all of the inward edges as it synchronizes the flow of input across one single output (outward) edge.</a:t>
            </a:r>
            <a:endParaRPr/>
          </a:p>
          <a:p>
            <a:pPr indent="0" lvl="0" marL="0" marR="0" rtl="0" algn="just">
              <a:lnSpc>
                <a:spcPct val="150000"/>
              </a:lnSpc>
              <a:spcBef>
                <a:spcPts val="0"/>
              </a:spcBef>
              <a:spcAft>
                <a:spcPts val="0"/>
              </a:spcAft>
              <a:buNone/>
            </a:pPr>
            <a:r>
              <a:t/>
            </a:r>
            <a:endParaRPr b="0" i="0" sz="2000">
              <a:solidFill>
                <a:srgbClr val="333333"/>
              </a:solidFill>
              <a:latin typeface="Times New Roman"/>
              <a:ea typeface="Times New Roman"/>
              <a:cs typeface="Times New Roman"/>
              <a:sym typeface="Times New Roman"/>
            </a:endParaRPr>
          </a:p>
        </p:txBody>
      </p:sp>
      <p:pic>
        <p:nvPicPr>
          <p:cNvPr id="97" name="Google Shape;97;p7"/>
          <p:cNvPicPr preferRelativeResize="0"/>
          <p:nvPr/>
        </p:nvPicPr>
        <p:blipFill rotWithShape="1">
          <a:blip r:embed="rId3">
            <a:alphaModFix/>
          </a:blip>
          <a:srcRect b="0" l="0" r="0" t="0"/>
          <a:stretch/>
        </p:blipFill>
        <p:spPr>
          <a:xfrm>
            <a:off x="5858838" y="1678304"/>
            <a:ext cx="2819400" cy="268220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8"/>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Notations of Activity Diagram</a:t>
            </a:r>
            <a:endParaRPr b="1" sz="2800">
              <a:latin typeface="Times"/>
              <a:ea typeface="Times"/>
              <a:cs typeface="Times"/>
              <a:sym typeface="Times"/>
            </a:endParaRPr>
          </a:p>
        </p:txBody>
      </p:sp>
      <p:sp>
        <p:nvSpPr>
          <p:cNvPr id="103" name="Google Shape;103;p8"/>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04" name="Google Shape;104;p8"/>
          <p:cNvSpPr/>
          <p:nvPr/>
        </p:nvSpPr>
        <p:spPr>
          <a:xfrm>
            <a:off x="158393" y="1254342"/>
            <a:ext cx="4718407" cy="4613058"/>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rgbClr val="333333"/>
              </a:buClr>
              <a:buSzPts val="1800"/>
              <a:buFont typeface="Arial"/>
              <a:buChar char="•"/>
            </a:pPr>
            <a:r>
              <a:rPr b="1" i="0" lang="en-US" sz="1800">
                <a:solidFill>
                  <a:srgbClr val="333333"/>
                </a:solidFill>
                <a:latin typeface="Times New Roman"/>
                <a:ea typeface="Times New Roman"/>
                <a:cs typeface="Times New Roman"/>
                <a:sym typeface="Times New Roman"/>
              </a:rPr>
              <a:t>Initial State:</a:t>
            </a:r>
            <a:r>
              <a:rPr b="0" i="0" lang="en-US" sz="1800">
                <a:solidFill>
                  <a:srgbClr val="333333"/>
                </a:solidFill>
                <a:latin typeface="Times New Roman"/>
                <a:ea typeface="Times New Roman"/>
                <a:cs typeface="Times New Roman"/>
                <a:sym typeface="Times New Roman"/>
              </a:rPr>
              <a:t> It depicts the initial stage or beginning of the set of actions.</a:t>
            </a:r>
            <a:endParaRPr/>
          </a:p>
          <a:p>
            <a:pPr indent="-171450" lvl="0" marL="285750" marR="0" rtl="0" algn="just">
              <a:lnSpc>
                <a:spcPct val="150000"/>
              </a:lnSpc>
              <a:spcBef>
                <a:spcPts val="0"/>
              </a:spcBef>
              <a:spcAft>
                <a:spcPts val="0"/>
              </a:spcAft>
              <a:buClr>
                <a:schemeClr val="dk1"/>
              </a:buClr>
              <a:buSzPts val="1800"/>
              <a:buFont typeface="Arial"/>
              <a:buNone/>
            </a:pPr>
            <a:r>
              <a:t/>
            </a:r>
            <a:endParaRPr b="1" i="0" sz="1800">
              <a:solidFill>
                <a:srgbClr val="C00000"/>
              </a:solidFill>
              <a:latin typeface="Times New Roman"/>
              <a:ea typeface="Times New Roman"/>
              <a:cs typeface="Times New Roman"/>
              <a:sym typeface="Times New Roman"/>
            </a:endParaRPr>
          </a:p>
          <a:p>
            <a:pPr indent="-285750" lvl="0" marL="285750" marR="0" rtl="0" algn="just">
              <a:lnSpc>
                <a:spcPct val="150000"/>
              </a:lnSpc>
              <a:spcBef>
                <a:spcPts val="0"/>
              </a:spcBef>
              <a:spcAft>
                <a:spcPts val="0"/>
              </a:spcAft>
              <a:buClr>
                <a:srgbClr val="333333"/>
              </a:buClr>
              <a:buSzPts val="1800"/>
              <a:buFont typeface="Arial"/>
              <a:buChar char="•"/>
            </a:pPr>
            <a:r>
              <a:rPr b="1" i="0" lang="en-US" sz="1800">
                <a:solidFill>
                  <a:srgbClr val="333333"/>
                </a:solidFill>
                <a:latin typeface="Times New Roman"/>
                <a:ea typeface="Times New Roman"/>
                <a:cs typeface="Times New Roman"/>
                <a:sym typeface="Times New Roman"/>
              </a:rPr>
              <a:t>Action Box:</a:t>
            </a:r>
            <a:r>
              <a:rPr b="0" i="0" lang="en-US" sz="1800">
                <a:solidFill>
                  <a:srgbClr val="333333"/>
                </a:solidFill>
                <a:latin typeface="Times New Roman"/>
                <a:ea typeface="Times New Roman"/>
                <a:cs typeface="Times New Roman"/>
                <a:sym typeface="Times New Roman"/>
              </a:rPr>
              <a:t> It represents the set of actions that are to be performed.</a:t>
            </a:r>
            <a:endParaRPr/>
          </a:p>
          <a:p>
            <a:pPr indent="-171450" lvl="0" marL="285750" marR="0" rtl="0" algn="just">
              <a:lnSpc>
                <a:spcPct val="150000"/>
              </a:lnSpc>
              <a:spcBef>
                <a:spcPts val="0"/>
              </a:spcBef>
              <a:spcAft>
                <a:spcPts val="0"/>
              </a:spcAft>
              <a:buClr>
                <a:schemeClr val="dk1"/>
              </a:buClr>
              <a:buSzPts val="1800"/>
              <a:buFont typeface="Arial"/>
              <a:buNone/>
            </a:pPr>
            <a:r>
              <a:t/>
            </a:r>
            <a:endParaRPr b="0" i="0" sz="1800">
              <a:solidFill>
                <a:srgbClr val="333333"/>
              </a:solidFill>
              <a:latin typeface="Times New Roman"/>
              <a:ea typeface="Times New Roman"/>
              <a:cs typeface="Times New Roman"/>
              <a:sym typeface="Times New Roman"/>
            </a:endParaRPr>
          </a:p>
          <a:p>
            <a:pPr indent="-285750" lvl="0" marL="285750" marR="0" rtl="0" algn="just">
              <a:lnSpc>
                <a:spcPct val="150000"/>
              </a:lnSpc>
              <a:spcBef>
                <a:spcPts val="0"/>
              </a:spcBef>
              <a:spcAft>
                <a:spcPts val="0"/>
              </a:spcAft>
              <a:buClr>
                <a:srgbClr val="333333"/>
              </a:buClr>
              <a:buSzPts val="1800"/>
              <a:buFont typeface="Arial"/>
              <a:buChar char="•"/>
            </a:pPr>
            <a:r>
              <a:rPr b="1" i="0" lang="en-US" sz="1800">
                <a:solidFill>
                  <a:srgbClr val="333333"/>
                </a:solidFill>
                <a:latin typeface="Times New Roman"/>
                <a:ea typeface="Times New Roman"/>
                <a:cs typeface="Times New Roman"/>
                <a:sym typeface="Times New Roman"/>
              </a:rPr>
              <a:t>Decision Box:</a:t>
            </a:r>
            <a:r>
              <a:rPr b="0" i="0" lang="en-US" sz="1800">
                <a:solidFill>
                  <a:srgbClr val="333333"/>
                </a:solidFill>
                <a:latin typeface="Times New Roman"/>
                <a:ea typeface="Times New Roman"/>
                <a:cs typeface="Times New Roman"/>
                <a:sym typeface="Times New Roman"/>
              </a:rPr>
              <a:t> It makes sure that the control flow or object flow will follow only one path.</a:t>
            </a:r>
            <a:endParaRPr/>
          </a:p>
          <a:p>
            <a:pPr indent="-171450" lvl="0" marL="285750" marR="0" rtl="0" algn="just">
              <a:lnSpc>
                <a:spcPct val="150000"/>
              </a:lnSpc>
              <a:spcBef>
                <a:spcPts val="0"/>
              </a:spcBef>
              <a:spcAft>
                <a:spcPts val="0"/>
              </a:spcAft>
              <a:buClr>
                <a:schemeClr val="dk1"/>
              </a:buClr>
              <a:buSzPts val="1800"/>
              <a:buFont typeface="Arial"/>
              <a:buNone/>
            </a:pPr>
            <a:r>
              <a:t/>
            </a:r>
            <a:endParaRPr b="0" i="0" sz="1800">
              <a:solidFill>
                <a:srgbClr val="333333"/>
              </a:solidFill>
              <a:latin typeface="Times New Roman"/>
              <a:ea typeface="Times New Roman"/>
              <a:cs typeface="Times New Roman"/>
              <a:sym typeface="Times New Roman"/>
            </a:endParaRPr>
          </a:p>
          <a:p>
            <a:pPr indent="-285750" lvl="0" marL="285750" marR="0" rtl="0" algn="just">
              <a:lnSpc>
                <a:spcPct val="150000"/>
              </a:lnSpc>
              <a:spcBef>
                <a:spcPts val="0"/>
              </a:spcBef>
              <a:spcAft>
                <a:spcPts val="0"/>
              </a:spcAft>
              <a:buClr>
                <a:srgbClr val="333333"/>
              </a:buClr>
              <a:buSzPts val="1800"/>
              <a:buFont typeface="Arial"/>
              <a:buChar char="•"/>
            </a:pPr>
            <a:r>
              <a:rPr b="1" i="0" lang="en-US" sz="1800">
                <a:solidFill>
                  <a:srgbClr val="333333"/>
                </a:solidFill>
                <a:latin typeface="Times New Roman"/>
                <a:ea typeface="Times New Roman"/>
                <a:cs typeface="Times New Roman"/>
                <a:sym typeface="Times New Roman"/>
              </a:rPr>
              <a:t>Final State:</a:t>
            </a:r>
            <a:r>
              <a:rPr b="0" i="0" lang="en-US" sz="1800">
                <a:solidFill>
                  <a:srgbClr val="333333"/>
                </a:solidFill>
                <a:latin typeface="Times New Roman"/>
                <a:ea typeface="Times New Roman"/>
                <a:cs typeface="Times New Roman"/>
                <a:sym typeface="Times New Roman"/>
              </a:rPr>
              <a:t> It is the stage where all the control flows and object flows end.</a:t>
            </a:r>
            <a:endParaRPr/>
          </a:p>
        </p:txBody>
      </p:sp>
      <p:pic>
        <p:nvPicPr>
          <p:cNvPr id="105" name="Google Shape;105;p8"/>
          <p:cNvPicPr preferRelativeResize="0"/>
          <p:nvPr/>
        </p:nvPicPr>
        <p:blipFill rotWithShape="1">
          <a:blip r:embed="rId3">
            <a:alphaModFix/>
          </a:blip>
          <a:srcRect b="0" l="0" r="0" t="0"/>
          <a:stretch/>
        </p:blipFill>
        <p:spPr>
          <a:xfrm>
            <a:off x="5638800" y="1223481"/>
            <a:ext cx="2895600" cy="4729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9"/>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400"/>
              <a:t> Activity Diagram Example – Order Processing System</a:t>
            </a:r>
            <a:endParaRPr b="1" sz="2400">
              <a:latin typeface="Times"/>
              <a:ea typeface="Times"/>
              <a:cs typeface="Times"/>
              <a:sym typeface="Times"/>
            </a:endParaRPr>
          </a:p>
        </p:txBody>
      </p:sp>
      <p:sp>
        <p:nvSpPr>
          <p:cNvPr id="111" name="Google Shape;111;p9"/>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12" name="Google Shape;112;p9"/>
          <p:cNvPicPr preferRelativeResize="0"/>
          <p:nvPr/>
        </p:nvPicPr>
        <p:blipFill rotWithShape="1">
          <a:blip r:embed="rId3">
            <a:alphaModFix/>
          </a:blip>
          <a:srcRect b="0" l="0" r="0" t="0"/>
          <a:stretch/>
        </p:blipFill>
        <p:spPr>
          <a:xfrm>
            <a:off x="175345" y="1066800"/>
            <a:ext cx="8793310" cy="3733800"/>
          </a:xfrm>
          <a:prstGeom prst="rect">
            <a:avLst/>
          </a:prstGeom>
          <a:noFill/>
          <a:ln>
            <a:noFill/>
          </a:ln>
        </p:spPr>
      </p:pic>
      <p:sp>
        <p:nvSpPr>
          <p:cNvPr id="113" name="Google Shape;113;p9"/>
          <p:cNvSpPr txBox="1"/>
          <p:nvPr/>
        </p:nvSpPr>
        <p:spPr>
          <a:xfrm>
            <a:off x="152400" y="5013956"/>
            <a:ext cx="8793310" cy="1289071"/>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rgbClr val="333333"/>
              </a:buClr>
              <a:buSzPts val="1800"/>
              <a:buFont typeface="Arial"/>
              <a:buChar char="•"/>
            </a:pPr>
            <a:r>
              <a:rPr b="0" i="0" lang="en-US" sz="1800">
                <a:solidFill>
                  <a:srgbClr val="333333"/>
                </a:solidFill>
                <a:latin typeface="Times New Roman"/>
                <a:ea typeface="Times New Roman"/>
                <a:cs typeface="Times New Roman"/>
                <a:sym typeface="Times New Roman"/>
              </a:rPr>
              <a:t>Here the input parameter is the Requested order, and once the order is accepted, all of the required information is then filled, payment is also accepted, and then the order is shipped.</a:t>
            </a:r>
            <a:endParaRPr/>
          </a:p>
          <a:p>
            <a:pPr indent="-285750" lvl="0" marL="285750" marR="0" rtl="0" algn="just">
              <a:lnSpc>
                <a:spcPct val="150000"/>
              </a:lnSpc>
              <a:spcBef>
                <a:spcPts val="0"/>
              </a:spcBef>
              <a:spcAft>
                <a:spcPts val="0"/>
              </a:spcAft>
              <a:buClr>
                <a:srgbClr val="333333"/>
              </a:buClr>
              <a:buSzPts val="1800"/>
              <a:buFont typeface="Arial"/>
              <a:buChar char="•"/>
            </a:pPr>
            <a:r>
              <a:rPr b="0" i="0" lang="en-US" sz="1800">
                <a:solidFill>
                  <a:srgbClr val="333333"/>
                </a:solidFill>
                <a:latin typeface="Times New Roman"/>
                <a:ea typeface="Times New Roman"/>
                <a:cs typeface="Times New Roman"/>
                <a:sym typeface="Times New Roman"/>
              </a:rPr>
              <a:t>It permits order shipment before an invoice is sent or payment is completed.</a:t>
            </a:r>
            <a:endParaRPr/>
          </a:p>
        </p:txBody>
      </p:sp>
      <p:sp>
        <p:nvSpPr>
          <p:cNvPr id="114" name="Google Shape;114;p9"/>
          <p:cNvSpPr txBox="1"/>
          <p:nvPr/>
        </p:nvSpPr>
        <p:spPr>
          <a:xfrm>
            <a:off x="2895600" y="4779121"/>
            <a:ext cx="381392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Figure1. Example of Activity Diagram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0"/>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400"/>
              <a:t> Activity Diagram Example – Banking System</a:t>
            </a:r>
            <a:endParaRPr b="1" sz="2400">
              <a:latin typeface="Times"/>
              <a:ea typeface="Times"/>
              <a:cs typeface="Times"/>
              <a:sym typeface="Times"/>
            </a:endParaRPr>
          </a:p>
        </p:txBody>
      </p:sp>
      <p:sp>
        <p:nvSpPr>
          <p:cNvPr id="120" name="Google Shape;120;p10"/>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21" name="Google Shape;121;p10"/>
          <p:cNvSpPr txBox="1"/>
          <p:nvPr>
            <p:ph idx="4294967295" type="ftr"/>
          </p:nvPr>
        </p:nvSpPr>
        <p:spPr>
          <a:xfrm>
            <a:off x="2895600" y="6647294"/>
            <a:ext cx="3352800" cy="17895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Times New Roman"/>
                <a:ea typeface="Times New Roman"/>
                <a:cs typeface="Times New Roman"/>
                <a:sym typeface="Times New Roman"/>
              </a:rPr>
              <a:t>Figure 2. Banking System activity diagram</a:t>
            </a:r>
            <a:endParaRPr/>
          </a:p>
        </p:txBody>
      </p:sp>
      <p:pic>
        <p:nvPicPr>
          <p:cNvPr id="122" name="Google Shape;122;p10"/>
          <p:cNvPicPr preferRelativeResize="0"/>
          <p:nvPr/>
        </p:nvPicPr>
        <p:blipFill rotWithShape="1">
          <a:blip r:embed="rId3">
            <a:alphaModFix/>
          </a:blip>
          <a:srcRect b="0" l="0" r="0" t="0"/>
          <a:stretch/>
        </p:blipFill>
        <p:spPr>
          <a:xfrm>
            <a:off x="2527093" y="837906"/>
            <a:ext cx="4026107" cy="571529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1"/>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400"/>
              <a:t> Activity Diagram Example – College Management System</a:t>
            </a:r>
            <a:endParaRPr b="1" sz="2400">
              <a:latin typeface="Times"/>
              <a:ea typeface="Times"/>
              <a:cs typeface="Times"/>
              <a:sym typeface="Times"/>
            </a:endParaRPr>
          </a:p>
        </p:txBody>
      </p:sp>
      <p:sp>
        <p:nvSpPr>
          <p:cNvPr id="128" name="Google Shape;128;p11"/>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29" name="Google Shape;129;p11"/>
          <p:cNvPicPr preferRelativeResize="0"/>
          <p:nvPr/>
        </p:nvPicPr>
        <p:blipFill rotWithShape="1">
          <a:blip r:embed="rId3">
            <a:alphaModFix/>
          </a:blip>
          <a:srcRect b="0" l="0" r="0" t="0"/>
          <a:stretch/>
        </p:blipFill>
        <p:spPr>
          <a:xfrm>
            <a:off x="2574701" y="1050131"/>
            <a:ext cx="3962400" cy="5168900"/>
          </a:xfrm>
          <a:prstGeom prst="rect">
            <a:avLst/>
          </a:prstGeom>
          <a:noFill/>
          <a:ln>
            <a:noFill/>
          </a:ln>
        </p:spPr>
      </p:pic>
      <p:sp>
        <p:nvSpPr>
          <p:cNvPr id="130" name="Google Shape;130;p11"/>
          <p:cNvSpPr txBox="1"/>
          <p:nvPr/>
        </p:nvSpPr>
        <p:spPr>
          <a:xfrm>
            <a:off x="1600200" y="6219031"/>
            <a:ext cx="71098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Figure 3. College management system activity diagram</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2"/>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400"/>
              <a:t> Activity Diagram Example – College Management System</a:t>
            </a:r>
            <a:endParaRPr b="1" sz="2400">
              <a:latin typeface="Times"/>
              <a:ea typeface="Times"/>
              <a:cs typeface="Times"/>
              <a:sym typeface="Times"/>
            </a:endParaRPr>
          </a:p>
        </p:txBody>
      </p:sp>
      <p:sp>
        <p:nvSpPr>
          <p:cNvPr id="136" name="Google Shape;136;p12"/>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37" name="Google Shape;137;p12"/>
          <p:cNvPicPr preferRelativeResize="0"/>
          <p:nvPr/>
        </p:nvPicPr>
        <p:blipFill rotWithShape="1">
          <a:blip r:embed="rId3">
            <a:alphaModFix/>
          </a:blip>
          <a:srcRect b="0" l="0" r="0" t="0"/>
          <a:stretch/>
        </p:blipFill>
        <p:spPr>
          <a:xfrm>
            <a:off x="1828659" y="985269"/>
            <a:ext cx="5486682" cy="5245370"/>
          </a:xfrm>
          <a:prstGeom prst="rect">
            <a:avLst/>
          </a:prstGeom>
          <a:noFill/>
          <a:ln>
            <a:noFill/>
          </a:ln>
        </p:spPr>
      </p:pic>
      <p:sp>
        <p:nvSpPr>
          <p:cNvPr id="138" name="Google Shape;138;p12"/>
          <p:cNvSpPr txBox="1"/>
          <p:nvPr/>
        </p:nvSpPr>
        <p:spPr>
          <a:xfrm>
            <a:off x="2057400" y="6230639"/>
            <a:ext cx="735130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Figure 4. College Management system Activity diagram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3"/>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400"/>
              <a:t> Activity Diagram Example – Library Management System</a:t>
            </a:r>
            <a:endParaRPr b="1" sz="2400">
              <a:latin typeface="Times"/>
              <a:ea typeface="Times"/>
              <a:cs typeface="Times"/>
              <a:sym typeface="Times"/>
            </a:endParaRPr>
          </a:p>
        </p:txBody>
      </p:sp>
      <p:sp>
        <p:nvSpPr>
          <p:cNvPr id="144" name="Google Shape;144;p13"/>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45" name="Google Shape;145;p13"/>
          <p:cNvSpPr txBox="1"/>
          <p:nvPr/>
        </p:nvSpPr>
        <p:spPr>
          <a:xfrm>
            <a:off x="2133600" y="6172200"/>
            <a:ext cx="63969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Figure 5. Activity diagram of Library Management System</a:t>
            </a:r>
            <a:endParaRPr sz="1800">
              <a:solidFill>
                <a:schemeClr val="dk1"/>
              </a:solidFill>
              <a:latin typeface="Times New Roman"/>
              <a:ea typeface="Times New Roman"/>
              <a:cs typeface="Times New Roman"/>
              <a:sym typeface="Times New Roman"/>
            </a:endParaRPr>
          </a:p>
        </p:txBody>
      </p:sp>
      <p:pic>
        <p:nvPicPr>
          <p:cNvPr descr="Activity Diagram for Library Management System." id="146" name="Google Shape;146;p13"/>
          <p:cNvPicPr preferRelativeResize="0"/>
          <p:nvPr/>
        </p:nvPicPr>
        <p:blipFill rotWithShape="1">
          <a:blip r:embed="rId3">
            <a:alphaModFix/>
          </a:blip>
          <a:srcRect b="0" l="0" r="0" t="0"/>
          <a:stretch/>
        </p:blipFill>
        <p:spPr>
          <a:xfrm>
            <a:off x="914400" y="1043540"/>
            <a:ext cx="7391399" cy="48238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4"/>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400"/>
              <a:t> Activity Diagram Example – Hospital Management System</a:t>
            </a:r>
            <a:endParaRPr b="1" sz="2400">
              <a:latin typeface="Times"/>
              <a:ea typeface="Times"/>
              <a:cs typeface="Times"/>
              <a:sym typeface="Times"/>
            </a:endParaRPr>
          </a:p>
        </p:txBody>
      </p:sp>
      <p:sp>
        <p:nvSpPr>
          <p:cNvPr id="153" name="Google Shape;153;p14"/>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54" name="Google Shape;154;p14"/>
          <p:cNvSpPr txBox="1"/>
          <p:nvPr>
            <p:ph idx="4294967295" type="ftr"/>
          </p:nvPr>
        </p:nvSpPr>
        <p:spPr>
          <a:xfrm>
            <a:off x="2353363" y="5983144"/>
            <a:ext cx="4343400" cy="179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Times New Roman"/>
                <a:ea typeface="Times New Roman"/>
                <a:cs typeface="Times New Roman"/>
                <a:sym typeface="Times New Roman"/>
              </a:rPr>
              <a:t>Figure 6. Hospital Management System Activity Diagram</a:t>
            </a:r>
            <a:endParaRPr/>
          </a:p>
        </p:txBody>
      </p:sp>
      <p:pic>
        <p:nvPicPr>
          <p:cNvPr id="155" name="Google Shape;155;p14"/>
          <p:cNvPicPr preferRelativeResize="0"/>
          <p:nvPr/>
        </p:nvPicPr>
        <p:blipFill rotWithShape="1">
          <a:blip r:embed="rId3">
            <a:alphaModFix/>
          </a:blip>
          <a:srcRect b="1407" l="0" r="0" t="0"/>
          <a:stretch/>
        </p:blipFill>
        <p:spPr>
          <a:xfrm>
            <a:off x="2133600" y="990600"/>
            <a:ext cx="4782925" cy="4731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5"/>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t>Benefits of Activity Diagrams</a:t>
            </a:r>
            <a:endParaRPr b="1">
              <a:latin typeface="Times"/>
              <a:ea typeface="Times"/>
              <a:cs typeface="Times"/>
              <a:sym typeface="Times"/>
            </a:endParaRPr>
          </a:p>
        </p:txBody>
      </p:sp>
      <p:sp>
        <p:nvSpPr>
          <p:cNvPr id="161" name="Google Shape;161;p15"/>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62" name="Google Shape;162;p15"/>
          <p:cNvSpPr/>
          <p:nvPr/>
        </p:nvSpPr>
        <p:spPr>
          <a:xfrm>
            <a:off x="681000" y="1283150"/>
            <a:ext cx="7666500" cy="46536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n-US" sz="2000">
                <a:solidFill>
                  <a:srgbClr val="282C33"/>
                </a:solidFill>
                <a:latin typeface="Times New Roman"/>
                <a:ea typeface="Times New Roman"/>
                <a:cs typeface="Times New Roman"/>
                <a:sym typeface="Times New Roman"/>
              </a:rPr>
              <a:t>Activity diagrams present a number of benefits to users. Consider creating an activity diagram to:</a:t>
            </a:r>
            <a:endParaRPr/>
          </a:p>
          <a:p>
            <a:pPr indent="-342900" lvl="1" marL="800100" marR="0" rtl="0" algn="just">
              <a:lnSpc>
                <a:spcPct val="150000"/>
              </a:lnSpc>
              <a:spcBef>
                <a:spcPts val="0"/>
              </a:spcBef>
              <a:spcAft>
                <a:spcPts val="0"/>
              </a:spcAft>
              <a:buClr>
                <a:srgbClr val="282C33"/>
              </a:buClr>
              <a:buSzPts val="2000"/>
              <a:buFont typeface="Arial"/>
              <a:buChar char="•"/>
            </a:pPr>
            <a:r>
              <a:rPr b="0" i="0" lang="en-US" sz="2000" u="none" cap="none" strike="noStrike">
                <a:solidFill>
                  <a:srgbClr val="282C33"/>
                </a:solidFill>
                <a:latin typeface="Times New Roman"/>
                <a:ea typeface="Times New Roman"/>
                <a:cs typeface="Times New Roman"/>
                <a:sym typeface="Times New Roman"/>
              </a:rPr>
              <a:t>Demonstrate the logic of an algorithm.</a:t>
            </a:r>
            <a:endParaRPr/>
          </a:p>
          <a:p>
            <a:pPr indent="-342900" lvl="1" marL="800100" marR="0" rtl="0" algn="just">
              <a:lnSpc>
                <a:spcPct val="150000"/>
              </a:lnSpc>
              <a:spcBef>
                <a:spcPts val="0"/>
              </a:spcBef>
              <a:spcAft>
                <a:spcPts val="0"/>
              </a:spcAft>
              <a:buClr>
                <a:srgbClr val="282C33"/>
              </a:buClr>
              <a:buSzPts val="2000"/>
              <a:buFont typeface="Arial"/>
              <a:buChar char="•"/>
            </a:pPr>
            <a:r>
              <a:rPr b="0" i="0" lang="en-US" sz="2000" u="none" cap="none" strike="noStrike">
                <a:solidFill>
                  <a:srgbClr val="282C33"/>
                </a:solidFill>
                <a:latin typeface="Times New Roman"/>
                <a:ea typeface="Times New Roman"/>
                <a:cs typeface="Times New Roman"/>
                <a:sym typeface="Times New Roman"/>
              </a:rPr>
              <a:t>Describe the steps performed in a UML use case.</a:t>
            </a:r>
            <a:endParaRPr/>
          </a:p>
          <a:p>
            <a:pPr indent="-342900" lvl="1" marL="800100" marR="0" rtl="0" algn="just">
              <a:lnSpc>
                <a:spcPct val="150000"/>
              </a:lnSpc>
              <a:spcBef>
                <a:spcPts val="0"/>
              </a:spcBef>
              <a:spcAft>
                <a:spcPts val="0"/>
              </a:spcAft>
              <a:buClr>
                <a:srgbClr val="282C33"/>
              </a:buClr>
              <a:buSzPts val="2000"/>
              <a:buFont typeface="Arial"/>
              <a:buChar char="•"/>
            </a:pPr>
            <a:r>
              <a:rPr b="0" i="0" lang="en-US" sz="2000" u="none" cap="none" strike="noStrike">
                <a:solidFill>
                  <a:srgbClr val="282C33"/>
                </a:solidFill>
                <a:latin typeface="Times New Roman"/>
                <a:ea typeface="Times New Roman"/>
                <a:cs typeface="Times New Roman"/>
                <a:sym typeface="Times New Roman"/>
              </a:rPr>
              <a:t>Illustrate a business process or workflow between users and the system.</a:t>
            </a:r>
            <a:endParaRPr/>
          </a:p>
          <a:p>
            <a:pPr indent="-342900" lvl="1" marL="800100" marR="0" rtl="0" algn="just">
              <a:lnSpc>
                <a:spcPct val="150000"/>
              </a:lnSpc>
              <a:spcBef>
                <a:spcPts val="0"/>
              </a:spcBef>
              <a:spcAft>
                <a:spcPts val="0"/>
              </a:spcAft>
              <a:buClr>
                <a:srgbClr val="282C33"/>
              </a:buClr>
              <a:buSzPts val="2000"/>
              <a:buFont typeface="Arial"/>
              <a:buChar char="•"/>
            </a:pPr>
            <a:r>
              <a:rPr b="0" i="0" lang="en-US" sz="2000" u="none" cap="none" strike="noStrike">
                <a:solidFill>
                  <a:srgbClr val="282C33"/>
                </a:solidFill>
                <a:latin typeface="Times New Roman"/>
                <a:ea typeface="Times New Roman"/>
                <a:cs typeface="Times New Roman"/>
                <a:sym typeface="Times New Roman"/>
              </a:rPr>
              <a:t>Simplify and improve any process by clarifying complicated use cases.</a:t>
            </a:r>
            <a:endParaRPr/>
          </a:p>
          <a:p>
            <a:pPr indent="-342900" lvl="1" marL="800100" marR="0" rtl="0" algn="just">
              <a:lnSpc>
                <a:spcPct val="150000"/>
              </a:lnSpc>
              <a:spcBef>
                <a:spcPts val="0"/>
              </a:spcBef>
              <a:spcAft>
                <a:spcPts val="0"/>
              </a:spcAft>
              <a:buClr>
                <a:srgbClr val="282C33"/>
              </a:buClr>
              <a:buSzPts val="2000"/>
              <a:buFont typeface="Arial"/>
              <a:buChar char="•"/>
            </a:pPr>
            <a:r>
              <a:rPr b="0" i="0" lang="en-US" sz="2000" u="none" cap="none" strike="noStrike">
                <a:solidFill>
                  <a:srgbClr val="282C33"/>
                </a:solidFill>
                <a:latin typeface="Times New Roman"/>
                <a:ea typeface="Times New Roman"/>
                <a:cs typeface="Times New Roman"/>
                <a:sym typeface="Times New Roman"/>
              </a:rPr>
              <a:t>Model software architecture elements, such as method, function, and operation.</a:t>
            </a:r>
            <a:endParaRPr/>
          </a:p>
          <a:p>
            <a:pPr indent="0" lvl="0" marL="0" marR="0" rtl="0" algn="just">
              <a:lnSpc>
                <a:spcPct val="150000"/>
              </a:lnSpc>
              <a:spcBef>
                <a:spcPts val="0"/>
              </a:spcBef>
              <a:spcAft>
                <a:spcPts val="0"/>
              </a:spcAft>
              <a:buNone/>
            </a:pPr>
            <a:br>
              <a:rPr lang="en-US" sz="2000">
                <a:solidFill>
                  <a:schemeClr val="dk1"/>
                </a:solidFill>
                <a:latin typeface="Times New Roman"/>
                <a:ea typeface="Times New Roman"/>
                <a:cs typeface="Times New Roman"/>
                <a:sym typeface="Times New Roman"/>
              </a:rPr>
            </a:b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6"/>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t>When to use Activity Diagram</a:t>
            </a:r>
            <a:endParaRPr b="1">
              <a:latin typeface="Times"/>
              <a:ea typeface="Times"/>
              <a:cs typeface="Times"/>
              <a:sym typeface="Times"/>
            </a:endParaRPr>
          </a:p>
        </p:txBody>
      </p:sp>
      <p:sp>
        <p:nvSpPr>
          <p:cNvPr id="168" name="Google Shape;168;p16"/>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69" name="Google Shape;169;p16"/>
          <p:cNvSpPr/>
          <p:nvPr/>
        </p:nvSpPr>
        <p:spPr>
          <a:xfrm>
            <a:off x="152400" y="1122471"/>
            <a:ext cx="8686800" cy="4613058"/>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rgbClr val="333333"/>
              </a:buClr>
              <a:buSzPts val="1800"/>
              <a:buFont typeface="Arial"/>
              <a:buChar char="•"/>
            </a:pPr>
            <a:r>
              <a:rPr b="0" i="0" lang="en-US" sz="1800">
                <a:solidFill>
                  <a:srgbClr val="333333"/>
                </a:solidFill>
                <a:latin typeface="Times New Roman"/>
                <a:ea typeface="Times New Roman"/>
                <a:cs typeface="Times New Roman"/>
                <a:sym typeface="Times New Roman"/>
              </a:rPr>
              <a:t>An activity diagram can be used to portray business processes and workflows. </a:t>
            </a:r>
            <a:endParaRPr/>
          </a:p>
          <a:p>
            <a:pPr indent="-285750" lvl="0" marL="285750" marR="0" rtl="0" algn="just">
              <a:lnSpc>
                <a:spcPct val="150000"/>
              </a:lnSpc>
              <a:spcBef>
                <a:spcPts val="0"/>
              </a:spcBef>
              <a:spcAft>
                <a:spcPts val="0"/>
              </a:spcAft>
              <a:buClr>
                <a:srgbClr val="333333"/>
              </a:buClr>
              <a:buSzPts val="1800"/>
              <a:buFont typeface="Arial"/>
              <a:buChar char="•"/>
            </a:pPr>
            <a:r>
              <a:rPr b="0" i="0" lang="en-US" sz="1800">
                <a:solidFill>
                  <a:srgbClr val="333333"/>
                </a:solidFill>
                <a:latin typeface="Times New Roman"/>
                <a:ea typeface="Times New Roman"/>
                <a:cs typeface="Times New Roman"/>
                <a:sym typeface="Times New Roman"/>
              </a:rPr>
              <a:t>Also, it used for modeling business as well as the software. </a:t>
            </a:r>
            <a:endParaRPr/>
          </a:p>
          <a:p>
            <a:pPr indent="-285750" lvl="0" marL="285750" marR="0" rtl="0" algn="just">
              <a:lnSpc>
                <a:spcPct val="150000"/>
              </a:lnSpc>
              <a:spcBef>
                <a:spcPts val="0"/>
              </a:spcBef>
              <a:spcAft>
                <a:spcPts val="0"/>
              </a:spcAft>
              <a:buClr>
                <a:srgbClr val="333333"/>
              </a:buClr>
              <a:buSzPts val="1800"/>
              <a:buFont typeface="Arial"/>
              <a:buChar char="•"/>
            </a:pPr>
            <a:r>
              <a:rPr b="0" i="0" lang="en-US" sz="1800">
                <a:solidFill>
                  <a:srgbClr val="333333"/>
                </a:solidFill>
                <a:latin typeface="Times New Roman"/>
                <a:ea typeface="Times New Roman"/>
                <a:cs typeface="Times New Roman"/>
                <a:sym typeface="Times New Roman"/>
              </a:rPr>
              <a:t>An activity diagram is utilized for the followings:</a:t>
            </a:r>
            <a:endParaRPr/>
          </a:p>
          <a:p>
            <a:pPr indent="-285750" lvl="1" marL="742950" marR="0" rtl="0" algn="just">
              <a:lnSpc>
                <a:spcPct val="15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Times New Roman"/>
                <a:ea typeface="Times New Roman"/>
                <a:cs typeface="Times New Roman"/>
                <a:sym typeface="Times New Roman"/>
              </a:rPr>
              <a:t>To graphically model the workflow in an easier and understandable way.</a:t>
            </a:r>
            <a:endParaRPr/>
          </a:p>
          <a:p>
            <a:pPr indent="-285750" lvl="1" marL="742950" marR="0" rtl="0" algn="just">
              <a:lnSpc>
                <a:spcPct val="15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Times New Roman"/>
                <a:ea typeface="Times New Roman"/>
                <a:cs typeface="Times New Roman"/>
                <a:sym typeface="Times New Roman"/>
              </a:rPr>
              <a:t>To model the execution flow among several activities.</a:t>
            </a:r>
            <a:endParaRPr/>
          </a:p>
          <a:p>
            <a:pPr indent="-285750" lvl="1" marL="742950" marR="0" rtl="0" algn="just">
              <a:lnSpc>
                <a:spcPct val="15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Times New Roman"/>
                <a:ea typeface="Times New Roman"/>
                <a:cs typeface="Times New Roman"/>
                <a:sym typeface="Times New Roman"/>
              </a:rPr>
              <a:t>To model comprehensive information of a function or an algorithm employed within the system.</a:t>
            </a:r>
            <a:endParaRPr/>
          </a:p>
          <a:p>
            <a:pPr indent="-285750" lvl="1" marL="742950" marR="0" rtl="0" algn="just">
              <a:lnSpc>
                <a:spcPct val="15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Times New Roman"/>
                <a:ea typeface="Times New Roman"/>
                <a:cs typeface="Times New Roman"/>
                <a:sym typeface="Times New Roman"/>
              </a:rPr>
              <a:t>To model the business process and its workflow.</a:t>
            </a:r>
            <a:endParaRPr/>
          </a:p>
          <a:p>
            <a:pPr indent="-285750" lvl="1" marL="742950" marR="0" rtl="0" algn="just">
              <a:lnSpc>
                <a:spcPct val="15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Times New Roman"/>
                <a:ea typeface="Times New Roman"/>
                <a:cs typeface="Times New Roman"/>
                <a:sym typeface="Times New Roman"/>
              </a:rPr>
              <a:t>To envision the dynamic aspect of a system.</a:t>
            </a:r>
            <a:endParaRPr/>
          </a:p>
          <a:p>
            <a:pPr indent="-285750" lvl="1" marL="742950" marR="0" rtl="0" algn="just">
              <a:lnSpc>
                <a:spcPct val="15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Times New Roman"/>
                <a:ea typeface="Times New Roman"/>
                <a:cs typeface="Times New Roman"/>
                <a:sym typeface="Times New Roman"/>
              </a:rPr>
              <a:t>To generate the top-level flowcharts for representing the workflow of an application.</a:t>
            </a:r>
            <a:endParaRPr/>
          </a:p>
          <a:p>
            <a:pPr indent="-285750" lvl="1" marL="742950" marR="0" rtl="0" algn="just">
              <a:lnSpc>
                <a:spcPct val="15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Times New Roman"/>
                <a:ea typeface="Times New Roman"/>
                <a:cs typeface="Times New Roman"/>
                <a:sym typeface="Times New Roman"/>
              </a:rPr>
              <a:t>To represent a high-level view of a distributed or an object-oriented system.</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7"/>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latin typeface="Times"/>
                <a:ea typeface="Times"/>
                <a:cs typeface="Times"/>
                <a:sym typeface="Times"/>
              </a:rPr>
              <a:t>Bug Removal</a:t>
            </a:r>
            <a:endParaRPr/>
          </a:p>
        </p:txBody>
      </p:sp>
      <p:sp>
        <p:nvSpPr>
          <p:cNvPr id="175" name="Google Shape;175;p17"/>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76" name="Google Shape;176;p17"/>
          <p:cNvSpPr/>
          <p:nvPr/>
        </p:nvSpPr>
        <p:spPr>
          <a:xfrm>
            <a:off x="152400" y="1122471"/>
            <a:ext cx="8686800" cy="5444054"/>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rgbClr val="273239"/>
              </a:buClr>
              <a:buSzPts val="2400"/>
              <a:buFont typeface="Arial"/>
              <a:buChar char="•"/>
            </a:pPr>
            <a:r>
              <a:rPr b="0" i="0" lang="en-US" sz="2400">
                <a:solidFill>
                  <a:srgbClr val="273239"/>
                </a:solidFill>
                <a:latin typeface="Times New Roman"/>
                <a:ea typeface="Times New Roman"/>
                <a:cs typeface="Times New Roman"/>
                <a:sym typeface="Times New Roman"/>
              </a:rPr>
              <a:t>Software testing is the process of verifying that a software product or application is doing what it is supposed to do. The benefits of testing include preventing distractions, reducing development costs, and improving performance.</a:t>
            </a:r>
            <a:endParaRPr/>
          </a:p>
          <a:p>
            <a:pPr indent="-285750" lvl="0" marL="285750" marR="0" rtl="0" algn="just">
              <a:lnSpc>
                <a:spcPct val="150000"/>
              </a:lnSpc>
              <a:spcBef>
                <a:spcPts val="0"/>
              </a:spcBef>
              <a:spcAft>
                <a:spcPts val="0"/>
              </a:spcAft>
              <a:buClr>
                <a:srgbClr val="273239"/>
              </a:buClr>
              <a:buSzPts val="2400"/>
              <a:buFont typeface="Arial"/>
              <a:buChar char="•"/>
            </a:pPr>
            <a:r>
              <a:rPr b="0" i="0" lang="en-US" sz="2400">
                <a:solidFill>
                  <a:srgbClr val="273239"/>
                </a:solidFill>
                <a:latin typeface="Times New Roman"/>
                <a:ea typeface="Times New Roman"/>
                <a:cs typeface="Times New Roman"/>
                <a:sym typeface="Times New Roman"/>
              </a:rPr>
              <a:t>A malfunction in the software/system is an error that may cause components or the system to fail to perform its required functions. In other words, an error encountered during the test can cause malfunction. For example, incorrect data description, statements, input data, design, etc.</a:t>
            </a:r>
            <a:endParaRPr/>
          </a:p>
          <a:p>
            <a:pPr indent="-171450" lvl="0" marL="285750" marR="0" rtl="0" algn="just">
              <a:lnSpc>
                <a:spcPct val="150000"/>
              </a:lnSpc>
              <a:spcBef>
                <a:spcPts val="0"/>
              </a:spcBef>
              <a:spcAft>
                <a:spcPts val="0"/>
              </a:spcAft>
              <a:buClr>
                <a:schemeClr val="dk1"/>
              </a:buClr>
              <a:buSzPts val="1800"/>
              <a:buFont typeface="Arial"/>
              <a:buNone/>
            </a:pPr>
            <a:r>
              <a:t/>
            </a:r>
            <a:endParaRPr b="1" i="0" sz="1800">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8"/>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latin typeface="Times"/>
                <a:ea typeface="Times"/>
                <a:cs typeface="Times"/>
                <a:sym typeface="Times"/>
              </a:rPr>
              <a:t>Bug Removal</a:t>
            </a:r>
            <a:endParaRPr/>
          </a:p>
        </p:txBody>
      </p:sp>
      <p:sp>
        <p:nvSpPr>
          <p:cNvPr id="182" name="Google Shape;182;p18"/>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83" name="Google Shape;183;p18"/>
          <p:cNvSpPr/>
          <p:nvPr/>
        </p:nvSpPr>
        <p:spPr>
          <a:xfrm>
            <a:off x="152400" y="1122471"/>
            <a:ext cx="8686800" cy="586981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800"/>
              <a:buFont typeface="Times New Roman"/>
              <a:buNone/>
            </a:pPr>
            <a:r>
              <a:rPr b="0" i="0" lang="en-US" sz="1800">
                <a:solidFill>
                  <a:schemeClr val="dk1"/>
                </a:solidFill>
                <a:latin typeface="Times New Roman"/>
                <a:ea typeface="Times New Roman"/>
                <a:cs typeface="Times New Roman"/>
                <a:sym typeface="Times New Roman"/>
              </a:rPr>
              <a:t>There are many different types of software testing, each with specific goals and strategies. Some of them are below:</a:t>
            </a:r>
            <a:endParaRPr/>
          </a:p>
          <a:p>
            <a:pPr indent="-114300" lvl="0" marL="0" marR="0" rtl="0" algn="l">
              <a:lnSpc>
                <a:spcPct val="150000"/>
              </a:lnSpc>
              <a:spcBef>
                <a:spcPts val="750"/>
              </a:spcBef>
              <a:spcAft>
                <a:spcPts val="0"/>
              </a:spcAft>
              <a:buClr>
                <a:schemeClr val="dk1"/>
              </a:buClr>
              <a:buSzPts val="1800"/>
              <a:buFont typeface="Calibri"/>
              <a:buAutoNum type="arabicPeriod"/>
            </a:pPr>
            <a:r>
              <a:rPr b="1" i="0" lang="en-US" sz="1800" u="sng">
                <a:solidFill>
                  <a:schemeClr val="dk1"/>
                </a:solidFill>
                <a:latin typeface="Times New Roman"/>
                <a:ea typeface="Times New Roman"/>
                <a:cs typeface="Times New Roman"/>
                <a:sym typeface="Times New Roman"/>
                <a:hlinkClick r:id="rId3">
                  <a:extLst>
                    <a:ext uri="{A12FA001-AC4F-418D-AE19-62706E023703}">
                      <ahyp:hlinkClr val="tx"/>
                    </a:ext>
                  </a:extLst>
                </a:hlinkClick>
              </a:rPr>
              <a:t>Acceptance Testing</a:t>
            </a:r>
            <a:r>
              <a:rPr b="1" i="0" lang="en-US" sz="1800">
                <a:solidFill>
                  <a:schemeClr val="dk1"/>
                </a:solidFill>
                <a:latin typeface="Times New Roman"/>
                <a:ea typeface="Times New Roman"/>
                <a:cs typeface="Times New Roman"/>
                <a:sym typeface="Times New Roman"/>
              </a:rPr>
              <a:t>: </a:t>
            </a:r>
            <a:r>
              <a:rPr b="0" i="0" lang="en-US" sz="1800">
                <a:solidFill>
                  <a:schemeClr val="dk1"/>
                </a:solidFill>
                <a:latin typeface="Times New Roman"/>
                <a:ea typeface="Times New Roman"/>
                <a:cs typeface="Times New Roman"/>
                <a:sym typeface="Times New Roman"/>
              </a:rPr>
              <a:t>Ensuring that the whole system works as intended.</a:t>
            </a:r>
            <a:endParaRPr/>
          </a:p>
          <a:p>
            <a:pPr indent="-114300" lvl="0" marL="0" marR="0" rtl="0" algn="l">
              <a:lnSpc>
                <a:spcPct val="150000"/>
              </a:lnSpc>
              <a:spcBef>
                <a:spcPts val="1800"/>
              </a:spcBef>
              <a:spcAft>
                <a:spcPts val="0"/>
              </a:spcAft>
              <a:buClr>
                <a:schemeClr val="dk1"/>
              </a:buClr>
              <a:buSzPts val="1800"/>
              <a:buFont typeface="Calibri"/>
              <a:buAutoNum type="arabicPeriod"/>
            </a:pPr>
            <a:r>
              <a:rPr b="1" i="0" lang="en-US" sz="1800" u="sng">
                <a:solidFill>
                  <a:schemeClr val="dk1"/>
                </a:solidFill>
                <a:latin typeface="Times New Roman"/>
                <a:ea typeface="Times New Roman"/>
                <a:cs typeface="Times New Roman"/>
                <a:sym typeface="Times New Roman"/>
                <a:hlinkClick r:id="rId4">
                  <a:extLst>
                    <a:ext uri="{A12FA001-AC4F-418D-AE19-62706E023703}">
                      <ahyp:hlinkClr val="tx"/>
                    </a:ext>
                  </a:extLst>
                </a:hlinkClick>
              </a:rPr>
              <a:t>Integration Testing</a:t>
            </a:r>
            <a:r>
              <a:rPr b="1" i="0" lang="en-US" sz="1800">
                <a:solidFill>
                  <a:schemeClr val="dk1"/>
                </a:solidFill>
                <a:latin typeface="Times New Roman"/>
                <a:ea typeface="Times New Roman"/>
                <a:cs typeface="Times New Roman"/>
                <a:sym typeface="Times New Roman"/>
              </a:rPr>
              <a:t>:</a:t>
            </a:r>
            <a:r>
              <a:rPr b="0" i="0" lang="en-US" sz="1800">
                <a:solidFill>
                  <a:schemeClr val="dk1"/>
                </a:solidFill>
                <a:latin typeface="Times New Roman"/>
                <a:ea typeface="Times New Roman"/>
                <a:cs typeface="Times New Roman"/>
                <a:sym typeface="Times New Roman"/>
              </a:rPr>
              <a:t> Ensuring that software components or functions work together.</a:t>
            </a:r>
            <a:endParaRPr/>
          </a:p>
          <a:p>
            <a:pPr indent="-114300" lvl="0" marL="0" marR="0" rtl="0" algn="l">
              <a:lnSpc>
                <a:spcPct val="150000"/>
              </a:lnSpc>
              <a:spcBef>
                <a:spcPts val="1800"/>
              </a:spcBef>
              <a:spcAft>
                <a:spcPts val="0"/>
              </a:spcAft>
              <a:buClr>
                <a:schemeClr val="dk1"/>
              </a:buClr>
              <a:buSzPts val="1800"/>
              <a:buFont typeface="Calibri"/>
              <a:buAutoNum type="arabicPeriod"/>
            </a:pPr>
            <a:r>
              <a:rPr b="1" i="0" lang="en-US" sz="1800" u="sng">
                <a:solidFill>
                  <a:schemeClr val="dk1"/>
                </a:solidFill>
                <a:latin typeface="Times New Roman"/>
                <a:ea typeface="Times New Roman"/>
                <a:cs typeface="Times New Roman"/>
                <a:sym typeface="Times New Roman"/>
                <a:hlinkClick r:id="rId5">
                  <a:extLst>
                    <a:ext uri="{A12FA001-AC4F-418D-AE19-62706E023703}">
                      <ahyp:hlinkClr val="tx"/>
                    </a:ext>
                  </a:extLst>
                </a:hlinkClick>
              </a:rPr>
              <a:t>Unit Testing</a:t>
            </a:r>
            <a:r>
              <a:rPr b="1" i="0" lang="en-US" sz="1800">
                <a:solidFill>
                  <a:schemeClr val="dk1"/>
                </a:solidFill>
                <a:latin typeface="Times New Roman"/>
                <a:ea typeface="Times New Roman"/>
                <a:cs typeface="Times New Roman"/>
                <a:sym typeface="Times New Roman"/>
              </a:rPr>
              <a:t>:</a:t>
            </a:r>
            <a:r>
              <a:rPr b="0" i="0" lang="en-US" sz="1800">
                <a:solidFill>
                  <a:schemeClr val="dk1"/>
                </a:solidFill>
                <a:latin typeface="Times New Roman"/>
                <a:ea typeface="Times New Roman"/>
                <a:cs typeface="Times New Roman"/>
                <a:sym typeface="Times New Roman"/>
              </a:rPr>
              <a:t> To ensure that each software unit operates as expected. The unit is a testable component of the application.</a:t>
            </a:r>
            <a:endParaRPr/>
          </a:p>
          <a:p>
            <a:pPr indent="-114300" lvl="0" marL="0" marR="0" rtl="0" algn="l">
              <a:lnSpc>
                <a:spcPct val="150000"/>
              </a:lnSpc>
              <a:spcBef>
                <a:spcPts val="1800"/>
              </a:spcBef>
              <a:spcAft>
                <a:spcPts val="0"/>
              </a:spcAft>
              <a:buClr>
                <a:schemeClr val="dk1"/>
              </a:buClr>
              <a:buSzPts val="1800"/>
              <a:buFont typeface="Calibri"/>
              <a:buAutoNum type="arabicPeriod"/>
            </a:pPr>
            <a:r>
              <a:rPr b="1" i="0" lang="en-US" sz="1800" u="sng">
                <a:solidFill>
                  <a:schemeClr val="dk1"/>
                </a:solidFill>
                <a:latin typeface="Times New Roman"/>
                <a:ea typeface="Times New Roman"/>
                <a:cs typeface="Times New Roman"/>
                <a:sym typeface="Times New Roman"/>
                <a:hlinkClick r:id="rId6">
                  <a:extLst>
                    <a:ext uri="{A12FA001-AC4F-418D-AE19-62706E023703}">
                      <ahyp:hlinkClr val="tx"/>
                    </a:ext>
                  </a:extLst>
                </a:hlinkClick>
              </a:rPr>
              <a:t>Functional Testing</a:t>
            </a:r>
            <a:r>
              <a:rPr b="1" i="0" lang="en-US" sz="1800">
                <a:solidFill>
                  <a:schemeClr val="dk1"/>
                </a:solidFill>
                <a:latin typeface="Times New Roman"/>
                <a:ea typeface="Times New Roman"/>
                <a:cs typeface="Times New Roman"/>
                <a:sym typeface="Times New Roman"/>
              </a:rPr>
              <a:t>:</a:t>
            </a:r>
            <a:r>
              <a:rPr b="0" i="0" lang="en-US" sz="1800">
                <a:solidFill>
                  <a:schemeClr val="dk1"/>
                </a:solidFill>
                <a:latin typeface="Times New Roman"/>
                <a:ea typeface="Times New Roman"/>
                <a:cs typeface="Times New Roman"/>
                <a:sym typeface="Times New Roman"/>
              </a:rPr>
              <a:t> Evaluating activities by imitating business conditions, based on operational requirements. Checking the black box is a common way to confirm tasks.</a:t>
            </a:r>
            <a:endParaRPr/>
          </a:p>
          <a:p>
            <a:pPr indent="-114300" lvl="0" marL="0" marR="0" rtl="0" algn="l">
              <a:lnSpc>
                <a:spcPct val="150000"/>
              </a:lnSpc>
              <a:spcBef>
                <a:spcPts val="1800"/>
              </a:spcBef>
              <a:spcAft>
                <a:spcPts val="0"/>
              </a:spcAft>
              <a:buClr>
                <a:schemeClr val="dk1"/>
              </a:buClr>
              <a:buSzPts val="1800"/>
              <a:buFont typeface="Calibri"/>
              <a:buAutoNum type="arabicPeriod"/>
            </a:pPr>
            <a:r>
              <a:rPr b="1" i="0" lang="en-US" sz="1800" u="sng">
                <a:solidFill>
                  <a:schemeClr val="dk1"/>
                </a:solidFill>
                <a:latin typeface="Times New Roman"/>
                <a:ea typeface="Times New Roman"/>
                <a:cs typeface="Times New Roman"/>
                <a:sym typeface="Times New Roman"/>
                <a:hlinkClick r:id="rId7">
                  <a:extLst>
                    <a:ext uri="{A12FA001-AC4F-418D-AE19-62706E023703}">
                      <ahyp:hlinkClr val="tx"/>
                    </a:ext>
                  </a:extLst>
                </a:hlinkClick>
              </a:rPr>
              <a:t>Performance Testing</a:t>
            </a:r>
            <a:r>
              <a:rPr b="1" i="0" lang="en-US" sz="1800">
                <a:solidFill>
                  <a:schemeClr val="dk1"/>
                </a:solidFill>
                <a:latin typeface="Times New Roman"/>
                <a:ea typeface="Times New Roman"/>
                <a:cs typeface="Times New Roman"/>
                <a:sym typeface="Times New Roman"/>
              </a:rPr>
              <a:t>:</a:t>
            </a:r>
            <a:r>
              <a:rPr b="0" i="0" lang="en-US" sz="1800">
                <a:solidFill>
                  <a:schemeClr val="dk1"/>
                </a:solidFill>
                <a:latin typeface="Times New Roman"/>
                <a:ea typeface="Times New Roman"/>
                <a:cs typeface="Times New Roman"/>
                <a:sym typeface="Times New Roman"/>
              </a:rPr>
              <a:t> A test of how the software works under various operating loads. Load testing, for example, is used to assess performance under real-life load conditions.</a:t>
            </a:r>
            <a:endParaRPr/>
          </a:p>
          <a:p>
            <a:pPr indent="-171450" lvl="0" marL="285750" marR="0" rtl="0" algn="just">
              <a:lnSpc>
                <a:spcPct val="150000"/>
              </a:lnSpc>
              <a:spcBef>
                <a:spcPts val="1800"/>
              </a:spcBef>
              <a:spcAft>
                <a:spcPts val="0"/>
              </a:spcAft>
              <a:buClr>
                <a:schemeClr val="dk1"/>
              </a:buClr>
              <a:buSzPts val="1800"/>
              <a:buFont typeface="Arial"/>
              <a:buNone/>
            </a:pPr>
            <a:r>
              <a:t/>
            </a:r>
            <a:endParaRPr b="1" i="0" sz="1800">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9"/>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MCQ based question for practice</a:t>
            </a:r>
            <a:endParaRPr/>
          </a:p>
        </p:txBody>
      </p:sp>
      <p:sp>
        <p:nvSpPr>
          <p:cNvPr id="189" name="Google Shape;189;p19"/>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800"/>
              <a:buNone/>
            </a:pPr>
            <a:r>
              <a:rPr lang="en-US" sz="1800"/>
              <a:t>1. What is the primary purpose of an activity diagram in UML?</a:t>
            </a:r>
            <a:endParaRPr/>
          </a:p>
          <a:p>
            <a:pPr indent="-342900" lvl="0" marL="342900" rtl="0" algn="l">
              <a:spcBef>
                <a:spcPts val="360"/>
              </a:spcBef>
              <a:spcAft>
                <a:spcPts val="0"/>
              </a:spcAft>
              <a:buClr>
                <a:schemeClr val="dk1"/>
              </a:buClr>
              <a:buSzPts val="1800"/>
              <a:buAutoNum type="alphaUcParenR"/>
            </a:pPr>
            <a:r>
              <a:rPr lang="en-US" sz="1800">
                <a:highlight>
                  <a:srgbClr val="FFFF00"/>
                </a:highlight>
              </a:rPr>
              <a:t>To show the flow of control or data in a system</a:t>
            </a:r>
            <a:endParaRPr/>
          </a:p>
          <a:p>
            <a:pPr indent="-342900" lvl="0" marL="342900" rtl="0" algn="l">
              <a:spcBef>
                <a:spcPts val="360"/>
              </a:spcBef>
              <a:spcAft>
                <a:spcPts val="0"/>
              </a:spcAft>
              <a:buClr>
                <a:schemeClr val="dk1"/>
              </a:buClr>
              <a:buSzPts val="1800"/>
              <a:buAutoNum type="alphaUcParenR"/>
            </a:pPr>
            <a:r>
              <a:rPr lang="en-US" sz="1800"/>
              <a:t> To represent the static structure of a system</a:t>
            </a:r>
            <a:endParaRPr/>
          </a:p>
          <a:p>
            <a:pPr indent="-342900" lvl="0" marL="342900" rtl="0" algn="l">
              <a:spcBef>
                <a:spcPts val="360"/>
              </a:spcBef>
              <a:spcAft>
                <a:spcPts val="0"/>
              </a:spcAft>
              <a:buClr>
                <a:schemeClr val="dk1"/>
              </a:buClr>
              <a:buSzPts val="1800"/>
              <a:buAutoNum type="alphaUcParenR"/>
            </a:pPr>
            <a:r>
              <a:rPr lang="en-US" sz="1800"/>
              <a:t> To depict the sequence of events in a use case</a:t>
            </a:r>
            <a:endParaRPr/>
          </a:p>
          <a:p>
            <a:pPr indent="-342900" lvl="0" marL="342900" rtl="0" algn="l">
              <a:spcBef>
                <a:spcPts val="360"/>
              </a:spcBef>
              <a:spcAft>
                <a:spcPts val="0"/>
              </a:spcAft>
              <a:buClr>
                <a:schemeClr val="dk1"/>
              </a:buClr>
              <a:buSzPts val="1800"/>
              <a:buAutoNum type="alphaUcParenR"/>
            </a:pPr>
            <a:r>
              <a:rPr lang="en-US" sz="1800"/>
              <a:t> To describe the interactions between different actors</a:t>
            </a:r>
            <a:endParaRPr/>
          </a:p>
          <a:p>
            <a:pPr indent="-342900" lvl="0" marL="342900" rtl="0" algn="l">
              <a:spcBef>
                <a:spcPts val="360"/>
              </a:spcBef>
              <a:spcAft>
                <a:spcPts val="0"/>
              </a:spcAft>
              <a:buClr>
                <a:schemeClr val="dk1"/>
              </a:buClr>
              <a:buSzPts val="1800"/>
              <a:buNone/>
            </a:pPr>
            <a:r>
              <a:rPr lang="en-US" sz="1800"/>
              <a:t>2. Which symbol is used to represent the start of an activity in an activity diagram?</a:t>
            </a:r>
            <a:endParaRPr/>
          </a:p>
          <a:p>
            <a:pPr indent="-342900" lvl="0" marL="342900" rtl="0" algn="l">
              <a:spcBef>
                <a:spcPts val="360"/>
              </a:spcBef>
              <a:spcAft>
                <a:spcPts val="0"/>
              </a:spcAft>
              <a:buClr>
                <a:schemeClr val="dk1"/>
              </a:buClr>
              <a:buSzPts val="1800"/>
              <a:buAutoNum type="alphaUcParenR"/>
            </a:pPr>
            <a:r>
              <a:rPr lang="en-US" sz="1800"/>
              <a:t>Rounded rectangle</a:t>
            </a:r>
            <a:br>
              <a:rPr lang="en-US" sz="1800"/>
            </a:br>
            <a:r>
              <a:rPr lang="en-US" sz="1800"/>
              <a:t>B) Circle</a:t>
            </a:r>
            <a:br>
              <a:rPr lang="en-US" sz="1800"/>
            </a:br>
            <a:r>
              <a:rPr lang="en-US" sz="1800"/>
              <a:t>C) Diamond</a:t>
            </a:r>
            <a:br>
              <a:rPr lang="en-US" sz="1800"/>
            </a:br>
            <a:r>
              <a:rPr lang="en-US" sz="1800">
                <a:highlight>
                  <a:srgbClr val="FFFF00"/>
                </a:highlight>
              </a:rPr>
              <a:t>D) Filled circle</a:t>
            </a:r>
            <a:endParaRPr/>
          </a:p>
          <a:p>
            <a:pPr indent="-342900" lvl="0" marL="342900" rtl="0" algn="l">
              <a:spcBef>
                <a:spcPts val="360"/>
              </a:spcBef>
              <a:spcAft>
                <a:spcPts val="0"/>
              </a:spcAft>
              <a:buClr>
                <a:schemeClr val="dk1"/>
              </a:buClr>
              <a:buSzPts val="1800"/>
              <a:buNone/>
            </a:pPr>
            <a:r>
              <a:rPr lang="en-US" sz="1800"/>
              <a:t>3. Which of the following best represents the flow of control between activities in an activity diagram?</a:t>
            </a:r>
            <a:endParaRPr/>
          </a:p>
          <a:p>
            <a:pPr indent="-342900" lvl="0" marL="342900" rtl="0" algn="l">
              <a:spcBef>
                <a:spcPts val="360"/>
              </a:spcBef>
              <a:spcAft>
                <a:spcPts val="0"/>
              </a:spcAft>
              <a:buClr>
                <a:schemeClr val="dk1"/>
              </a:buClr>
              <a:buSzPts val="1800"/>
              <a:buChar char="•"/>
            </a:pPr>
            <a:r>
              <a:rPr lang="en-US" sz="1800"/>
              <a:t>A) Dashed line with an arrowhead</a:t>
            </a:r>
            <a:br>
              <a:rPr lang="en-US" sz="1800"/>
            </a:br>
            <a:r>
              <a:rPr lang="en-US" sz="1800">
                <a:highlight>
                  <a:srgbClr val="FFFF00"/>
                </a:highlight>
              </a:rPr>
              <a:t>B) Solid line with an arrowhead</a:t>
            </a:r>
            <a:br>
              <a:rPr lang="en-US" sz="1800"/>
            </a:br>
            <a:r>
              <a:rPr lang="en-US" sz="1800"/>
              <a:t>C) Solid line with no arrowhead</a:t>
            </a:r>
            <a:br>
              <a:rPr lang="en-US" sz="1800"/>
            </a:br>
            <a:r>
              <a:rPr lang="en-US" sz="1800"/>
              <a:t>D) Dashed line with no arrowhead</a:t>
            </a:r>
            <a:endParaRPr/>
          </a:p>
          <a:p>
            <a:pPr indent="0" lvl="0" marL="0" rtl="0" algn="l">
              <a:spcBef>
                <a:spcPts val="280"/>
              </a:spcBef>
              <a:spcAft>
                <a:spcPts val="0"/>
              </a:spcAft>
              <a:buClr>
                <a:schemeClr val="dk1"/>
              </a:buClr>
              <a:buSzPts val="1400"/>
              <a:buNone/>
            </a:pPr>
            <a:r>
              <a:t/>
            </a:r>
            <a:endParaRPr sz="1400"/>
          </a:p>
          <a:p>
            <a:pPr indent="0" lvl="0" marL="0" rtl="0" algn="l">
              <a:spcBef>
                <a:spcPts val="360"/>
              </a:spcBef>
              <a:spcAft>
                <a:spcPts val="0"/>
              </a:spcAft>
              <a:buClr>
                <a:schemeClr val="dk1"/>
              </a:buClr>
              <a:buSzPts val="1800"/>
              <a:buNone/>
            </a:pPr>
            <a:r>
              <a:t/>
            </a:r>
            <a:endParaRPr sz="1800"/>
          </a:p>
          <a:p>
            <a:pPr indent="0" lvl="0" marL="0" rtl="0" algn="ctr">
              <a:spcBef>
                <a:spcPts val="880"/>
              </a:spcBef>
              <a:spcAft>
                <a:spcPts val="0"/>
              </a:spcAft>
              <a:buClr>
                <a:schemeClr val="dk1"/>
              </a:buClr>
              <a:buSzPts val="4400"/>
              <a:buNone/>
            </a:pPr>
            <a:r>
              <a:t/>
            </a:r>
            <a:endParaRPr sz="4400"/>
          </a:p>
        </p:txBody>
      </p:sp>
      <p:sp>
        <p:nvSpPr>
          <p:cNvPr id="190" name="Google Shape;190;p19"/>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0"/>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MCQ based question for practice</a:t>
            </a:r>
            <a:endParaRPr/>
          </a:p>
        </p:txBody>
      </p:sp>
      <p:sp>
        <p:nvSpPr>
          <p:cNvPr id="196" name="Google Shape;196;p20"/>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800"/>
              <a:buNone/>
            </a:pPr>
            <a:r>
              <a:rPr lang="en-US" sz="1800"/>
              <a:t>4. What does an activity final node represent in an activity diagram?</a:t>
            </a:r>
            <a:endParaRPr/>
          </a:p>
          <a:p>
            <a:pPr indent="-342900" lvl="0" marL="342900" rtl="0" algn="l">
              <a:spcBef>
                <a:spcPts val="360"/>
              </a:spcBef>
              <a:spcAft>
                <a:spcPts val="0"/>
              </a:spcAft>
              <a:buClr>
                <a:schemeClr val="dk1"/>
              </a:buClr>
              <a:buSzPts val="1800"/>
              <a:buAutoNum type="alphaUcParenR"/>
            </a:pPr>
            <a:r>
              <a:rPr lang="en-US" sz="1800"/>
              <a:t>The end of a single activity</a:t>
            </a:r>
            <a:br>
              <a:rPr lang="en-US" sz="1800"/>
            </a:br>
            <a:r>
              <a:rPr lang="en-US" sz="1800"/>
              <a:t>B) The final state of an object</a:t>
            </a:r>
            <a:br>
              <a:rPr lang="en-US" sz="1800"/>
            </a:br>
            <a:r>
              <a:rPr lang="en-US" sz="1800">
                <a:highlight>
                  <a:srgbClr val="FFFF00"/>
                </a:highlight>
              </a:rPr>
              <a:t>C) The end of all activities in a flow</a:t>
            </a:r>
            <a:br>
              <a:rPr lang="en-US" sz="1800">
                <a:highlight>
                  <a:srgbClr val="FFFF00"/>
                </a:highlight>
              </a:rPr>
            </a:br>
            <a:r>
              <a:rPr lang="en-US" sz="1800"/>
              <a:t>D) The condition for decision-making</a:t>
            </a:r>
            <a:endParaRPr/>
          </a:p>
          <a:p>
            <a:pPr indent="-342900" lvl="0" marL="342900" rtl="0" algn="l">
              <a:spcBef>
                <a:spcPts val="360"/>
              </a:spcBef>
              <a:spcAft>
                <a:spcPts val="0"/>
              </a:spcAft>
              <a:buClr>
                <a:schemeClr val="dk1"/>
              </a:buClr>
              <a:buSzPts val="1800"/>
              <a:buNone/>
            </a:pPr>
            <a:r>
              <a:rPr lang="en-US" sz="1800"/>
              <a:t>5. In an activity diagram, which of the following would most likely represent a waiting action or a pause in the flow?</a:t>
            </a:r>
            <a:endParaRPr/>
          </a:p>
          <a:p>
            <a:pPr indent="-342900" lvl="0" marL="342900" rtl="0" algn="l">
              <a:spcBef>
                <a:spcPts val="360"/>
              </a:spcBef>
              <a:spcAft>
                <a:spcPts val="0"/>
              </a:spcAft>
              <a:buClr>
                <a:schemeClr val="dk1"/>
              </a:buClr>
              <a:buSzPts val="1800"/>
              <a:buAutoNum type="alphaUcParenR"/>
            </a:pPr>
            <a:r>
              <a:rPr lang="en-US" sz="1800">
                <a:highlight>
                  <a:srgbClr val="FFFF00"/>
                </a:highlight>
              </a:rPr>
              <a:t>Activity node</a:t>
            </a:r>
            <a:br>
              <a:rPr lang="en-US" sz="1800"/>
            </a:br>
            <a:r>
              <a:rPr lang="en-US" sz="1800"/>
              <a:t>B) Decision node</a:t>
            </a:r>
            <a:br>
              <a:rPr lang="en-US" sz="1800"/>
            </a:br>
            <a:r>
              <a:rPr lang="en-US" sz="1800"/>
              <a:t>C) Fork node</a:t>
            </a:r>
            <a:br>
              <a:rPr lang="en-US" sz="1800"/>
            </a:br>
            <a:r>
              <a:rPr lang="en-US" sz="1800"/>
              <a:t>D) Initial node</a:t>
            </a:r>
            <a:endParaRPr/>
          </a:p>
          <a:p>
            <a:pPr indent="-342900" lvl="0" marL="342900" rtl="0" algn="l">
              <a:spcBef>
                <a:spcPts val="360"/>
              </a:spcBef>
              <a:spcAft>
                <a:spcPts val="0"/>
              </a:spcAft>
              <a:buClr>
                <a:schemeClr val="dk1"/>
              </a:buClr>
              <a:buSzPts val="1800"/>
              <a:buNone/>
            </a:pPr>
            <a:r>
              <a:rPr lang="en-US" sz="1800"/>
              <a:t>6. In an activity diagram, which of the following is used to show parallel activities?</a:t>
            </a:r>
            <a:endParaRPr/>
          </a:p>
          <a:p>
            <a:pPr indent="0" lvl="0" marL="0" rtl="0" algn="l">
              <a:spcBef>
                <a:spcPts val="360"/>
              </a:spcBef>
              <a:spcAft>
                <a:spcPts val="0"/>
              </a:spcAft>
              <a:buClr>
                <a:schemeClr val="dk1"/>
              </a:buClr>
              <a:buSzPts val="1800"/>
              <a:buNone/>
            </a:pPr>
            <a:r>
              <a:rPr lang="en-US" sz="1800">
                <a:highlight>
                  <a:srgbClr val="FFFF00"/>
                </a:highlight>
              </a:rPr>
              <a:t>A) Fork node</a:t>
            </a:r>
            <a:br>
              <a:rPr lang="en-US" sz="1800"/>
            </a:br>
            <a:r>
              <a:rPr lang="en-US" sz="1800"/>
              <a:t>B) Decision node</a:t>
            </a:r>
            <a:br>
              <a:rPr lang="en-US" sz="1800"/>
            </a:br>
            <a:r>
              <a:rPr lang="en-US" sz="1800"/>
              <a:t>C) Merge node</a:t>
            </a:r>
            <a:br>
              <a:rPr lang="en-US" sz="1800"/>
            </a:br>
            <a:r>
              <a:rPr lang="en-US" sz="1800"/>
              <a:t>D) Join node</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0" lvl="0" marL="0" rtl="0" algn="ctr">
              <a:spcBef>
                <a:spcPts val="880"/>
              </a:spcBef>
              <a:spcAft>
                <a:spcPts val="0"/>
              </a:spcAft>
              <a:buClr>
                <a:schemeClr val="dk1"/>
              </a:buClr>
              <a:buSzPts val="4400"/>
              <a:buNone/>
            </a:pPr>
            <a:r>
              <a:t/>
            </a:r>
            <a:endParaRPr sz="4400"/>
          </a:p>
        </p:txBody>
      </p:sp>
      <p:sp>
        <p:nvSpPr>
          <p:cNvPr id="197" name="Google Shape;197;p20"/>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1"/>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03" name="Google Shape;203;p21"/>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p>
            <a:pPr indent="-63500" lvl="0" marL="342900" rtl="0" algn="ctr">
              <a:spcBef>
                <a:spcPts val="0"/>
              </a:spcBef>
              <a:spcAft>
                <a:spcPts val="0"/>
              </a:spcAft>
              <a:buClr>
                <a:schemeClr val="dk1"/>
              </a:buClr>
              <a:buSzPts val="4400"/>
              <a:buNone/>
            </a:pPr>
            <a:r>
              <a:t/>
            </a:r>
            <a:endParaRPr sz="4400"/>
          </a:p>
          <a:p>
            <a:pPr indent="-63500" lvl="0" marL="342900" rtl="0" algn="ctr">
              <a:spcBef>
                <a:spcPts val="880"/>
              </a:spcBef>
              <a:spcAft>
                <a:spcPts val="0"/>
              </a:spcAft>
              <a:buClr>
                <a:schemeClr val="dk1"/>
              </a:buClr>
              <a:buSzPts val="4400"/>
              <a:buNone/>
            </a:pPr>
            <a:r>
              <a:t/>
            </a:r>
            <a:endParaRPr sz="4400"/>
          </a:p>
          <a:p>
            <a:pPr indent="0" lvl="0" marL="0" rtl="0" algn="ctr">
              <a:spcBef>
                <a:spcPts val="880"/>
              </a:spcBef>
              <a:spcAft>
                <a:spcPts val="0"/>
              </a:spcAft>
              <a:buClr>
                <a:schemeClr val="dk1"/>
              </a:buClr>
              <a:buSzPts val="4400"/>
              <a:buNone/>
            </a:pPr>
            <a:r>
              <a:rPr lang="en-US" sz="4400"/>
              <a:t>THANKS</a:t>
            </a:r>
            <a:endParaRPr/>
          </a:p>
        </p:txBody>
      </p:sp>
      <p:sp>
        <p:nvSpPr>
          <p:cNvPr id="204" name="Google Shape;204;p21"/>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2021-07-05T10:09:00Z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1033-11.2.0.10463</vt:lpwstr>
  </property>
  <property fmtid="{D5CDD505-2E9C-101B-9397-08002B2CF9AE}" pid="3" name="ICV">
    <vt:lpwstr>C66E8A929365439D9183C5235316B3C9</vt:lpwstr>
  </property>
</Properties>
</file>